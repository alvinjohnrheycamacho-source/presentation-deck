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927557c4-beb5-ccc3-499c-f34e9c2626d8}">
          <p14:sldIdLst>
            <p14:sldId id="256"/>
          </p14:sldIdLst>
        </p14:section>
        <p14:section name="About Us" id="{9b16161f-2b34-1e6d-373e-e0ae5f2072bd}">
          <p14:sldIdLst>
            <p14:sldId id="257"/>
          </p14:sldIdLst>
        </p14:section>
        <p14:section name="Our Services" id="{010cf3fb-7f2d-01e0-2553-cca5a2feb0aa}">
          <p14:sldIdLst>
            <p14:sldId id="258"/>
            <p14:sldId id="259"/>
            <p14:sldId id="260"/>
          </p14:sldIdLst>
        </p14:section>
        <p14:section name="Canada" id="{24d1364f-aec5-8dc0-757b-77efb5ea5c7d}">
          <p14:sldIdLst>
            <p14:sldId id="261"/>
            <p14:sldId id="262"/>
          </p14:sldIdLst>
        </p14:section>
        <p14:section name="Australia" id="{2ad1071b-9261-6aaa-5823-e9f74e9dfba3}">
          <p14:sldIdLst>
            <p14:sldId id="263"/>
          </p14:sldIdLst>
        </p14:section>
        <p14:section name="United States" id="{27fcb0f6-da6d-f7dd-eefe-e8c5db7fff3e}">
          <p14:sldIdLst>
            <p14:sldId id="264"/>
          </p14:sldIdLst>
        </p14:section>
        <p14:section name="Singapore" id="{84aedca5-43bd-33c6-5648-95ab04384272}">
          <p14:sldIdLst>
            <p14:sldId id="265"/>
          </p14:sldIdLst>
        </p14:section>
        <p14:section name="Working Together" id="{f226a0dc-1632-2113-1455-8bc953cb90a2}">
          <p14:sldIdLst>
            <p14:sldId id="266"/>
            <p14:sldId id="267"/>
            <p14:sldId id="268"/>
          </p14:sldIdLst>
        </p14:section>
        <p14:section name="Next Steps" id="{e3826a5e-a194-c6f3-2ae2-bb38bf5f466b}">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and thank you to MRI for having us here in Bali. We are Lotus BPO, an accounting and tax support company based in Ho Chi Minh City, Vietnam. Over the next few minutes, I will share who we are, the markets we serve, and how we can support your firm and your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Lotus BPO was founded in 2024 and is registered in Ho Chi Minh City. We see ourselves as an extension of our clients' teams. We take care of the bookkeeping, tax preparation and clean-up work, so they can spend more time advising clients. Today we serve four markets: Canada, Australia, the United States and Singapore. Our team works every day in QuickBooks, Xero, CaseWare and CCH iFirm, and our largest project so far was rebuilding six years of financial records for a single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we help. We keep accurate books in QuickBooks, Xero and CaseWare, and prepare year-end financial statements. We prepare Canadian T2 returns and Australian BAS for our partner firms to review and submit. For US small and mid-sized businesses, we handle tax filing and provide tax and business consulting. And when records are incomplete or behind, we rebuild them, even several years back. Four markets, one dedicated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one team in Vietnam, we now serve four markets. In Canada, mainly Alberta and Ontario, we support professional corporations, corporations and SMEs. In Australia, we work with medical practices and SMEs. In the United States, we provide tax filing and consulting for small and mid-sized businesses. And in Singapore, we handle bookkeeping in QuickBooks and Xero and prepare annual financial statements for the AGM.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do we serve? First, accounting firms, for whom we act as a back office under their own name and standards. Second, small and mid-sized businesses and corporations in all four markets. Third, professional corporations in Canada, including dental practices. And fourth, doctors and clinics in Australia.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Canada, we keep the books in QuickBooks and CaseWare, prepare T2 corporate returns, and rebuild records that are incomplete or overdue. Our clients include professional corporations, incorporated companies and SMEs. We work through two partner firms. With Opty Business Solutions, we prepare the T2 inside their CCH iFirm and Opty files it. With Harry Chang, Chartered Accountant, we prepare an Excel T2 workbook and they file it in their own system. Both firms bring us a steady flow of new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recent project. A dentistry professional corporation in Canada needed six years of records, from 2021 to 2026, rebuilt from the ground up. We gathered the source documents, rebuilt the books year by year and reconciled every account. The result: complete, reliable records for every year, ready for the accountant's review and tax filing. If your firm has clients who have fallen behind, this is exactly where we can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Australia, we work with Stone Group Accounting Firm, supporting medical practices and SMEs. Everything runs in Xero. Xero Blue is the client's own books: this is where we keep the bookkeeping current and prepare the BAS every quarter. Xero Red is the accounting firm's side of Xero, which is linked to the ATO. The figures flow across automatically, the firm reviews the BAS, and the firm lodges it. We prepare; the firm always lodges.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United States, we work with small and mid-sized businesses. We prepare and file their tax returns, and we provide tax and business consulting to help owners make sound decisions. Our clients get one dedicated team, clear answers in plain language, and deadlines that are tracked and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Singapore, we support small and mid-sized businesses. We keep their books in QuickBooks and Xero, maintain clean, reconciled accounts throughout the year, and prepare their annual financial statements, ready for the directors' review and the company's Annual General Meeting. Our clients include Samai Distillery Cambodia, Nurkas Holdings, Qwqer International and Tanncam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fully transparent about our role. When we work through an accounting firm, we prepare the tax reports and the firm reviews and submits them. With Opty, we prepare the T2 in their CCH iFirm and Opty files it. With Harry Chang, we prepare an Excel T2 workbook and they file it in their own system. With Stone Group, we prepare the BAS in Xero and Stone Group lodges it. The final sign-off always stays with the 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with us follows five simple steps. Discover: we learn your needs, systems and deadlines. Onboard: we set up secure access to your files and software. Prepare: our team completes the books and prepares the tax reports. Review: your team checks and approves. Submit: you file from your own system and keep the client relationship. This reflects the theme of this conference, Humans in the Lead: skilled accountants do the work, your team makes the final call, and your clients remain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partner with us? Cost efficiency: skilled work at a lower cost than hiring locally. Faster turnaround: thanks to the time difference, work keeps moving while your office is closed. Platform ready: we already work in QuickBooks, Xero, CaseWare and CCH iFirm. Scale on demand: handle busy season without adding headcount. Confidentiality first: your client data is handled with care. And we are proven in four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 we go from here? Let's talk over coffee during the conference breaks. If it feels like a good fit, start with a pilot of a few client files and see our quality first-hand. Then we grow the scope together as trust and volume build. You can reach us anytime at +84 902 343 218.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I would be glad to take any questions, here or during the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otus Dark">
    <p:bg>
      <p:bgPr>
        <a:solidFill>
          <a:schemeClr val="tx2"/>
        </a:solidFill>
      </p:bgPr>
    </p:bg>
    <p:spTree>
      <p:nvGrpSpPr>
        <p:cNvPr id="1" name=""/>
        <p:cNvGrpSpPr/>
        <p:nvPr/>
      </p:nvGrpSpPr>
      <p:grpSpPr>
        <a:xfrm>
          <a:off x="0" y="0"/>
          <a:ext cx="0" cy="0"/>
          <a:chOff x="0" y="0"/>
          <a:chExt cx="0" cy="0"/>
        </a:xfrm>
      </p:grpSpPr>
      <p:pic>
        <p:nvPicPr>
          <p:cNvPr id="2" name="Image 0" descr="/home/user/Presentation-Deck/assets/lotus-mark-white.png">    </p:cNvPr>
          <p:cNvPicPr>
            <a:picLocks noChangeAspect="1"/>
          </p:cNvPicPr>
          <p:nvPr/>
        </p:nvPicPr>
        <p:blipFill>
          <a:blip r:embed="rId1">
            <a:alphaModFix amt="12000"/>
          </a:blip>
          <a:stretch>
            <a:fillRect/>
          </a:stretch>
        </p:blipFill>
        <p:spPr>
          <a:xfrm>
            <a:off x="7589520" y="2011680"/>
            <a:ext cx="5852160" cy="3611880"/>
          </a:xfrm>
          <a:prstGeom prst="rect">
            <a:avLst/>
          </a:prstGeom>
        </p:spPr>
      </p:pic>
      <p:sp>
        <p:nvSpPr>
          <p:cNvPr id="3" name="Text 0"/>
          <p:cNvSpPr/>
          <p:nvPr>
            <p:ph idx="101" type="title" hasCustomPrompt="1"/>
          </p:nvPr>
        </p:nvSpPr>
        <p:spPr>
          <a:xfrm>
            <a:off x="731520" y="2331720"/>
            <a:ext cx="786384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931920"/>
            <a:ext cx="7863840" cy="914400"/>
          </a:xfrm>
          <a:prstGeom prst="rect">
            <a:avLst/>
          </a:prstGeom>
          <a:noFill/>
          <a:ln/>
        </p:spPr>
        <p:txBody>
          <a:bodyPr wrap="square" rtlCol="0"/>
          <a:lstStyle>
            <a:lvl1pPr algn="l" indent="0" marL="0">
              <a:buNone/>
              <a:defRPr lang="en-US" sz="2000" dirty="0">
                <a:solidFill>
                  <a:schemeClr val="accent4"/>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otus Content">
    <p:bg>
      <p:bgPr>
        <a:solidFill>
          <a:schemeClr val="bg1"/>
        </a:solidFill>
      </p:bgPr>
    </p:bg>
    <p:spTree>
      <p:nvGrpSpPr>
        <p:cNvPr id="1" name=""/>
        <p:cNvGrpSpPr/>
        <p:nvPr/>
      </p:nvGrpSpPr>
      <p:grpSpPr>
        <a:xfrm>
          <a:off x="0" y="0"/>
          <a:ext cx="0" cy="0"/>
          <a:chOff x="0" y="0"/>
          <a:chExt cx="0" cy="0"/>
        </a:xfrm>
      </p:grpSpPr>
      <p:pic>
        <p:nvPicPr>
          <p:cNvPr id="2" name="Image 0" descr="/home/user/Presentation-Deck/assets/logo.png">    </p:cNvPr>
          <p:cNvPicPr>
            <a:picLocks noChangeAspect="1"/>
          </p:cNvPicPr>
          <p:nvPr/>
        </p:nvPicPr>
        <p:blipFill>
          <a:blip r:embed="rId1"/>
          <a:stretch>
            <a:fillRect/>
          </a:stretch>
        </p:blipFill>
        <p:spPr>
          <a:xfrm>
            <a:off x="10241280" y="6327648"/>
            <a:ext cx="1417320" cy="356616"/>
          </a:xfrm>
          <a:prstGeom prst="rect">
            <a:avLst/>
          </a:prstGeom>
        </p:spPr>
      </p:pic>
      <p:sp>
        <p:nvSpPr>
          <p:cNvPr id="3" name="Text 0"/>
          <p:cNvSpPr/>
          <p:nvPr>
            <p:ph idx="101" type="title" hasCustomPrompt="1"/>
          </p:nvPr>
        </p:nvSpPr>
        <p:spPr>
          <a:xfrm>
            <a:off x="548640" y="365760"/>
            <a:ext cx="950976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1-logocard"/>
          <p:cNvSpPr/>
          <p:nvPr/>
        </p:nvSpPr>
        <p:spPr>
          <a:xfrm>
            <a:off x="731520" y="685800"/>
            <a:ext cx="3291840" cy="960120"/>
          </a:xfrm>
          <a:prstGeom prst="roundRect">
            <a:avLst>
              <a:gd name="adj" fmla="val 11429"/>
            </a:avLst>
          </a:prstGeom>
          <a:solidFill>
            <a:schemeClr val="bg1"/>
          </a:solidFill>
          <a:ln/>
        </p:spPr>
      </p:sp>
      <p:pic>
        <p:nvPicPr>
          <p:cNvPr id="3" name="a1-logo" descr="/home/user/Presentation-Deck/assets/logo.png">    </p:cNvPr>
          <p:cNvPicPr>
            <a:picLocks noChangeAspect="1"/>
          </p:cNvPicPr>
          <p:nvPr/>
        </p:nvPicPr>
        <p:blipFill>
          <a:blip r:embed="rId1"/>
          <a:stretch>
            <a:fillRect/>
          </a:stretch>
        </p:blipFill>
        <p:spPr>
          <a:xfrm>
            <a:off x="960120" y="859536"/>
            <a:ext cx="2834640" cy="708660"/>
          </a:xfrm>
          <a:prstGeom prst="rect">
            <a:avLst/>
          </a:prstGeom>
        </p:spPr>
      </p:pic>
      <p:sp>
        <p:nvSpPr>
          <p:cNvPr id="4" name="Text 0"/>
          <p:cNvSpPr/>
          <p:nvPr>
            <p:ph idx="101" type="title" hasCustomPrompt="1"/>
          </p:nvPr>
        </p:nvSpPr>
        <p:spPr>
          <a:xfrm>
            <a:off x="731520" y="2331720"/>
            <a:ext cx="7863840" cy="1554480"/>
          </a:xfrm>
          <a:prstGeom prst="rect">
            <a:avLst/>
          </a:prstGeom>
          <a:noFill/>
          <a:ln/>
        </p:spPr>
        <p:txBody>
          <a:bodyPr wrap="square" lIns="0" tIns="0" rIns="0" bIns="0" rtlCol="0" anchor="t"/>
          <a:lstStyle/>
          <a:p>
            <a:pPr algn="l" indent="0" marL="0">
              <a:buNone/>
            </a:pPr>
            <a:r>
              <a:rPr lang="en-US" sz="4400" b="1" dirty="0">
                <a:solidFill>
                  <a:schemeClr val="bg1"/>
                </a:solidFill>
              </a:rPr>
              <a:t>Your Trusted Accounting &amp; Tax Partner</a:t>
            </a:r>
            <a:endParaRPr lang="en-US" sz="4400" dirty="0"/>
          </a:p>
        </p:txBody>
      </p:sp>
      <p:sp>
        <p:nvSpPr>
          <p:cNvPr id="5" name="Text 0"/>
          <p:cNvSpPr/>
          <p:nvPr>
            <p:ph idx="102" type="body" hasCustomPrompt="1"/>
          </p:nvPr>
        </p:nvSpPr>
        <p:spPr>
          <a:xfrm>
            <a:off x="731520" y="3931920"/>
            <a:ext cx="7863840" cy="914400"/>
          </a:xfrm>
          <a:prstGeom prst="rect">
            <a:avLst/>
          </a:prstGeom>
          <a:noFill/>
          <a:ln/>
        </p:spPr>
        <p:txBody>
          <a:bodyPr wrap="square" lIns="0" tIns="0" rIns="0" bIns="0" rtlCol="0" anchor="t"/>
          <a:lstStyle/>
          <a:p>
            <a:pPr algn="l" indent="0" marL="0">
              <a:buNone/>
            </a:pPr>
            <a:r>
              <a:rPr lang="en-US" sz="2000" dirty="0">
                <a:solidFill>
                  <a:schemeClr val="accent4"/>
                </a:solidFill>
              </a:rPr>
              <a:t>Introducing Lotus BPO Company Limited · Ho Chi Minh City, Vietnam</a:t>
            </a:r>
            <a:endParaRPr lang="en-US" sz="2000" dirty="0"/>
          </a:p>
        </p:txBody>
      </p:sp>
      <p:sp>
        <p:nvSpPr>
          <p:cNvPr id="6" name="a2-for"/>
          <p:cNvSpPr txBox="1"/>
          <p:nvPr/>
        </p:nvSpPr>
        <p:spPr>
          <a:xfrm>
            <a:off x="731520" y="5166360"/>
            <a:ext cx="8686800" cy="777240"/>
          </a:xfrm>
          <a:prstGeom prst="rect">
            <a:avLst/>
          </a:prstGeom>
          <a:noFill/>
          <a:ln/>
        </p:spPr>
        <p:txBody>
          <a:bodyPr wrap="square" lIns="0" tIns="0" rIns="0" bIns="0" rtlCol="0" anchor="t"/>
          <a:lstStyle/>
          <a:p>
            <a:pPr indent="0" marL="0">
              <a:spcAft>
                <a:spcPts val="400"/>
              </a:spcAft>
              <a:buNone/>
            </a:pPr>
            <a:r>
              <a:rPr lang="en-US" sz="1600" b="1" dirty="0">
                <a:solidFill>
                  <a:schemeClr val="accent3"/>
                </a:solidFill>
              </a:rPr>
              <a:t>Presented to Moores Rowland International &amp; Partner Firms</a:t>
            </a:r>
            <a:endParaRPr lang="en-US" sz="1600" dirty="0"/>
          </a:p>
          <a:p>
            <a:pPr indent="0" marL="0">
              <a:spcAft>
                <a:spcPts val="400"/>
              </a:spcAft>
              <a:buNone/>
            </a:pPr>
            <a:r>
              <a:rPr lang="en-US" sz="1400" dirty="0">
                <a:solidFill>
                  <a:schemeClr val="accent4"/>
                </a:solidFill>
              </a:rPr>
              <a:t>MRI Conference &amp; AGM · Mövenpick Resort &amp; Spa, Jimbaran, Bali · 23–25 October 2026</a:t>
            </a:r>
            <a:endParaRPr lang="en-US" sz="16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par>
                          <p:cTn id="14" fill="hold">
                            <p:stCondLst>
                              <p:cond delay="750"/>
                            </p:stCondLst>
                            <p:childTnLst>
                              <p:par>
                                <p:cTn id="11" presetID="10"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509760" cy="777240"/>
          </a:xfrm>
          <a:prstGeom prst="rect">
            <a:avLst/>
          </a:prstGeom>
          <a:noFill/>
          <a:ln/>
        </p:spPr>
        <p:txBody>
          <a:bodyPr wrap="square" lIns="0" tIns="0" rIns="0" bIns="0" rtlCol="0" anchor="ctr"/>
          <a:lstStyle/>
          <a:p>
            <a:pPr algn="l" indent="0" marL="0">
              <a:buNone/>
            </a:pPr>
            <a:r>
              <a:rPr lang="en-US" sz="3600" b="1" dirty="0">
                <a:solidFill>
                  <a:schemeClr val="tx2"/>
                </a:solidFill>
              </a:rPr>
              <a:t>Who We Are</a:t>
            </a:r>
            <a:endParaRPr lang="en-US" sz="3600" dirty="0"/>
          </a:p>
        </p:txBody>
      </p:sp>
      <p:sp>
        <p:nvSpPr>
          <p:cNvPr id="3" name="a1-intro"/>
          <p:cNvSpPr txBox="1"/>
          <p:nvPr/>
        </p:nvSpPr>
        <p:spPr>
          <a:xfrm>
            <a:off x="548640" y="1417320"/>
            <a:ext cx="4937760" cy="2194560"/>
          </a:xfrm>
          <a:prstGeom prst="rect">
            <a:avLst/>
          </a:prstGeom>
          <a:noFill/>
          <a:ln/>
        </p:spPr>
        <p:txBody>
          <a:bodyPr wrap="square" lIns="0" tIns="0" rIns="0" bIns="0" rtlCol="0" anchor="t"/>
          <a:lstStyle/>
          <a:p>
            <a:pPr indent="0" marL="0">
              <a:buNone/>
            </a:pPr>
            <a:r>
              <a:rPr lang="en-US" sz="1800" dirty="0">
                <a:solidFill>
                  <a:schemeClr val="tx1"/>
                </a:solidFill>
              </a:rPr>
              <a:t>Lotus BPO is an accounting and tax support company based in Ho Chi Minh City, Vietnam.</a:t>
            </a:r>
            <a:endParaRPr lang="en-US" sz="1800" dirty="0"/>
          </a:p>
          <a:p>
            <a:pPr indent="0" marL="0">
              <a:buNone/>
            </a:pPr>
            <a:r>
              <a:rPr lang="en-US" sz="800" dirty="0">
                <a:solidFill>
                  <a:schemeClr val="tx1"/>
                </a:solidFill>
              </a:rPr>
              <a:t> </a:t>
            </a:r>
            <a:endParaRPr lang="en-US" sz="1800" dirty="0"/>
          </a:p>
          <a:p>
            <a:pPr indent="0" marL="0">
              <a:buNone/>
            </a:pPr>
            <a:r>
              <a:rPr lang="en-US" sz="1800" dirty="0">
                <a:solidFill>
                  <a:schemeClr val="tx1"/>
                </a:solidFill>
              </a:rPr>
              <a:t>We act as an extension of your team, handling bookkeeping, tax preparation and financial clean-ups, so you can focus on advising clients and growing your practice.</a:t>
            </a:r>
            <a:endParaRPr lang="en-US" sz="1800" dirty="0"/>
          </a:p>
        </p:txBody>
      </p:sp>
      <p:sp>
        <p:nvSpPr>
          <p:cNvPr id="4" name="a2-lh"/>
          <p:cNvSpPr txBox="1"/>
          <p:nvPr/>
        </p:nvSpPr>
        <p:spPr>
          <a:xfrm>
            <a:off x="548640" y="3794760"/>
            <a:ext cx="493776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OUR LEADERSHIP</a:t>
            </a:r>
            <a:endParaRPr lang="en-US" sz="1200" dirty="0"/>
          </a:p>
        </p:txBody>
      </p:sp>
      <p:sp>
        <p:nvSpPr>
          <p:cNvPr id="5" name="a2-ld0"/>
          <p:cNvSpPr/>
          <p:nvPr/>
        </p:nvSpPr>
        <p:spPr>
          <a:xfrm>
            <a:off x="548640" y="4206240"/>
            <a:ext cx="594360" cy="594360"/>
          </a:xfrm>
          <a:prstGeom prst="ellipse">
            <a:avLst/>
          </a:prstGeom>
          <a:solidFill>
            <a:schemeClr val="accent2"/>
          </a:solidFill>
          <a:ln/>
        </p:spPr>
      </p:sp>
      <p:pic>
        <p:nvPicPr>
          <p:cNvPr id="6" name="a2-ld0-i" descr="preencoded.png">    </p:cNvPr>
          <p:cNvPicPr>
            <a:picLocks noChangeAspect="1"/>
          </p:cNvPicPr>
          <p:nvPr/>
        </p:nvPicPr>
        <p:blipFill>
          <a:blip r:embed="rId1"/>
          <a:stretch>
            <a:fillRect/>
          </a:stretch>
        </p:blipFill>
        <p:spPr>
          <a:xfrm>
            <a:off x="697230" y="4354830"/>
            <a:ext cx="297180" cy="297180"/>
          </a:xfrm>
          <a:prstGeom prst="rect">
            <a:avLst/>
          </a:prstGeom>
        </p:spPr>
      </p:pic>
      <p:sp>
        <p:nvSpPr>
          <p:cNvPr id="7" name="a2-ldt0"/>
          <p:cNvSpPr txBox="1"/>
          <p:nvPr/>
        </p:nvSpPr>
        <p:spPr>
          <a:xfrm>
            <a:off x="1325880" y="4206240"/>
            <a:ext cx="4114800" cy="594360"/>
          </a:xfrm>
          <a:prstGeom prst="rect">
            <a:avLst/>
          </a:prstGeom>
          <a:noFill/>
          <a:ln/>
        </p:spPr>
        <p:txBody>
          <a:bodyPr wrap="square" lIns="0" tIns="0" rIns="0" bIns="0" rtlCol="0" anchor="ctr"/>
          <a:lstStyle/>
          <a:p>
            <a:pPr indent="0" marL="0">
              <a:buNone/>
            </a:pPr>
            <a:r>
              <a:rPr lang="en-US" sz="1600" b="1" dirty="0">
                <a:solidFill>
                  <a:schemeClr val="tx2"/>
                </a:solidFill>
              </a:rPr>
              <a:t>Nguyen Thi Phuong Hien</a:t>
            </a:r>
            <a:endParaRPr lang="en-US" sz="1600" dirty="0"/>
          </a:p>
          <a:p>
            <a:pPr indent="0" marL="0">
              <a:buNone/>
            </a:pPr>
            <a:r>
              <a:rPr lang="en-US" sz="1400" dirty="0">
                <a:solidFill>
                  <a:schemeClr val="accent5"/>
                </a:solidFill>
              </a:rPr>
              <a:t>General Director</a:t>
            </a:r>
            <a:endParaRPr lang="en-US" sz="1600" dirty="0"/>
          </a:p>
        </p:txBody>
      </p:sp>
      <p:sp>
        <p:nvSpPr>
          <p:cNvPr id="8" name="a2-ld1"/>
          <p:cNvSpPr/>
          <p:nvPr/>
        </p:nvSpPr>
        <p:spPr>
          <a:xfrm>
            <a:off x="548640" y="4983480"/>
            <a:ext cx="594360" cy="594360"/>
          </a:xfrm>
          <a:prstGeom prst="ellipse">
            <a:avLst/>
          </a:prstGeom>
          <a:solidFill>
            <a:schemeClr val="accent2"/>
          </a:solidFill>
          <a:ln/>
        </p:spPr>
      </p:sp>
      <p:pic>
        <p:nvPicPr>
          <p:cNvPr id="9" name="a2-ld1-i" descr="preencoded.png">    </p:cNvPr>
          <p:cNvPicPr>
            <a:picLocks noChangeAspect="1"/>
          </p:cNvPicPr>
          <p:nvPr/>
        </p:nvPicPr>
        <p:blipFill>
          <a:blip r:embed="rId2"/>
          <a:stretch>
            <a:fillRect/>
          </a:stretch>
        </p:blipFill>
        <p:spPr>
          <a:xfrm>
            <a:off x="697230" y="5132070"/>
            <a:ext cx="297180" cy="297180"/>
          </a:xfrm>
          <a:prstGeom prst="rect">
            <a:avLst/>
          </a:prstGeom>
        </p:spPr>
      </p:pic>
      <p:sp>
        <p:nvSpPr>
          <p:cNvPr id="10" name="a2-ldt1"/>
          <p:cNvSpPr txBox="1"/>
          <p:nvPr/>
        </p:nvSpPr>
        <p:spPr>
          <a:xfrm>
            <a:off x="1325880" y="4983480"/>
            <a:ext cx="4114800" cy="594360"/>
          </a:xfrm>
          <a:prstGeom prst="rect">
            <a:avLst/>
          </a:prstGeom>
          <a:noFill/>
          <a:ln/>
        </p:spPr>
        <p:txBody>
          <a:bodyPr wrap="square" lIns="0" tIns="0" rIns="0" bIns="0" rtlCol="0" anchor="ctr"/>
          <a:lstStyle/>
          <a:p>
            <a:pPr indent="0" marL="0">
              <a:buNone/>
            </a:pPr>
            <a:r>
              <a:rPr lang="en-US" sz="1600" b="1" dirty="0">
                <a:solidFill>
                  <a:schemeClr val="tx2"/>
                </a:solidFill>
              </a:rPr>
              <a:t>Anthony John Galliano</a:t>
            </a:r>
            <a:endParaRPr lang="en-US" sz="1600" dirty="0"/>
          </a:p>
          <a:p>
            <a:pPr indent="0" marL="0">
              <a:buNone/>
            </a:pPr>
            <a:r>
              <a:rPr lang="en-US" sz="1400" dirty="0">
                <a:solidFill>
                  <a:schemeClr val="accent5"/>
                </a:solidFill>
              </a:rPr>
              <a:t>Director</a:t>
            </a:r>
            <a:endParaRPr lang="en-US" sz="1600" dirty="0"/>
          </a:p>
        </p:txBody>
      </p:sp>
      <p:sp>
        <p:nvSpPr>
          <p:cNvPr id="11" name="a3-st0"/>
          <p:cNvSpPr/>
          <p:nvPr/>
        </p:nvSpPr>
        <p:spPr>
          <a:xfrm>
            <a:off x="6172200" y="1417320"/>
            <a:ext cx="2514600" cy="2057400"/>
          </a:xfrm>
          <a:prstGeom prst="roundRect">
            <a:avLst>
              <a:gd name="adj" fmla="val 5333"/>
            </a:avLst>
          </a:prstGeom>
          <a:solidFill>
            <a:schemeClr val="tx2"/>
          </a:solidFill>
          <a:ln/>
        </p:spPr>
      </p:sp>
      <p:sp>
        <p:nvSpPr>
          <p:cNvPr id="12" name="a3-sn0"/>
          <p:cNvSpPr txBox="1"/>
          <p:nvPr/>
        </p:nvSpPr>
        <p:spPr>
          <a:xfrm>
            <a:off x="6446520" y="1645920"/>
            <a:ext cx="2011680" cy="822960"/>
          </a:xfrm>
          <a:prstGeom prst="rect">
            <a:avLst/>
          </a:prstGeom>
          <a:noFill/>
          <a:ln/>
        </p:spPr>
        <p:txBody>
          <a:bodyPr wrap="square" lIns="0" tIns="0" rIns="0" bIns="0" rtlCol="0" anchor="ctr"/>
          <a:lstStyle/>
          <a:p>
            <a:pPr indent="0" marL="0">
              <a:buNone/>
            </a:pPr>
            <a:r>
              <a:rPr lang="en-US" sz="4800" b="1" dirty="0">
                <a:solidFill>
                  <a:schemeClr val="bg1"/>
                </a:solidFill>
              </a:rPr>
              <a:t>2024</a:t>
            </a:r>
            <a:endParaRPr lang="en-US" sz="4800" dirty="0"/>
          </a:p>
        </p:txBody>
      </p:sp>
      <p:sp>
        <p:nvSpPr>
          <p:cNvPr id="13" name="a3-sl0"/>
          <p:cNvSpPr txBox="1"/>
          <p:nvPr/>
        </p:nvSpPr>
        <p:spPr>
          <a:xfrm>
            <a:off x="6446520" y="2468880"/>
            <a:ext cx="2011680" cy="365760"/>
          </a:xfrm>
          <a:prstGeom prst="rect">
            <a:avLst/>
          </a:prstGeom>
          <a:noFill/>
          <a:ln/>
        </p:spPr>
        <p:txBody>
          <a:bodyPr wrap="square" lIns="0" tIns="0" rIns="0" bIns="0" rtlCol="0" anchor="ctr"/>
          <a:lstStyle/>
          <a:p>
            <a:pPr indent="0" marL="0">
              <a:buNone/>
            </a:pPr>
            <a:r>
              <a:rPr lang="en-US" sz="1600" b="1" dirty="0">
                <a:solidFill>
                  <a:schemeClr val="bg1"/>
                </a:solidFill>
              </a:rPr>
              <a:t>Founded</a:t>
            </a:r>
            <a:endParaRPr lang="en-US" sz="1600" dirty="0"/>
          </a:p>
        </p:txBody>
      </p:sp>
      <p:sp>
        <p:nvSpPr>
          <p:cNvPr id="14" name="a3-sd0"/>
          <p:cNvSpPr txBox="1"/>
          <p:nvPr/>
        </p:nvSpPr>
        <p:spPr>
          <a:xfrm>
            <a:off x="6446520" y="2807208"/>
            <a:ext cx="2057400" cy="548640"/>
          </a:xfrm>
          <a:prstGeom prst="rect">
            <a:avLst/>
          </a:prstGeom>
          <a:noFill/>
          <a:ln/>
        </p:spPr>
        <p:txBody>
          <a:bodyPr wrap="square" lIns="0" tIns="0" rIns="0" bIns="0" rtlCol="0" anchor="t"/>
          <a:lstStyle/>
          <a:p>
            <a:pPr indent="0" marL="0">
              <a:buNone/>
            </a:pPr>
            <a:r>
              <a:rPr lang="en-US" sz="1200" dirty="0">
                <a:solidFill>
                  <a:schemeClr val="accent4"/>
                </a:solidFill>
              </a:rPr>
              <a:t>Registered in Ho Chi Minh City, Vietnam</a:t>
            </a:r>
            <a:endParaRPr lang="en-US" sz="1200" dirty="0"/>
          </a:p>
        </p:txBody>
      </p:sp>
      <p:sp>
        <p:nvSpPr>
          <p:cNvPr id="15" name="a3-st1"/>
          <p:cNvSpPr/>
          <p:nvPr/>
        </p:nvSpPr>
        <p:spPr>
          <a:xfrm>
            <a:off x="8961120" y="1417320"/>
            <a:ext cx="2514600" cy="2057400"/>
          </a:xfrm>
          <a:prstGeom prst="roundRect">
            <a:avLst>
              <a:gd name="adj" fmla="val 5333"/>
            </a:avLst>
          </a:prstGeom>
          <a:solidFill>
            <a:schemeClr val="bg2"/>
          </a:solidFill>
          <a:ln/>
        </p:spPr>
      </p:sp>
      <p:sp>
        <p:nvSpPr>
          <p:cNvPr id="16" name="a3-sn1"/>
          <p:cNvSpPr txBox="1"/>
          <p:nvPr/>
        </p:nvSpPr>
        <p:spPr>
          <a:xfrm>
            <a:off x="9235440" y="1645920"/>
            <a:ext cx="2011680" cy="822960"/>
          </a:xfrm>
          <a:prstGeom prst="rect">
            <a:avLst/>
          </a:prstGeom>
          <a:noFill/>
          <a:ln/>
        </p:spPr>
        <p:txBody>
          <a:bodyPr wrap="square" lIns="0" tIns="0" rIns="0" bIns="0" rtlCol="0" anchor="ctr"/>
          <a:lstStyle/>
          <a:p>
            <a:pPr indent="0" marL="0">
              <a:buNone/>
            </a:pPr>
            <a:r>
              <a:rPr lang="en-US" sz="4800" b="1" dirty="0">
                <a:solidFill>
                  <a:schemeClr val="accent1"/>
                </a:solidFill>
              </a:rPr>
              <a:t>4</a:t>
            </a:r>
            <a:endParaRPr lang="en-US" sz="4800" dirty="0"/>
          </a:p>
        </p:txBody>
      </p:sp>
      <p:sp>
        <p:nvSpPr>
          <p:cNvPr id="17" name="a3-sl1"/>
          <p:cNvSpPr txBox="1"/>
          <p:nvPr/>
        </p:nvSpPr>
        <p:spPr>
          <a:xfrm>
            <a:off x="9235440" y="2468880"/>
            <a:ext cx="2011680" cy="365760"/>
          </a:xfrm>
          <a:prstGeom prst="rect">
            <a:avLst/>
          </a:prstGeom>
          <a:noFill/>
          <a:ln/>
        </p:spPr>
        <p:txBody>
          <a:bodyPr wrap="square" lIns="0" tIns="0" rIns="0" bIns="0" rtlCol="0" anchor="ctr"/>
          <a:lstStyle/>
          <a:p>
            <a:pPr indent="0" marL="0">
              <a:buNone/>
            </a:pPr>
            <a:r>
              <a:rPr lang="en-US" sz="1600" b="1" dirty="0">
                <a:solidFill>
                  <a:schemeClr val="tx2"/>
                </a:solidFill>
              </a:rPr>
              <a:t>Markets served</a:t>
            </a:r>
            <a:endParaRPr lang="en-US" sz="1600" dirty="0"/>
          </a:p>
        </p:txBody>
      </p:sp>
      <p:sp>
        <p:nvSpPr>
          <p:cNvPr id="18" name="a3-sd1"/>
          <p:cNvSpPr txBox="1"/>
          <p:nvPr/>
        </p:nvSpPr>
        <p:spPr>
          <a:xfrm>
            <a:off x="9235440" y="2807208"/>
            <a:ext cx="2057400" cy="548640"/>
          </a:xfrm>
          <a:prstGeom prst="rect">
            <a:avLst/>
          </a:prstGeom>
          <a:noFill/>
          <a:ln/>
        </p:spPr>
        <p:txBody>
          <a:bodyPr wrap="square" lIns="0" tIns="0" rIns="0" bIns="0" rtlCol="0" anchor="t"/>
          <a:lstStyle/>
          <a:p>
            <a:pPr indent="0" marL="0">
              <a:buNone/>
            </a:pPr>
            <a:r>
              <a:rPr lang="en-US" sz="1200" dirty="0">
                <a:solidFill>
                  <a:schemeClr val="accent5"/>
                </a:solidFill>
              </a:rPr>
              <a:t>Canada, Australia, the US and Singapore</a:t>
            </a:r>
            <a:endParaRPr lang="en-US" sz="1200" dirty="0"/>
          </a:p>
        </p:txBody>
      </p:sp>
      <p:sp>
        <p:nvSpPr>
          <p:cNvPr id="19" name="a3-st2"/>
          <p:cNvSpPr/>
          <p:nvPr/>
        </p:nvSpPr>
        <p:spPr>
          <a:xfrm>
            <a:off x="6172200" y="3749040"/>
            <a:ext cx="2514600" cy="2057400"/>
          </a:xfrm>
          <a:prstGeom prst="roundRect">
            <a:avLst>
              <a:gd name="adj" fmla="val 5333"/>
            </a:avLst>
          </a:prstGeom>
          <a:solidFill>
            <a:schemeClr val="bg2"/>
          </a:solidFill>
          <a:ln/>
        </p:spPr>
      </p:sp>
      <p:sp>
        <p:nvSpPr>
          <p:cNvPr id="20" name="a3-sn2"/>
          <p:cNvSpPr txBox="1"/>
          <p:nvPr/>
        </p:nvSpPr>
        <p:spPr>
          <a:xfrm>
            <a:off x="6446520" y="3977640"/>
            <a:ext cx="2011680" cy="822960"/>
          </a:xfrm>
          <a:prstGeom prst="rect">
            <a:avLst/>
          </a:prstGeom>
          <a:noFill/>
          <a:ln/>
        </p:spPr>
        <p:txBody>
          <a:bodyPr wrap="square" lIns="0" tIns="0" rIns="0" bIns="0" rtlCol="0" anchor="ctr"/>
          <a:lstStyle/>
          <a:p>
            <a:pPr indent="0" marL="0">
              <a:buNone/>
            </a:pPr>
            <a:r>
              <a:rPr lang="en-US" sz="4800" b="1" dirty="0">
                <a:solidFill>
                  <a:schemeClr val="accent1"/>
                </a:solidFill>
              </a:rPr>
              <a:t>4</a:t>
            </a:r>
            <a:endParaRPr lang="en-US" sz="4800" dirty="0"/>
          </a:p>
        </p:txBody>
      </p:sp>
      <p:sp>
        <p:nvSpPr>
          <p:cNvPr id="21" name="a3-sl2"/>
          <p:cNvSpPr txBox="1"/>
          <p:nvPr/>
        </p:nvSpPr>
        <p:spPr>
          <a:xfrm>
            <a:off x="6446520" y="4800600"/>
            <a:ext cx="2011680" cy="365760"/>
          </a:xfrm>
          <a:prstGeom prst="rect">
            <a:avLst/>
          </a:prstGeom>
          <a:noFill/>
          <a:ln/>
        </p:spPr>
        <p:txBody>
          <a:bodyPr wrap="square" lIns="0" tIns="0" rIns="0" bIns="0" rtlCol="0" anchor="ctr"/>
          <a:lstStyle/>
          <a:p>
            <a:pPr indent="0" marL="0">
              <a:buNone/>
            </a:pPr>
            <a:r>
              <a:rPr lang="en-US" sz="1600" b="1" dirty="0">
                <a:solidFill>
                  <a:schemeClr val="tx2"/>
                </a:solidFill>
              </a:rPr>
              <a:t>Core platforms</a:t>
            </a:r>
            <a:endParaRPr lang="en-US" sz="1600" dirty="0"/>
          </a:p>
        </p:txBody>
      </p:sp>
      <p:sp>
        <p:nvSpPr>
          <p:cNvPr id="22" name="a3-sd2"/>
          <p:cNvSpPr txBox="1"/>
          <p:nvPr/>
        </p:nvSpPr>
        <p:spPr>
          <a:xfrm>
            <a:off x="6446520" y="5138928"/>
            <a:ext cx="2057400" cy="548640"/>
          </a:xfrm>
          <a:prstGeom prst="rect">
            <a:avLst/>
          </a:prstGeom>
          <a:noFill/>
          <a:ln/>
        </p:spPr>
        <p:txBody>
          <a:bodyPr wrap="square" lIns="0" tIns="0" rIns="0" bIns="0" rtlCol="0" anchor="t"/>
          <a:lstStyle/>
          <a:p>
            <a:pPr indent="0" marL="0">
              <a:buNone/>
            </a:pPr>
            <a:r>
              <a:rPr lang="en-US" sz="1200" dirty="0">
                <a:solidFill>
                  <a:schemeClr val="accent5"/>
                </a:solidFill>
              </a:rPr>
              <a:t>QuickBooks, Xero, CaseWare and CCH iFirm</a:t>
            </a:r>
            <a:endParaRPr lang="en-US" sz="1200" dirty="0"/>
          </a:p>
        </p:txBody>
      </p:sp>
      <p:sp>
        <p:nvSpPr>
          <p:cNvPr id="23" name="a3-st3"/>
          <p:cNvSpPr/>
          <p:nvPr/>
        </p:nvSpPr>
        <p:spPr>
          <a:xfrm>
            <a:off x="8961120" y="3749040"/>
            <a:ext cx="2514600" cy="2057400"/>
          </a:xfrm>
          <a:prstGeom prst="roundRect">
            <a:avLst>
              <a:gd name="adj" fmla="val 5333"/>
            </a:avLst>
          </a:prstGeom>
          <a:solidFill>
            <a:schemeClr val="bg2"/>
          </a:solidFill>
          <a:ln/>
        </p:spPr>
      </p:sp>
      <p:sp>
        <p:nvSpPr>
          <p:cNvPr id="24" name="a3-sn3"/>
          <p:cNvSpPr txBox="1"/>
          <p:nvPr/>
        </p:nvSpPr>
        <p:spPr>
          <a:xfrm>
            <a:off x="9235440" y="3977640"/>
            <a:ext cx="2011680" cy="822960"/>
          </a:xfrm>
          <a:prstGeom prst="rect">
            <a:avLst/>
          </a:prstGeom>
          <a:noFill/>
          <a:ln/>
        </p:spPr>
        <p:txBody>
          <a:bodyPr wrap="square" lIns="0" tIns="0" rIns="0" bIns="0" rtlCol="0" anchor="ctr"/>
          <a:lstStyle/>
          <a:p>
            <a:pPr indent="0" marL="0">
              <a:buNone/>
            </a:pPr>
            <a:r>
              <a:rPr lang="en-US" sz="4800" b="1" dirty="0">
                <a:solidFill>
                  <a:schemeClr val="accent1"/>
                </a:solidFill>
              </a:rPr>
              <a:t>6 yrs</a:t>
            </a:r>
            <a:endParaRPr lang="en-US" sz="4800" dirty="0"/>
          </a:p>
        </p:txBody>
      </p:sp>
      <p:sp>
        <p:nvSpPr>
          <p:cNvPr id="25" name="a3-sl3"/>
          <p:cNvSpPr txBox="1"/>
          <p:nvPr/>
        </p:nvSpPr>
        <p:spPr>
          <a:xfrm>
            <a:off x="9235440" y="4800600"/>
            <a:ext cx="2011680" cy="365760"/>
          </a:xfrm>
          <a:prstGeom prst="rect">
            <a:avLst/>
          </a:prstGeom>
          <a:noFill/>
          <a:ln/>
        </p:spPr>
        <p:txBody>
          <a:bodyPr wrap="square" lIns="0" tIns="0" rIns="0" bIns="0" rtlCol="0" anchor="ctr"/>
          <a:lstStyle/>
          <a:p>
            <a:pPr indent="0" marL="0">
              <a:buNone/>
            </a:pPr>
            <a:r>
              <a:rPr lang="en-US" sz="1600" b="1" dirty="0">
                <a:solidFill>
                  <a:schemeClr val="tx2"/>
                </a:solidFill>
              </a:rPr>
              <a:t>Largest rebuild</a:t>
            </a:r>
            <a:endParaRPr lang="en-US" sz="1600" dirty="0"/>
          </a:p>
        </p:txBody>
      </p:sp>
      <p:sp>
        <p:nvSpPr>
          <p:cNvPr id="26" name="a3-sd3"/>
          <p:cNvSpPr txBox="1"/>
          <p:nvPr/>
        </p:nvSpPr>
        <p:spPr>
          <a:xfrm>
            <a:off x="9235440" y="5138928"/>
            <a:ext cx="2057400" cy="548640"/>
          </a:xfrm>
          <a:prstGeom prst="rect">
            <a:avLst/>
          </a:prstGeom>
          <a:noFill/>
          <a:ln/>
        </p:spPr>
        <p:txBody>
          <a:bodyPr wrap="square" lIns="0" tIns="0" rIns="0" bIns="0" rtlCol="0" anchor="t"/>
          <a:lstStyle/>
          <a:p>
            <a:pPr indent="0" marL="0">
              <a:buNone/>
            </a:pPr>
            <a:r>
              <a:rPr lang="en-US" sz="1200" dirty="0">
                <a:solidFill>
                  <a:schemeClr val="accent5"/>
                </a:solidFill>
              </a:rPr>
              <a:t>Six years of records rebuilt, 2021–2026</a:t>
            </a:r>
            <a:endParaRPr lang="en-US" sz="1200" dirty="0"/>
          </a:p>
        </p:txBody>
      </p:sp>
      <p:sp>
        <p:nvSpPr>
          <p:cNvPr id="27" name="a4-reg"/>
          <p:cNvSpPr txBox="1"/>
          <p:nvPr/>
        </p:nvSpPr>
        <p:spPr>
          <a:xfrm>
            <a:off x="548640" y="59436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Enterprise No. 0318715056 · Ho Chi Minh City Business Registration Office</a:t>
            </a:r>
            <a:endParaRPr lang="en-US" sz="10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2</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childTnLst>
                          </p:cTn>
                        </p:par>
                        <p:par>
                          <p:cTn id="29" fill="hold">
                            <p:stCondLst>
                              <p:cond delay="75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par>
                          <p:cTn id="78" fill="hold">
                            <p:stCondLst>
                              <p:cond delay="1200"/>
                            </p:stCondLst>
                            <p:childTnLst>
                              <p:par>
                                <p:cTn id="30" presetID="10" presetClass="entr" presetSubtype="0"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childTnLst>
                          </p:cTn>
                        </p:par>
                        <p:par>
                          <p:cTn id="82" fill="hold">
                            <p:stCondLst>
                              <p:cond delay="1650"/>
                            </p:stCondLst>
                            <p:childTnLst>
                              <p:par>
                                <p:cTn id="79" presetID="10" presetClass="entr" presetSubtype="0" fill="hold" grpId="0" nodeType="after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509760" cy="777240"/>
          </a:xfrm>
          <a:prstGeom prst="rect">
            <a:avLst/>
          </a:prstGeom>
          <a:noFill/>
          <a:ln/>
        </p:spPr>
        <p:txBody>
          <a:bodyPr wrap="square" lIns="0" tIns="0" rIns="0" bIns="0" rtlCol="0" anchor="ctr"/>
          <a:lstStyle/>
          <a:p>
            <a:pPr algn="l" indent="0" marL="0">
              <a:buNone/>
            </a:pPr>
            <a:r>
              <a:rPr lang="en-US" sz="3600" b="1" dirty="0">
                <a:solidFill>
                  <a:schemeClr val="tx2"/>
                </a:solidFill>
              </a:rPr>
              <a:t>What We Do</a:t>
            </a:r>
            <a:endParaRPr lang="en-US" sz="3600" dirty="0"/>
          </a:p>
        </p:txBody>
      </p:sp>
      <p:sp>
        <p:nvSpPr>
          <p:cNvPr id="3" name="a1-sub"/>
          <p:cNvSpPr txBox="1"/>
          <p:nvPr/>
        </p:nvSpPr>
        <p:spPr>
          <a:xfrm>
            <a:off x="548640" y="1143000"/>
            <a:ext cx="10058400" cy="411480"/>
          </a:xfrm>
          <a:prstGeom prst="rect">
            <a:avLst/>
          </a:prstGeom>
          <a:noFill/>
          <a:ln/>
        </p:spPr>
        <p:txBody>
          <a:bodyPr wrap="square" lIns="0" tIns="0" rIns="0" bIns="0" rtlCol="0" anchor="ctr"/>
          <a:lstStyle/>
          <a:p>
            <a:pPr indent="0" marL="0">
              <a:buNone/>
            </a:pPr>
            <a:r>
              <a:rPr lang="en-US" sz="1800" dirty="0">
                <a:solidFill>
                  <a:schemeClr val="accent5"/>
                </a:solidFill>
              </a:rPr>
              <a:t>End-to-end accounting and tax support, tailored to each market.</a:t>
            </a:r>
            <a:endParaRPr lang="en-US" sz="1800" dirty="0"/>
          </a:p>
        </p:txBody>
      </p:sp>
      <p:sp>
        <p:nvSpPr>
          <p:cNvPr id="4" name="a2-c0"/>
          <p:cNvSpPr/>
          <p:nvPr/>
        </p:nvSpPr>
        <p:spPr>
          <a:xfrm>
            <a:off x="548640" y="1783080"/>
            <a:ext cx="3520440" cy="2011680"/>
          </a:xfrm>
          <a:prstGeom prst="roundRect">
            <a:avLst>
              <a:gd name="adj" fmla="val 5455"/>
            </a:avLst>
          </a:prstGeom>
          <a:solidFill>
            <a:schemeClr val="bg1"/>
          </a:solidFill>
          <a:ln w="12700">
            <a:solidFill>
              <a:schemeClr val="accent4"/>
            </a:solidFill>
            <a:prstDash val="solid"/>
          </a:ln>
          <a:effectLst>
            <a:outerShdw sx="100000" sy="100000" kx="0" ky="0" algn="bl" rotWithShape="0" blurRad="101600" dist="25400" dir="5400000">
              <a:srgbClr val="1F2A6B">
                <a:alpha val="12000"/>
              </a:srgbClr>
            </a:outerShdw>
          </a:effectLst>
        </p:spPr>
      </p:sp>
      <p:sp>
        <p:nvSpPr>
          <p:cNvPr id="5" name="a2-d0"/>
          <p:cNvSpPr/>
          <p:nvPr/>
        </p:nvSpPr>
        <p:spPr>
          <a:xfrm>
            <a:off x="822960" y="2057400"/>
            <a:ext cx="731520" cy="731520"/>
          </a:xfrm>
          <a:prstGeom prst="ellipse">
            <a:avLst/>
          </a:prstGeom>
          <a:solidFill>
            <a:schemeClr val="tx2"/>
          </a:solidFill>
          <a:ln/>
        </p:spPr>
      </p:sp>
      <p:pic>
        <p:nvPicPr>
          <p:cNvPr id="6" name="a2-d0-i" descr="preencoded.png">    </p:cNvPr>
          <p:cNvPicPr>
            <a:picLocks noChangeAspect="1"/>
          </p:cNvPicPr>
          <p:nvPr/>
        </p:nvPicPr>
        <p:blipFill>
          <a:blip r:embed="rId1"/>
          <a:stretch>
            <a:fillRect/>
          </a:stretch>
        </p:blipFill>
        <p:spPr>
          <a:xfrm>
            <a:off x="1005840" y="2240280"/>
            <a:ext cx="365760" cy="365760"/>
          </a:xfrm>
          <a:prstGeom prst="rect">
            <a:avLst/>
          </a:prstGeom>
        </p:spPr>
      </p:pic>
      <p:sp>
        <p:nvSpPr>
          <p:cNvPr id="7" name="a2-h0"/>
          <p:cNvSpPr txBox="1"/>
          <p:nvPr/>
        </p:nvSpPr>
        <p:spPr>
          <a:xfrm>
            <a:off x="1691640" y="2057400"/>
            <a:ext cx="2194560" cy="731520"/>
          </a:xfrm>
          <a:prstGeom prst="rect">
            <a:avLst/>
          </a:prstGeom>
          <a:noFill/>
          <a:ln/>
        </p:spPr>
        <p:txBody>
          <a:bodyPr wrap="square" lIns="0" tIns="0" rIns="0" bIns="0" rtlCol="0" anchor="ctr"/>
          <a:lstStyle/>
          <a:p>
            <a:pPr indent="0" marL="0">
              <a:buNone/>
            </a:pPr>
            <a:r>
              <a:rPr lang="en-US" sz="1800" b="1" dirty="0">
                <a:solidFill>
                  <a:schemeClr val="tx2"/>
                </a:solidFill>
              </a:rPr>
              <a:t>Bookkeeping &amp; Accounting</a:t>
            </a:r>
            <a:endParaRPr lang="en-US" sz="1800" dirty="0"/>
          </a:p>
        </p:txBody>
      </p:sp>
      <p:sp>
        <p:nvSpPr>
          <p:cNvPr id="8" name="a2-t0"/>
          <p:cNvSpPr txBox="1"/>
          <p:nvPr/>
        </p:nvSpPr>
        <p:spPr>
          <a:xfrm>
            <a:off x="822960" y="2926080"/>
            <a:ext cx="3017520" cy="777240"/>
          </a:xfrm>
          <a:prstGeom prst="rect">
            <a:avLst/>
          </a:prstGeom>
          <a:noFill/>
          <a:ln/>
        </p:spPr>
        <p:txBody>
          <a:bodyPr wrap="square" lIns="0" tIns="0" rIns="0" bIns="0" rtlCol="0" anchor="t"/>
          <a:lstStyle/>
          <a:p>
            <a:pPr indent="0" marL="0">
              <a:buNone/>
            </a:pPr>
            <a:r>
              <a:rPr lang="en-US" sz="1500" dirty="0">
                <a:solidFill>
                  <a:schemeClr val="tx1"/>
                </a:solidFill>
              </a:rPr>
              <a:t>Accurate books in QuickBooks, Xero and CaseWare, plus year-end financial statements.</a:t>
            </a:r>
            <a:endParaRPr lang="en-US" sz="1500" dirty="0"/>
          </a:p>
        </p:txBody>
      </p:sp>
      <p:sp>
        <p:nvSpPr>
          <p:cNvPr id="9" name="a2-c1"/>
          <p:cNvSpPr/>
          <p:nvPr/>
        </p:nvSpPr>
        <p:spPr>
          <a:xfrm>
            <a:off x="4320540" y="1783080"/>
            <a:ext cx="3520440" cy="2011680"/>
          </a:xfrm>
          <a:prstGeom prst="roundRect">
            <a:avLst>
              <a:gd name="adj" fmla="val 5455"/>
            </a:avLst>
          </a:prstGeom>
          <a:solidFill>
            <a:schemeClr val="bg1"/>
          </a:solidFill>
          <a:ln w="12700">
            <a:solidFill>
              <a:schemeClr val="accent4"/>
            </a:solidFill>
            <a:prstDash val="solid"/>
          </a:ln>
          <a:effectLst>
            <a:outerShdw sx="100000" sy="100000" kx="0" ky="0" algn="bl" rotWithShape="0" blurRad="101600" dist="25400" dir="5400000">
              <a:srgbClr val="1F2A6B">
                <a:alpha val="12000"/>
              </a:srgbClr>
            </a:outerShdw>
          </a:effectLst>
        </p:spPr>
      </p:sp>
      <p:sp>
        <p:nvSpPr>
          <p:cNvPr id="10" name="a2-d1"/>
          <p:cNvSpPr/>
          <p:nvPr/>
        </p:nvSpPr>
        <p:spPr>
          <a:xfrm>
            <a:off x="4594860" y="2057400"/>
            <a:ext cx="731520" cy="731520"/>
          </a:xfrm>
          <a:prstGeom prst="ellipse">
            <a:avLst/>
          </a:prstGeom>
          <a:solidFill>
            <a:schemeClr val="accent2"/>
          </a:solidFill>
          <a:ln/>
        </p:spPr>
      </p:sp>
      <p:pic>
        <p:nvPicPr>
          <p:cNvPr id="11" name="a2-d1-i" descr="preencoded.png">    </p:cNvPr>
          <p:cNvPicPr>
            <a:picLocks noChangeAspect="1"/>
          </p:cNvPicPr>
          <p:nvPr/>
        </p:nvPicPr>
        <p:blipFill>
          <a:blip r:embed="rId2"/>
          <a:stretch>
            <a:fillRect/>
          </a:stretch>
        </p:blipFill>
        <p:spPr>
          <a:xfrm>
            <a:off x="4777740" y="2240280"/>
            <a:ext cx="365760" cy="365760"/>
          </a:xfrm>
          <a:prstGeom prst="rect">
            <a:avLst/>
          </a:prstGeom>
        </p:spPr>
      </p:pic>
      <p:sp>
        <p:nvSpPr>
          <p:cNvPr id="12" name="a2-h1"/>
          <p:cNvSpPr txBox="1"/>
          <p:nvPr/>
        </p:nvSpPr>
        <p:spPr>
          <a:xfrm>
            <a:off x="5463540" y="2057400"/>
            <a:ext cx="2194560" cy="731520"/>
          </a:xfrm>
          <a:prstGeom prst="rect">
            <a:avLst/>
          </a:prstGeom>
          <a:noFill/>
          <a:ln/>
        </p:spPr>
        <p:txBody>
          <a:bodyPr wrap="square" lIns="0" tIns="0" rIns="0" bIns="0" rtlCol="0" anchor="ctr"/>
          <a:lstStyle/>
          <a:p>
            <a:pPr indent="0" marL="0">
              <a:buNone/>
            </a:pPr>
            <a:r>
              <a:rPr lang="en-US" sz="1800" b="1" dirty="0">
                <a:solidFill>
                  <a:schemeClr val="tx2"/>
                </a:solidFill>
              </a:rPr>
              <a:t>Tax Return Preparation</a:t>
            </a:r>
            <a:endParaRPr lang="en-US" sz="1800" dirty="0"/>
          </a:p>
        </p:txBody>
      </p:sp>
      <p:sp>
        <p:nvSpPr>
          <p:cNvPr id="13" name="a2-t1"/>
          <p:cNvSpPr txBox="1"/>
          <p:nvPr/>
        </p:nvSpPr>
        <p:spPr>
          <a:xfrm>
            <a:off x="4594860" y="2926080"/>
            <a:ext cx="3017520" cy="777240"/>
          </a:xfrm>
          <a:prstGeom prst="rect">
            <a:avLst/>
          </a:prstGeom>
          <a:noFill/>
          <a:ln/>
        </p:spPr>
        <p:txBody>
          <a:bodyPr wrap="square" lIns="0" tIns="0" rIns="0" bIns="0" rtlCol="0" anchor="t"/>
          <a:lstStyle/>
          <a:p>
            <a:pPr indent="0" marL="0">
              <a:buNone/>
            </a:pPr>
            <a:r>
              <a:rPr lang="en-US" sz="1500" dirty="0">
                <a:solidFill>
                  <a:schemeClr val="tx1"/>
                </a:solidFill>
              </a:rPr>
              <a:t>Canadian T2 and Australian BAS, prepared for your firm to review and submit.</a:t>
            </a:r>
            <a:endParaRPr lang="en-US" sz="1500" dirty="0"/>
          </a:p>
        </p:txBody>
      </p:sp>
      <p:sp>
        <p:nvSpPr>
          <p:cNvPr id="14" name="a2-c2"/>
          <p:cNvSpPr/>
          <p:nvPr/>
        </p:nvSpPr>
        <p:spPr>
          <a:xfrm>
            <a:off x="8092440" y="1783080"/>
            <a:ext cx="3520440" cy="2011680"/>
          </a:xfrm>
          <a:prstGeom prst="roundRect">
            <a:avLst>
              <a:gd name="adj" fmla="val 5455"/>
            </a:avLst>
          </a:prstGeom>
          <a:solidFill>
            <a:schemeClr val="bg1"/>
          </a:solidFill>
          <a:ln w="12700">
            <a:solidFill>
              <a:schemeClr val="accent4"/>
            </a:solidFill>
            <a:prstDash val="solid"/>
          </a:ln>
          <a:effectLst>
            <a:outerShdw sx="100000" sy="100000" kx="0" ky="0" algn="bl" rotWithShape="0" blurRad="101600" dist="25400" dir="5400000">
              <a:srgbClr val="1F2A6B">
                <a:alpha val="12000"/>
              </a:srgbClr>
            </a:outerShdw>
          </a:effectLst>
        </p:spPr>
      </p:sp>
      <p:sp>
        <p:nvSpPr>
          <p:cNvPr id="15" name="a2-d2"/>
          <p:cNvSpPr/>
          <p:nvPr/>
        </p:nvSpPr>
        <p:spPr>
          <a:xfrm>
            <a:off x="8366760" y="2057400"/>
            <a:ext cx="731520" cy="731520"/>
          </a:xfrm>
          <a:prstGeom prst="ellipse">
            <a:avLst/>
          </a:prstGeom>
          <a:solidFill>
            <a:schemeClr val="tx2"/>
          </a:solidFill>
          <a:ln/>
        </p:spPr>
      </p:sp>
      <p:pic>
        <p:nvPicPr>
          <p:cNvPr id="16" name="a2-d2-i" descr="preencoded.png">    </p:cNvPr>
          <p:cNvPicPr>
            <a:picLocks noChangeAspect="1"/>
          </p:cNvPicPr>
          <p:nvPr/>
        </p:nvPicPr>
        <p:blipFill>
          <a:blip r:embed="rId3"/>
          <a:stretch>
            <a:fillRect/>
          </a:stretch>
        </p:blipFill>
        <p:spPr>
          <a:xfrm>
            <a:off x="8549640" y="2240280"/>
            <a:ext cx="365760" cy="365760"/>
          </a:xfrm>
          <a:prstGeom prst="rect">
            <a:avLst/>
          </a:prstGeom>
        </p:spPr>
      </p:pic>
      <p:sp>
        <p:nvSpPr>
          <p:cNvPr id="17" name="a2-h2"/>
          <p:cNvSpPr txBox="1"/>
          <p:nvPr/>
        </p:nvSpPr>
        <p:spPr>
          <a:xfrm>
            <a:off x="9235440" y="2057400"/>
            <a:ext cx="2194560" cy="731520"/>
          </a:xfrm>
          <a:prstGeom prst="rect">
            <a:avLst/>
          </a:prstGeom>
          <a:noFill/>
          <a:ln/>
        </p:spPr>
        <p:txBody>
          <a:bodyPr wrap="square" lIns="0" tIns="0" rIns="0" bIns="0" rtlCol="0" anchor="ctr"/>
          <a:lstStyle/>
          <a:p>
            <a:pPr indent="0" marL="0">
              <a:buNone/>
            </a:pPr>
            <a:r>
              <a:rPr lang="en-US" sz="1800" b="1" dirty="0">
                <a:solidFill>
                  <a:schemeClr val="tx2"/>
                </a:solidFill>
              </a:rPr>
              <a:t>US Tax Filing</a:t>
            </a:r>
            <a:endParaRPr lang="en-US" sz="1800" dirty="0"/>
          </a:p>
        </p:txBody>
      </p:sp>
      <p:sp>
        <p:nvSpPr>
          <p:cNvPr id="18" name="a2-t2"/>
          <p:cNvSpPr txBox="1"/>
          <p:nvPr/>
        </p:nvSpPr>
        <p:spPr>
          <a:xfrm>
            <a:off x="8366760" y="2926080"/>
            <a:ext cx="3017520" cy="777240"/>
          </a:xfrm>
          <a:prstGeom prst="rect">
            <a:avLst/>
          </a:prstGeom>
          <a:noFill/>
          <a:ln/>
        </p:spPr>
        <p:txBody>
          <a:bodyPr wrap="square" lIns="0" tIns="0" rIns="0" bIns="0" rtlCol="0" anchor="t"/>
          <a:lstStyle/>
          <a:p>
            <a:pPr indent="0" marL="0">
              <a:buNone/>
            </a:pPr>
            <a:r>
              <a:rPr lang="en-US" sz="1500" dirty="0">
                <a:solidFill>
                  <a:schemeClr val="tx1"/>
                </a:solidFill>
              </a:rPr>
              <a:t>Tax preparation and filing for small and mid-sized US businesses.</a:t>
            </a:r>
            <a:endParaRPr lang="en-US" sz="1500" dirty="0"/>
          </a:p>
        </p:txBody>
      </p:sp>
      <p:sp>
        <p:nvSpPr>
          <p:cNvPr id="19" name="a3-c3"/>
          <p:cNvSpPr/>
          <p:nvPr/>
        </p:nvSpPr>
        <p:spPr>
          <a:xfrm>
            <a:off x="548640" y="4023360"/>
            <a:ext cx="3520440" cy="2011680"/>
          </a:xfrm>
          <a:prstGeom prst="roundRect">
            <a:avLst>
              <a:gd name="adj" fmla="val 5455"/>
            </a:avLst>
          </a:prstGeom>
          <a:solidFill>
            <a:schemeClr val="bg1"/>
          </a:solidFill>
          <a:ln w="12700">
            <a:solidFill>
              <a:schemeClr val="accent4"/>
            </a:solidFill>
            <a:prstDash val="solid"/>
          </a:ln>
          <a:effectLst>
            <a:outerShdw sx="100000" sy="100000" kx="0" ky="0" algn="bl" rotWithShape="0" blurRad="101600" dist="25400" dir="5400000">
              <a:srgbClr val="1F2A6B">
                <a:alpha val="12000"/>
              </a:srgbClr>
            </a:outerShdw>
          </a:effectLst>
        </p:spPr>
      </p:sp>
      <p:sp>
        <p:nvSpPr>
          <p:cNvPr id="20" name="a3-d3"/>
          <p:cNvSpPr/>
          <p:nvPr/>
        </p:nvSpPr>
        <p:spPr>
          <a:xfrm>
            <a:off x="822960" y="4297680"/>
            <a:ext cx="731520" cy="731520"/>
          </a:xfrm>
          <a:prstGeom prst="ellipse">
            <a:avLst/>
          </a:prstGeom>
          <a:solidFill>
            <a:schemeClr val="accent2"/>
          </a:solidFill>
          <a:ln/>
        </p:spPr>
      </p:sp>
      <p:pic>
        <p:nvPicPr>
          <p:cNvPr id="21" name="a3-d3-i" descr="preencoded.png">    </p:cNvPr>
          <p:cNvPicPr>
            <a:picLocks noChangeAspect="1"/>
          </p:cNvPicPr>
          <p:nvPr/>
        </p:nvPicPr>
        <p:blipFill>
          <a:blip r:embed="rId4"/>
          <a:stretch>
            <a:fillRect/>
          </a:stretch>
        </p:blipFill>
        <p:spPr>
          <a:xfrm>
            <a:off x="1005840" y="4480560"/>
            <a:ext cx="365760" cy="365760"/>
          </a:xfrm>
          <a:prstGeom prst="rect">
            <a:avLst/>
          </a:prstGeom>
        </p:spPr>
      </p:pic>
      <p:sp>
        <p:nvSpPr>
          <p:cNvPr id="22" name="a3-h3"/>
          <p:cNvSpPr txBox="1"/>
          <p:nvPr/>
        </p:nvSpPr>
        <p:spPr>
          <a:xfrm>
            <a:off x="1691640" y="4297680"/>
            <a:ext cx="2194560" cy="731520"/>
          </a:xfrm>
          <a:prstGeom prst="rect">
            <a:avLst/>
          </a:prstGeom>
          <a:noFill/>
          <a:ln/>
        </p:spPr>
        <p:txBody>
          <a:bodyPr wrap="square" lIns="0" tIns="0" rIns="0" bIns="0" rtlCol="0" anchor="ctr"/>
          <a:lstStyle/>
          <a:p>
            <a:pPr indent="0" marL="0">
              <a:buNone/>
            </a:pPr>
            <a:r>
              <a:rPr lang="en-US" sz="1800" b="1" dirty="0">
                <a:solidFill>
                  <a:schemeClr val="tx2"/>
                </a:solidFill>
              </a:rPr>
              <a:t>Tax &amp; Business Consulting</a:t>
            </a:r>
            <a:endParaRPr lang="en-US" sz="1800" dirty="0"/>
          </a:p>
        </p:txBody>
      </p:sp>
      <p:sp>
        <p:nvSpPr>
          <p:cNvPr id="23" name="a3-t3"/>
          <p:cNvSpPr txBox="1"/>
          <p:nvPr/>
        </p:nvSpPr>
        <p:spPr>
          <a:xfrm>
            <a:off x="822960" y="5166360"/>
            <a:ext cx="3017520" cy="777240"/>
          </a:xfrm>
          <a:prstGeom prst="rect">
            <a:avLst/>
          </a:prstGeom>
          <a:noFill/>
          <a:ln/>
        </p:spPr>
        <p:txBody>
          <a:bodyPr wrap="square" lIns="0" tIns="0" rIns="0" bIns="0" rtlCol="0" anchor="t"/>
          <a:lstStyle/>
          <a:p>
            <a:pPr indent="0" marL="0">
              <a:buNone/>
            </a:pPr>
            <a:r>
              <a:rPr lang="en-US" sz="1500" dirty="0">
                <a:solidFill>
                  <a:schemeClr val="tx1"/>
                </a:solidFill>
              </a:rPr>
              <a:t>Practical guidance that helps US SMEs make sound decisions.</a:t>
            </a:r>
            <a:endParaRPr lang="en-US" sz="1500" dirty="0"/>
          </a:p>
        </p:txBody>
      </p:sp>
      <p:sp>
        <p:nvSpPr>
          <p:cNvPr id="24" name="a3-c4"/>
          <p:cNvSpPr/>
          <p:nvPr/>
        </p:nvSpPr>
        <p:spPr>
          <a:xfrm>
            <a:off x="4320540" y="4023360"/>
            <a:ext cx="3520440" cy="2011680"/>
          </a:xfrm>
          <a:prstGeom prst="roundRect">
            <a:avLst>
              <a:gd name="adj" fmla="val 5455"/>
            </a:avLst>
          </a:prstGeom>
          <a:solidFill>
            <a:schemeClr val="bg1"/>
          </a:solidFill>
          <a:ln w="12700">
            <a:solidFill>
              <a:schemeClr val="accent4"/>
            </a:solidFill>
            <a:prstDash val="solid"/>
          </a:ln>
          <a:effectLst>
            <a:outerShdw sx="100000" sy="100000" kx="0" ky="0" algn="bl" rotWithShape="0" blurRad="101600" dist="25400" dir="5400000">
              <a:srgbClr val="1F2A6B">
                <a:alpha val="12000"/>
              </a:srgbClr>
            </a:outerShdw>
          </a:effectLst>
        </p:spPr>
      </p:sp>
      <p:sp>
        <p:nvSpPr>
          <p:cNvPr id="25" name="a3-d4"/>
          <p:cNvSpPr/>
          <p:nvPr/>
        </p:nvSpPr>
        <p:spPr>
          <a:xfrm>
            <a:off x="4594860" y="4297680"/>
            <a:ext cx="731520" cy="731520"/>
          </a:xfrm>
          <a:prstGeom prst="ellipse">
            <a:avLst/>
          </a:prstGeom>
          <a:solidFill>
            <a:schemeClr val="tx2"/>
          </a:solidFill>
          <a:ln/>
        </p:spPr>
      </p:sp>
      <p:pic>
        <p:nvPicPr>
          <p:cNvPr id="26" name="a3-d4-i" descr="preencoded.png">    </p:cNvPr>
          <p:cNvPicPr>
            <a:picLocks noChangeAspect="1"/>
          </p:cNvPicPr>
          <p:nvPr/>
        </p:nvPicPr>
        <p:blipFill>
          <a:blip r:embed="rId5"/>
          <a:stretch>
            <a:fillRect/>
          </a:stretch>
        </p:blipFill>
        <p:spPr>
          <a:xfrm>
            <a:off x="4777740" y="4480560"/>
            <a:ext cx="365760" cy="365760"/>
          </a:xfrm>
          <a:prstGeom prst="rect">
            <a:avLst/>
          </a:prstGeom>
        </p:spPr>
      </p:pic>
      <p:sp>
        <p:nvSpPr>
          <p:cNvPr id="27" name="a3-h4"/>
          <p:cNvSpPr txBox="1"/>
          <p:nvPr/>
        </p:nvSpPr>
        <p:spPr>
          <a:xfrm>
            <a:off x="5463540" y="4297680"/>
            <a:ext cx="2194560" cy="731520"/>
          </a:xfrm>
          <a:prstGeom prst="rect">
            <a:avLst/>
          </a:prstGeom>
          <a:noFill/>
          <a:ln/>
        </p:spPr>
        <p:txBody>
          <a:bodyPr wrap="square" lIns="0" tIns="0" rIns="0" bIns="0" rtlCol="0" anchor="ctr"/>
          <a:lstStyle/>
          <a:p>
            <a:pPr indent="0" marL="0">
              <a:buNone/>
            </a:pPr>
            <a:r>
              <a:rPr lang="en-US" sz="1800" b="1" dirty="0">
                <a:solidFill>
                  <a:schemeClr val="tx2"/>
                </a:solidFill>
              </a:rPr>
              <a:t>Financial Reconstruction</a:t>
            </a:r>
            <a:endParaRPr lang="en-US" sz="1800" dirty="0"/>
          </a:p>
        </p:txBody>
      </p:sp>
      <p:sp>
        <p:nvSpPr>
          <p:cNvPr id="28" name="a3-t4"/>
          <p:cNvSpPr txBox="1"/>
          <p:nvPr/>
        </p:nvSpPr>
        <p:spPr>
          <a:xfrm>
            <a:off x="4594860" y="5166360"/>
            <a:ext cx="3017520" cy="777240"/>
          </a:xfrm>
          <a:prstGeom prst="rect">
            <a:avLst/>
          </a:prstGeom>
          <a:noFill/>
          <a:ln/>
        </p:spPr>
        <p:txBody>
          <a:bodyPr wrap="square" lIns="0" tIns="0" rIns="0" bIns="0" rtlCol="0" anchor="t"/>
          <a:lstStyle/>
          <a:p>
            <a:pPr indent="0" marL="0">
              <a:buNone/>
            </a:pPr>
            <a:r>
              <a:rPr lang="en-US" sz="1500" dirty="0">
                <a:solidFill>
                  <a:schemeClr val="tx1"/>
                </a:solidFill>
              </a:rPr>
              <a:t>Catch-up and clean-up of incomplete records, even several years back.</a:t>
            </a:r>
            <a:endParaRPr lang="en-US" sz="1500" dirty="0"/>
          </a:p>
        </p:txBody>
      </p:sp>
      <p:sp>
        <p:nvSpPr>
          <p:cNvPr id="29" name="a3-c5"/>
          <p:cNvSpPr/>
          <p:nvPr/>
        </p:nvSpPr>
        <p:spPr>
          <a:xfrm>
            <a:off x="8092440" y="4023360"/>
            <a:ext cx="3520440" cy="2011680"/>
          </a:xfrm>
          <a:prstGeom prst="roundRect">
            <a:avLst>
              <a:gd name="adj" fmla="val 5455"/>
            </a:avLst>
          </a:prstGeom>
          <a:solidFill>
            <a:schemeClr val="tx2"/>
          </a:solidFill>
          <a:ln/>
        </p:spPr>
      </p:sp>
      <p:sp>
        <p:nvSpPr>
          <p:cNvPr id="30" name="a3-t5"/>
          <p:cNvSpPr txBox="1"/>
          <p:nvPr/>
        </p:nvSpPr>
        <p:spPr>
          <a:xfrm>
            <a:off x="8412480" y="4023360"/>
            <a:ext cx="2971800" cy="2011680"/>
          </a:xfrm>
          <a:prstGeom prst="rect">
            <a:avLst/>
          </a:prstGeom>
          <a:noFill/>
          <a:ln/>
        </p:spPr>
        <p:txBody>
          <a:bodyPr wrap="square" lIns="0" tIns="0" rIns="0" bIns="0" rtlCol="0" anchor="ctr"/>
          <a:lstStyle/>
          <a:p>
            <a:pPr indent="0" marL="0">
              <a:spcAft>
                <a:spcPts val="400"/>
              </a:spcAft>
              <a:buNone/>
            </a:pPr>
            <a:r>
              <a:rPr lang="en-US" sz="2800" b="1" dirty="0">
                <a:solidFill>
                  <a:schemeClr val="bg1"/>
                </a:solidFill>
              </a:rPr>
              <a:t>4 markets.</a:t>
            </a:r>
            <a:endParaRPr lang="en-US" sz="2800" dirty="0"/>
          </a:p>
          <a:p>
            <a:pPr indent="0" marL="0">
              <a:spcAft>
                <a:spcPts val="400"/>
              </a:spcAft>
              <a:buNone/>
            </a:pPr>
            <a:r>
              <a:rPr lang="en-US" sz="2800" b="1" dirty="0">
                <a:solidFill>
                  <a:schemeClr val="accent3"/>
                </a:solidFill>
              </a:rPr>
              <a:t>1 dedicated team.</a:t>
            </a:r>
            <a:endParaRPr lang="en-US" sz="2800" dirty="0"/>
          </a:p>
          <a:p>
            <a:pPr indent="0" marL="0">
              <a:spcAft>
                <a:spcPts val="400"/>
              </a:spcAft>
              <a:buNone/>
            </a:pPr>
            <a:r>
              <a:rPr lang="en-US" sz="1400" dirty="0">
                <a:solidFill>
                  <a:schemeClr val="accent4"/>
                </a:solidFill>
              </a:rPr>
              <a:t>Canada · Australia · US · Singapore</a:t>
            </a:r>
            <a:endParaRPr lang="en-US" sz="28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3</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childTnLst>
                          </p:cTn>
                        </p:par>
                        <p:par>
                          <p:cTn id="53" fill="hold">
                            <p:stCondLst>
                              <p:cond delay="75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par>
                          <p:cTn id="90" fill="hold">
                            <p:stCondLst>
                              <p:cond delay="1200"/>
                            </p:stCondLst>
                            <p:childTnLst>
                              <p:par>
                                <p:cTn id="54" presetID="10" presetClass="entr" presetSubtype="0"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509760" cy="777240"/>
          </a:xfrm>
          <a:prstGeom prst="rect">
            <a:avLst/>
          </a:prstGeom>
          <a:noFill/>
          <a:ln/>
        </p:spPr>
        <p:txBody>
          <a:bodyPr wrap="square" lIns="0" tIns="0" rIns="0" bIns="0" rtlCol="0" anchor="ctr"/>
          <a:lstStyle/>
          <a:p>
            <a:pPr algn="l" indent="0" marL="0">
              <a:buNone/>
            </a:pPr>
            <a:r>
              <a:rPr lang="en-US" sz="3600" b="1" dirty="0">
                <a:solidFill>
                  <a:schemeClr val="tx2"/>
                </a:solidFill>
              </a:rPr>
              <a:t>Our Global Reach</a:t>
            </a:r>
            <a:endParaRPr lang="en-US" sz="3600" dirty="0"/>
          </a:p>
        </p:txBody>
      </p:sp>
      <p:sp>
        <p:nvSpPr>
          <p:cNvPr id="3" name="a1-hub"/>
          <p:cNvSpPr/>
          <p:nvPr/>
        </p:nvSpPr>
        <p:spPr>
          <a:xfrm>
            <a:off x="640080" y="2377440"/>
            <a:ext cx="2377440" cy="2377440"/>
          </a:xfrm>
          <a:prstGeom prst="ellipse">
            <a:avLst/>
          </a:prstGeom>
          <a:solidFill>
            <a:schemeClr val="tx2"/>
          </a:solidFill>
          <a:ln/>
        </p:spPr>
      </p:sp>
      <p:pic>
        <p:nvPicPr>
          <p:cNvPr id="4" name="a1-hubi" descr="/home/user/Presentation-Deck/assets/lotus-mark-white.png">    </p:cNvPr>
          <p:cNvPicPr>
            <a:picLocks noChangeAspect="1"/>
          </p:cNvPicPr>
          <p:nvPr/>
        </p:nvPicPr>
        <p:blipFill>
          <a:blip r:embed="rId1"/>
          <a:stretch>
            <a:fillRect/>
          </a:stretch>
        </p:blipFill>
        <p:spPr>
          <a:xfrm>
            <a:off x="1143000" y="2834640"/>
            <a:ext cx="1371600" cy="850392"/>
          </a:xfrm>
          <a:prstGeom prst="rect">
            <a:avLst/>
          </a:prstGeom>
        </p:spPr>
      </p:pic>
      <p:sp>
        <p:nvSpPr>
          <p:cNvPr id="5" name="a1-hubt"/>
          <p:cNvSpPr txBox="1"/>
          <p:nvPr/>
        </p:nvSpPr>
        <p:spPr>
          <a:xfrm>
            <a:off x="640080" y="3749040"/>
            <a:ext cx="2377440" cy="731520"/>
          </a:xfrm>
          <a:prstGeom prst="rect">
            <a:avLst/>
          </a:prstGeom>
          <a:noFill/>
          <a:ln/>
        </p:spPr>
        <p:txBody>
          <a:bodyPr wrap="square" lIns="0" tIns="0" rIns="0" bIns="0" rtlCol="0" anchor="ctr"/>
          <a:lstStyle/>
          <a:p>
            <a:pPr algn="ctr" indent="0" marL="0">
              <a:buNone/>
            </a:pPr>
            <a:r>
              <a:rPr lang="en-US" sz="1400" dirty="0">
                <a:solidFill>
                  <a:schemeClr val="accent4"/>
                </a:solidFill>
              </a:rPr>
              <a:t>One team in</a:t>
            </a:r>
            <a:endParaRPr lang="en-US" sz="1400" dirty="0"/>
          </a:p>
          <a:p>
            <a:pPr algn="ctr" indent="0" marL="0">
              <a:buNone/>
            </a:pPr>
            <a:r>
              <a:rPr lang="en-US" sz="2200" b="1" dirty="0">
                <a:solidFill>
                  <a:schemeClr val="bg1"/>
                </a:solidFill>
              </a:rPr>
              <a:t>Vietnam</a:t>
            </a:r>
            <a:endParaRPr lang="en-US" sz="1400" dirty="0"/>
          </a:p>
        </p:txBody>
      </p:sp>
      <p:sp>
        <p:nvSpPr>
          <p:cNvPr id="6" name="a2-l1"/>
          <p:cNvSpPr/>
          <p:nvPr/>
        </p:nvSpPr>
        <p:spPr>
          <a:xfrm flipV="1">
            <a:off x="3108960" y="2514600"/>
            <a:ext cx="1188720" cy="822960"/>
          </a:xfrm>
          <a:prstGeom prst="line">
            <a:avLst/>
          </a:prstGeom>
          <a:noFill/>
          <a:ln w="31750">
            <a:solidFill>
              <a:schemeClr val="accent3"/>
            </a:solidFill>
            <a:prstDash val="dash"/>
            <a:tailEnd type="triangle"/>
          </a:ln>
        </p:spPr>
      </p:sp>
      <p:sp>
        <p:nvSpPr>
          <p:cNvPr id="7" name="a2-l2"/>
          <p:cNvSpPr/>
          <p:nvPr/>
        </p:nvSpPr>
        <p:spPr>
          <a:xfrm>
            <a:off x="3108960" y="3886200"/>
            <a:ext cx="1188720" cy="822960"/>
          </a:xfrm>
          <a:prstGeom prst="line">
            <a:avLst/>
          </a:prstGeom>
          <a:noFill/>
          <a:ln w="31750">
            <a:solidFill>
              <a:schemeClr val="accent3"/>
            </a:solidFill>
            <a:prstDash val="dash"/>
            <a:tailEnd type="triangle"/>
          </a:ln>
        </p:spPr>
      </p:sp>
      <p:sp>
        <p:nvSpPr>
          <p:cNvPr id="8" name="a3-c"/>
          <p:cNvSpPr/>
          <p:nvPr/>
        </p:nvSpPr>
        <p:spPr>
          <a:xfrm>
            <a:off x="4480560" y="1417320"/>
            <a:ext cx="3429000" cy="2103120"/>
          </a:xfrm>
          <a:prstGeom prst="roundRect">
            <a:avLst>
              <a:gd name="adj" fmla="val 5217"/>
            </a:avLst>
          </a:prstGeom>
          <a:solidFill>
            <a:schemeClr val="bg2"/>
          </a:solidFill>
          <a:ln/>
        </p:spPr>
      </p:sp>
      <p:sp>
        <p:nvSpPr>
          <p:cNvPr id="9" name="a3-d"/>
          <p:cNvSpPr/>
          <p:nvPr/>
        </p:nvSpPr>
        <p:spPr>
          <a:xfrm>
            <a:off x="4709160" y="1645920"/>
            <a:ext cx="548640" cy="548640"/>
          </a:xfrm>
          <a:prstGeom prst="ellipse">
            <a:avLst/>
          </a:prstGeom>
          <a:solidFill>
            <a:schemeClr val="accent1"/>
          </a:solidFill>
          <a:ln/>
        </p:spPr>
      </p:sp>
      <p:pic>
        <p:nvPicPr>
          <p:cNvPr id="10" name="a3-d-i" descr="preencoded.png">    </p:cNvPr>
          <p:cNvPicPr>
            <a:picLocks noChangeAspect="1"/>
          </p:cNvPicPr>
          <p:nvPr/>
        </p:nvPicPr>
        <p:blipFill>
          <a:blip r:embed="rId2"/>
          <a:stretch>
            <a:fillRect/>
          </a:stretch>
        </p:blipFill>
        <p:spPr>
          <a:xfrm>
            <a:off x="4846320" y="1783080"/>
            <a:ext cx="274320" cy="274320"/>
          </a:xfrm>
          <a:prstGeom prst="rect">
            <a:avLst/>
          </a:prstGeom>
        </p:spPr>
      </p:pic>
      <p:sp>
        <p:nvSpPr>
          <p:cNvPr id="11" name="a3-h"/>
          <p:cNvSpPr txBox="1"/>
          <p:nvPr/>
        </p:nvSpPr>
        <p:spPr>
          <a:xfrm>
            <a:off x="5394960" y="1618488"/>
            <a:ext cx="2423160" cy="365760"/>
          </a:xfrm>
          <a:prstGeom prst="rect">
            <a:avLst/>
          </a:prstGeom>
          <a:noFill/>
          <a:ln/>
        </p:spPr>
        <p:txBody>
          <a:bodyPr wrap="square" lIns="0" tIns="0" rIns="0" bIns="0" rtlCol="0" anchor="ctr"/>
          <a:lstStyle/>
          <a:p>
            <a:pPr indent="0" marL="0">
              <a:buNone/>
            </a:pPr>
            <a:r>
              <a:rPr lang="en-US" sz="1900" b="1" spc="100" kern="0" dirty="0">
                <a:solidFill>
                  <a:schemeClr val="tx2"/>
                </a:solidFill>
              </a:rPr>
              <a:t>CANADA</a:t>
            </a:r>
            <a:endParaRPr lang="en-US" sz="1900" dirty="0"/>
          </a:p>
        </p:txBody>
      </p:sp>
      <p:sp>
        <p:nvSpPr>
          <p:cNvPr id="12" name="a3-s"/>
          <p:cNvSpPr txBox="1"/>
          <p:nvPr/>
        </p:nvSpPr>
        <p:spPr>
          <a:xfrm>
            <a:off x="5394960" y="1965960"/>
            <a:ext cx="2423160" cy="274320"/>
          </a:xfrm>
          <a:prstGeom prst="rect">
            <a:avLst/>
          </a:prstGeom>
          <a:noFill/>
          <a:ln/>
        </p:spPr>
        <p:txBody>
          <a:bodyPr wrap="square" lIns="0" tIns="0" rIns="0" bIns="0" rtlCol="0" anchor="ctr"/>
          <a:lstStyle/>
          <a:p>
            <a:pPr indent="0" marL="0">
              <a:buNone/>
            </a:pPr>
            <a:r>
              <a:rPr lang="en-US" sz="1400" b="1" dirty="0">
                <a:solidFill>
                  <a:schemeClr val="accent1"/>
                </a:solidFill>
              </a:rPr>
              <a:t>Alberta &amp; Ontario</a:t>
            </a:r>
            <a:endParaRPr lang="en-US" sz="1400" dirty="0"/>
          </a:p>
        </p:txBody>
      </p:sp>
      <p:sp>
        <p:nvSpPr>
          <p:cNvPr id="13" name="a3-t"/>
          <p:cNvSpPr txBox="1"/>
          <p:nvPr/>
        </p:nvSpPr>
        <p:spPr>
          <a:xfrm>
            <a:off x="4709160" y="2377440"/>
            <a:ext cx="3017520" cy="105156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Services: </a:t>
            </a:r>
            <a:pPr indent="0" marL="0">
              <a:spcAft>
                <a:spcPts val="400"/>
              </a:spcAft>
              <a:buNone/>
            </a:pPr>
            <a:r>
              <a:rPr lang="en-US" sz="1400" dirty="0">
                <a:solidFill>
                  <a:schemeClr val="tx1"/>
                </a:solidFill>
              </a:rPr>
              <a:t>Bookkeeping, T2 preparation, financial reconstruction</a:t>
            </a:r>
            <a:endParaRPr lang="en-US" sz="1400" dirty="0"/>
          </a:p>
          <a:p>
            <a:pPr indent="0" marL="0">
              <a:spcAft>
                <a:spcPts val="400"/>
              </a:spcAft>
              <a:buNone/>
            </a:pPr>
            <a:r>
              <a:rPr lang="en-US" sz="1400" b="1" dirty="0">
                <a:solidFill>
                  <a:schemeClr val="tx2"/>
                </a:solidFill>
              </a:rPr>
              <a:t>Clients: </a:t>
            </a:r>
            <a:pPr indent="0" marL="0">
              <a:spcAft>
                <a:spcPts val="400"/>
              </a:spcAft>
              <a:buNone/>
            </a:pPr>
            <a:r>
              <a:rPr lang="en-US" sz="1400" dirty="0">
                <a:solidFill>
                  <a:schemeClr val="tx1"/>
                </a:solidFill>
              </a:rPr>
              <a:t>Professional corporations, corporations &amp; SMEs</a:t>
            </a:r>
            <a:endParaRPr lang="en-US" sz="1400" dirty="0"/>
          </a:p>
        </p:txBody>
      </p:sp>
      <p:sp>
        <p:nvSpPr>
          <p:cNvPr id="14" name="a4-c"/>
          <p:cNvSpPr/>
          <p:nvPr/>
        </p:nvSpPr>
        <p:spPr>
          <a:xfrm>
            <a:off x="8110728" y="1417320"/>
            <a:ext cx="3429000" cy="2103120"/>
          </a:xfrm>
          <a:prstGeom prst="roundRect">
            <a:avLst>
              <a:gd name="adj" fmla="val 5217"/>
            </a:avLst>
          </a:prstGeom>
          <a:solidFill>
            <a:schemeClr val="bg2"/>
          </a:solidFill>
          <a:ln/>
        </p:spPr>
      </p:sp>
      <p:sp>
        <p:nvSpPr>
          <p:cNvPr id="15" name="a4-d"/>
          <p:cNvSpPr/>
          <p:nvPr/>
        </p:nvSpPr>
        <p:spPr>
          <a:xfrm>
            <a:off x="8339328" y="1645920"/>
            <a:ext cx="548640" cy="548640"/>
          </a:xfrm>
          <a:prstGeom prst="ellipse">
            <a:avLst/>
          </a:prstGeom>
          <a:solidFill>
            <a:schemeClr val="accent1"/>
          </a:solidFill>
          <a:ln/>
        </p:spPr>
      </p:sp>
      <p:pic>
        <p:nvPicPr>
          <p:cNvPr id="16" name="a4-d-i" descr="preencoded.png">    </p:cNvPr>
          <p:cNvPicPr>
            <a:picLocks noChangeAspect="1"/>
          </p:cNvPicPr>
          <p:nvPr/>
        </p:nvPicPr>
        <p:blipFill>
          <a:blip r:embed="rId3"/>
          <a:stretch>
            <a:fillRect/>
          </a:stretch>
        </p:blipFill>
        <p:spPr>
          <a:xfrm>
            <a:off x="8476488" y="1783080"/>
            <a:ext cx="274320" cy="274320"/>
          </a:xfrm>
          <a:prstGeom prst="rect">
            <a:avLst/>
          </a:prstGeom>
        </p:spPr>
      </p:pic>
      <p:sp>
        <p:nvSpPr>
          <p:cNvPr id="17" name="a4-h"/>
          <p:cNvSpPr txBox="1"/>
          <p:nvPr/>
        </p:nvSpPr>
        <p:spPr>
          <a:xfrm>
            <a:off x="9025128" y="1618488"/>
            <a:ext cx="2423160" cy="365760"/>
          </a:xfrm>
          <a:prstGeom prst="rect">
            <a:avLst/>
          </a:prstGeom>
          <a:noFill/>
          <a:ln/>
        </p:spPr>
        <p:txBody>
          <a:bodyPr wrap="square" lIns="0" tIns="0" rIns="0" bIns="0" rtlCol="0" anchor="ctr"/>
          <a:lstStyle/>
          <a:p>
            <a:pPr indent="0" marL="0">
              <a:buNone/>
            </a:pPr>
            <a:r>
              <a:rPr lang="en-US" sz="1900" b="1" spc="100" kern="0" dirty="0">
                <a:solidFill>
                  <a:schemeClr val="tx2"/>
                </a:solidFill>
              </a:rPr>
              <a:t>AUSTRALIA</a:t>
            </a:r>
            <a:endParaRPr lang="en-US" sz="1900" dirty="0"/>
          </a:p>
        </p:txBody>
      </p:sp>
      <p:sp>
        <p:nvSpPr>
          <p:cNvPr id="18" name="a4-s"/>
          <p:cNvSpPr txBox="1"/>
          <p:nvPr/>
        </p:nvSpPr>
        <p:spPr>
          <a:xfrm>
            <a:off x="9025128" y="1965960"/>
            <a:ext cx="2423160" cy="274320"/>
          </a:xfrm>
          <a:prstGeom prst="rect">
            <a:avLst/>
          </a:prstGeom>
          <a:noFill/>
          <a:ln/>
        </p:spPr>
        <p:txBody>
          <a:bodyPr wrap="square" lIns="0" tIns="0" rIns="0" bIns="0" rtlCol="0" anchor="ctr"/>
          <a:lstStyle/>
          <a:p>
            <a:pPr indent="0" marL="0">
              <a:buNone/>
            </a:pPr>
            <a:r>
              <a:rPr lang="en-US" sz="1400" b="1" dirty="0">
                <a:solidFill>
                  <a:schemeClr val="accent1"/>
                </a:solidFill>
              </a:rPr>
              <a:t>Healthcare &amp; SMEs</a:t>
            </a:r>
            <a:endParaRPr lang="en-US" sz="1400" dirty="0"/>
          </a:p>
        </p:txBody>
      </p:sp>
      <p:sp>
        <p:nvSpPr>
          <p:cNvPr id="19" name="a4-t"/>
          <p:cNvSpPr txBox="1"/>
          <p:nvPr/>
        </p:nvSpPr>
        <p:spPr>
          <a:xfrm>
            <a:off x="8339328" y="2377440"/>
            <a:ext cx="3017520" cy="105156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Services: </a:t>
            </a:r>
            <a:pPr indent="0" marL="0">
              <a:spcAft>
                <a:spcPts val="400"/>
              </a:spcAft>
              <a:buNone/>
            </a:pPr>
            <a:r>
              <a:rPr lang="en-US" sz="1400" dirty="0">
                <a:solidFill>
                  <a:schemeClr val="tx1"/>
                </a:solidFill>
              </a:rPr>
              <a:t>Xero bookkeeping, quarterly BAS preparation</a:t>
            </a:r>
            <a:endParaRPr lang="en-US" sz="1400" dirty="0"/>
          </a:p>
          <a:p>
            <a:pPr indent="0" marL="0">
              <a:spcAft>
                <a:spcPts val="400"/>
              </a:spcAft>
              <a:buNone/>
            </a:pPr>
            <a:r>
              <a:rPr lang="en-US" sz="1400" b="1" dirty="0">
                <a:solidFill>
                  <a:schemeClr val="tx2"/>
                </a:solidFill>
              </a:rPr>
              <a:t>Clients: </a:t>
            </a:r>
            <a:pPr indent="0" marL="0">
              <a:spcAft>
                <a:spcPts val="400"/>
              </a:spcAft>
              <a:buNone/>
            </a:pPr>
            <a:r>
              <a:rPr lang="en-US" sz="1400" dirty="0">
                <a:solidFill>
                  <a:schemeClr val="tx1"/>
                </a:solidFill>
              </a:rPr>
              <a:t>Medical practices &amp; SMEs</a:t>
            </a:r>
            <a:endParaRPr lang="en-US" sz="1400" dirty="0"/>
          </a:p>
        </p:txBody>
      </p:sp>
      <p:sp>
        <p:nvSpPr>
          <p:cNvPr id="20" name="a5-c"/>
          <p:cNvSpPr/>
          <p:nvPr/>
        </p:nvSpPr>
        <p:spPr>
          <a:xfrm>
            <a:off x="4480560" y="3749040"/>
            <a:ext cx="3429000" cy="2103120"/>
          </a:xfrm>
          <a:prstGeom prst="roundRect">
            <a:avLst>
              <a:gd name="adj" fmla="val 5217"/>
            </a:avLst>
          </a:prstGeom>
          <a:solidFill>
            <a:schemeClr val="bg2"/>
          </a:solidFill>
          <a:ln/>
        </p:spPr>
      </p:sp>
      <p:sp>
        <p:nvSpPr>
          <p:cNvPr id="21" name="a5-d"/>
          <p:cNvSpPr/>
          <p:nvPr/>
        </p:nvSpPr>
        <p:spPr>
          <a:xfrm>
            <a:off x="4709160" y="3977640"/>
            <a:ext cx="548640" cy="548640"/>
          </a:xfrm>
          <a:prstGeom prst="ellipse">
            <a:avLst/>
          </a:prstGeom>
          <a:solidFill>
            <a:schemeClr val="accent1"/>
          </a:solidFill>
          <a:ln/>
        </p:spPr>
      </p:sp>
      <p:pic>
        <p:nvPicPr>
          <p:cNvPr id="22" name="a5-d-i" descr="preencoded.png">    </p:cNvPr>
          <p:cNvPicPr>
            <a:picLocks noChangeAspect="1"/>
          </p:cNvPicPr>
          <p:nvPr/>
        </p:nvPicPr>
        <p:blipFill>
          <a:blip r:embed="rId4"/>
          <a:stretch>
            <a:fillRect/>
          </a:stretch>
        </p:blipFill>
        <p:spPr>
          <a:xfrm>
            <a:off x="4846320" y="4114800"/>
            <a:ext cx="274320" cy="274320"/>
          </a:xfrm>
          <a:prstGeom prst="rect">
            <a:avLst/>
          </a:prstGeom>
        </p:spPr>
      </p:pic>
      <p:sp>
        <p:nvSpPr>
          <p:cNvPr id="23" name="a5-h"/>
          <p:cNvSpPr txBox="1"/>
          <p:nvPr/>
        </p:nvSpPr>
        <p:spPr>
          <a:xfrm>
            <a:off x="5394960" y="3950208"/>
            <a:ext cx="2423160" cy="365760"/>
          </a:xfrm>
          <a:prstGeom prst="rect">
            <a:avLst/>
          </a:prstGeom>
          <a:noFill/>
          <a:ln/>
        </p:spPr>
        <p:txBody>
          <a:bodyPr wrap="square" lIns="0" tIns="0" rIns="0" bIns="0" rtlCol="0" anchor="ctr"/>
          <a:lstStyle/>
          <a:p>
            <a:pPr indent="0" marL="0">
              <a:buNone/>
            </a:pPr>
            <a:r>
              <a:rPr lang="en-US" sz="1900" b="1" spc="100" kern="0" dirty="0">
                <a:solidFill>
                  <a:schemeClr val="tx2"/>
                </a:solidFill>
              </a:rPr>
              <a:t>UNITED STATES</a:t>
            </a:r>
            <a:endParaRPr lang="en-US" sz="1900" dirty="0"/>
          </a:p>
        </p:txBody>
      </p:sp>
      <p:sp>
        <p:nvSpPr>
          <p:cNvPr id="24" name="a5-s"/>
          <p:cNvSpPr txBox="1"/>
          <p:nvPr/>
        </p:nvSpPr>
        <p:spPr>
          <a:xfrm>
            <a:off x="5394960" y="4297680"/>
            <a:ext cx="2423160" cy="274320"/>
          </a:xfrm>
          <a:prstGeom prst="rect">
            <a:avLst/>
          </a:prstGeom>
          <a:noFill/>
          <a:ln/>
        </p:spPr>
        <p:txBody>
          <a:bodyPr wrap="square" lIns="0" tIns="0" rIns="0" bIns="0" rtlCol="0" anchor="ctr"/>
          <a:lstStyle/>
          <a:p>
            <a:pPr indent="0" marL="0">
              <a:buNone/>
            </a:pPr>
            <a:r>
              <a:rPr lang="en-US" sz="1400" b="1" dirty="0">
                <a:solidFill>
                  <a:schemeClr val="accent1"/>
                </a:solidFill>
              </a:rPr>
              <a:t>Tax &amp; advisory</a:t>
            </a:r>
            <a:endParaRPr lang="en-US" sz="1400" dirty="0"/>
          </a:p>
        </p:txBody>
      </p:sp>
      <p:sp>
        <p:nvSpPr>
          <p:cNvPr id="25" name="a5-t"/>
          <p:cNvSpPr txBox="1"/>
          <p:nvPr/>
        </p:nvSpPr>
        <p:spPr>
          <a:xfrm>
            <a:off x="4709160" y="4709160"/>
            <a:ext cx="3017520" cy="105156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Services: </a:t>
            </a:r>
            <a:pPr indent="0" marL="0">
              <a:spcAft>
                <a:spcPts val="400"/>
              </a:spcAft>
              <a:buNone/>
            </a:pPr>
            <a:r>
              <a:rPr lang="en-US" sz="1400" dirty="0">
                <a:solidFill>
                  <a:schemeClr val="tx1"/>
                </a:solidFill>
              </a:rPr>
              <a:t>Tax filing, tax &amp; business consulting</a:t>
            </a:r>
            <a:endParaRPr lang="en-US" sz="1400" dirty="0"/>
          </a:p>
          <a:p>
            <a:pPr indent="0" marL="0">
              <a:spcAft>
                <a:spcPts val="400"/>
              </a:spcAft>
              <a:buNone/>
            </a:pPr>
            <a:r>
              <a:rPr lang="en-US" sz="1400" b="1" dirty="0">
                <a:solidFill>
                  <a:schemeClr val="tx2"/>
                </a:solidFill>
              </a:rPr>
              <a:t>Clients: </a:t>
            </a:r>
            <a:pPr indent="0" marL="0">
              <a:spcAft>
                <a:spcPts val="400"/>
              </a:spcAft>
              <a:buNone/>
            </a:pPr>
            <a:r>
              <a:rPr lang="en-US" sz="1400" dirty="0">
                <a:solidFill>
                  <a:schemeClr val="tx1"/>
                </a:solidFill>
              </a:rPr>
              <a:t>Small &amp; mid-sized businesses</a:t>
            </a:r>
            <a:endParaRPr lang="en-US" sz="1400" dirty="0"/>
          </a:p>
        </p:txBody>
      </p:sp>
      <p:sp>
        <p:nvSpPr>
          <p:cNvPr id="26" name="a6-c"/>
          <p:cNvSpPr/>
          <p:nvPr/>
        </p:nvSpPr>
        <p:spPr>
          <a:xfrm>
            <a:off x="8110728" y="3749040"/>
            <a:ext cx="3429000" cy="2103120"/>
          </a:xfrm>
          <a:prstGeom prst="roundRect">
            <a:avLst>
              <a:gd name="adj" fmla="val 5217"/>
            </a:avLst>
          </a:prstGeom>
          <a:solidFill>
            <a:schemeClr val="bg2"/>
          </a:solidFill>
          <a:ln/>
        </p:spPr>
      </p:sp>
      <p:sp>
        <p:nvSpPr>
          <p:cNvPr id="27" name="a6-d"/>
          <p:cNvSpPr/>
          <p:nvPr/>
        </p:nvSpPr>
        <p:spPr>
          <a:xfrm>
            <a:off x="8339328" y="3977640"/>
            <a:ext cx="548640" cy="548640"/>
          </a:xfrm>
          <a:prstGeom prst="ellipse">
            <a:avLst/>
          </a:prstGeom>
          <a:solidFill>
            <a:schemeClr val="accent1"/>
          </a:solidFill>
          <a:ln/>
        </p:spPr>
      </p:sp>
      <p:pic>
        <p:nvPicPr>
          <p:cNvPr id="28" name="a6-d-i" descr="preencoded.png">    </p:cNvPr>
          <p:cNvPicPr>
            <a:picLocks noChangeAspect="1"/>
          </p:cNvPicPr>
          <p:nvPr/>
        </p:nvPicPr>
        <p:blipFill>
          <a:blip r:embed="rId5"/>
          <a:stretch>
            <a:fillRect/>
          </a:stretch>
        </p:blipFill>
        <p:spPr>
          <a:xfrm>
            <a:off x="8476488" y="4114800"/>
            <a:ext cx="274320" cy="274320"/>
          </a:xfrm>
          <a:prstGeom prst="rect">
            <a:avLst/>
          </a:prstGeom>
        </p:spPr>
      </p:pic>
      <p:sp>
        <p:nvSpPr>
          <p:cNvPr id="29" name="a6-h"/>
          <p:cNvSpPr txBox="1"/>
          <p:nvPr/>
        </p:nvSpPr>
        <p:spPr>
          <a:xfrm>
            <a:off x="9025128" y="3950208"/>
            <a:ext cx="2423160" cy="365760"/>
          </a:xfrm>
          <a:prstGeom prst="rect">
            <a:avLst/>
          </a:prstGeom>
          <a:noFill/>
          <a:ln/>
        </p:spPr>
        <p:txBody>
          <a:bodyPr wrap="square" lIns="0" tIns="0" rIns="0" bIns="0" rtlCol="0" anchor="ctr"/>
          <a:lstStyle/>
          <a:p>
            <a:pPr indent="0" marL="0">
              <a:buNone/>
            </a:pPr>
            <a:r>
              <a:rPr lang="en-US" sz="1900" b="1" spc="100" kern="0" dirty="0">
                <a:solidFill>
                  <a:schemeClr val="tx2"/>
                </a:solidFill>
              </a:rPr>
              <a:t>SINGAPORE</a:t>
            </a:r>
            <a:endParaRPr lang="en-US" sz="1900" dirty="0"/>
          </a:p>
        </p:txBody>
      </p:sp>
      <p:sp>
        <p:nvSpPr>
          <p:cNvPr id="30" name="a6-s"/>
          <p:cNvSpPr txBox="1"/>
          <p:nvPr/>
        </p:nvSpPr>
        <p:spPr>
          <a:xfrm>
            <a:off x="9025128" y="4297680"/>
            <a:ext cx="2423160" cy="274320"/>
          </a:xfrm>
          <a:prstGeom prst="rect">
            <a:avLst/>
          </a:prstGeom>
          <a:noFill/>
          <a:ln/>
        </p:spPr>
        <p:txBody>
          <a:bodyPr wrap="square" lIns="0" tIns="0" rIns="0" bIns="0" rtlCol="0" anchor="ctr"/>
          <a:lstStyle/>
          <a:p>
            <a:pPr indent="0" marL="0">
              <a:buNone/>
            </a:pPr>
            <a:r>
              <a:rPr lang="en-US" sz="1400" b="1" dirty="0">
                <a:solidFill>
                  <a:schemeClr val="accent1"/>
                </a:solidFill>
              </a:rPr>
              <a:t>Accounting &amp; reporting</a:t>
            </a:r>
            <a:endParaRPr lang="en-US" sz="1400" dirty="0"/>
          </a:p>
        </p:txBody>
      </p:sp>
      <p:sp>
        <p:nvSpPr>
          <p:cNvPr id="31" name="a6-t"/>
          <p:cNvSpPr txBox="1"/>
          <p:nvPr/>
        </p:nvSpPr>
        <p:spPr>
          <a:xfrm>
            <a:off x="8339328" y="4709160"/>
            <a:ext cx="3017520" cy="105156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Services: </a:t>
            </a:r>
            <a:pPr indent="0" marL="0">
              <a:spcAft>
                <a:spcPts val="400"/>
              </a:spcAft>
              <a:buNone/>
            </a:pPr>
            <a:r>
              <a:rPr lang="en-US" sz="1400" dirty="0">
                <a:solidFill>
                  <a:schemeClr val="tx1"/>
                </a:solidFill>
              </a:rPr>
              <a:t>Bookkeeping in QuickBooks &amp; Xero, annual financial statements for the AGM</a:t>
            </a:r>
            <a:endParaRPr lang="en-US" sz="1400" dirty="0"/>
          </a:p>
          <a:p>
            <a:pPr indent="0" marL="0">
              <a:spcAft>
                <a:spcPts val="400"/>
              </a:spcAft>
              <a:buNone/>
            </a:pPr>
            <a:r>
              <a:rPr lang="en-US" sz="1400" b="1" dirty="0">
                <a:solidFill>
                  <a:schemeClr val="tx2"/>
                </a:solidFill>
              </a:rPr>
              <a:t>Clients: </a:t>
            </a:r>
            <a:pPr indent="0" marL="0">
              <a:spcAft>
                <a:spcPts val="400"/>
              </a:spcAft>
              <a:buNone/>
            </a:pPr>
            <a:r>
              <a:rPr lang="en-US" sz="1400" dirty="0">
                <a:solidFill>
                  <a:schemeClr val="tx1"/>
                </a:solidFill>
              </a:rPr>
              <a:t>Small &amp; mid-sized businesses</a:t>
            </a:r>
            <a:endParaRPr lang="en-US" sz="14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4</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par>
                          <p:cTn id="20" fill="hold">
                            <p:stCondLst>
                              <p:cond delay="750"/>
                            </p:stCondLst>
                            <p:childTnLst>
                              <p:par>
                                <p:cTn id="14"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39" fill="hold">
                            <p:stCondLst>
                              <p:cond delay="12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par>
                          <p:cTn id="58" fill="hold">
                            <p:stCondLst>
                              <p:cond delay="1650"/>
                            </p:stCondLst>
                            <p:childTnLst>
                              <p:par>
                                <p:cTn id="40" presetID="10" presetClass="entr" presetSubtype="0"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childTnLst>
                          </p:cTn>
                        </p:par>
                        <p:par>
                          <p:cTn id="77" fill="hold">
                            <p:stCondLst>
                              <p:cond delay="2100"/>
                            </p:stCondLst>
                            <p:childTnLst>
                              <p:par>
                                <p:cTn id="59" presetID="10" presetClass="entr" presetSubtype="0" fill="hold" grpId="0" nodeType="after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childTnLst>
                          </p:cTn>
                        </p:par>
                        <p:par>
                          <p:cTn id="96" fill="hold">
                            <p:stCondLst>
                              <p:cond delay="2550"/>
                            </p:stCondLst>
                            <p:childTnLst>
                              <p:par>
                                <p:cTn id="78" presetID="10" presetClass="entr" presetSubtype="0" fill="hold" grpId="0" nodeType="after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50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500"/>
                                        <p:tgtEl>
                                          <p:spTgt spid="2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3" grpId="0" animBg="1"/>
      <p:bldP spid="24" grpId="0" animBg="1"/>
      <p:bldP spid="25" grpId="0" animBg="1"/>
      <p:bldP spid="26" grpId="0" animBg="1"/>
      <p:bldP spid="27" grpId="0" animBg="1"/>
      <p:bldP spid="29" grpId="0" animBg="1"/>
      <p:bldP spid="30" grpId="0" animBg="1"/>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509760" cy="777240"/>
          </a:xfrm>
          <a:prstGeom prst="rect">
            <a:avLst/>
          </a:prstGeom>
          <a:noFill/>
          <a:ln/>
        </p:spPr>
        <p:txBody>
          <a:bodyPr wrap="square" lIns="0" tIns="0" rIns="0" bIns="0" rtlCol="0" anchor="ctr"/>
          <a:lstStyle/>
          <a:p>
            <a:pPr algn="l" indent="0" marL="0">
              <a:buNone/>
            </a:pPr>
            <a:r>
              <a:rPr lang="en-US" sz="3600" b="1" dirty="0">
                <a:solidFill>
                  <a:schemeClr val="tx2"/>
                </a:solidFill>
              </a:rPr>
              <a:t>Who We Serve</a:t>
            </a:r>
            <a:endParaRPr lang="en-US" sz="3600" dirty="0"/>
          </a:p>
        </p:txBody>
      </p:sp>
      <p:sp>
        <p:nvSpPr>
          <p:cNvPr id="3" name="a1-sub"/>
          <p:cNvSpPr txBox="1"/>
          <p:nvPr/>
        </p:nvSpPr>
        <p:spPr>
          <a:xfrm>
            <a:off x="548640" y="1143000"/>
            <a:ext cx="10972800" cy="411480"/>
          </a:xfrm>
          <a:prstGeom prst="rect">
            <a:avLst/>
          </a:prstGeom>
          <a:noFill/>
          <a:ln/>
        </p:spPr>
        <p:txBody>
          <a:bodyPr wrap="square" lIns="0" tIns="0" rIns="0" bIns="0" rtlCol="0" anchor="ctr"/>
          <a:lstStyle/>
          <a:p>
            <a:pPr indent="0" marL="0">
              <a:buNone/>
            </a:pPr>
            <a:r>
              <a:rPr lang="en-US" sz="1800" dirty="0">
                <a:solidFill>
                  <a:schemeClr val="accent5"/>
                </a:solidFill>
              </a:rPr>
              <a:t>From accounting firms to growing businesses, our support fits the way you work.</a:t>
            </a:r>
            <a:endParaRPr lang="en-US" sz="1800" dirty="0"/>
          </a:p>
        </p:txBody>
      </p:sp>
      <p:sp>
        <p:nvSpPr>
          <p:cNvPr id="4" name="a2-c"/>
          <p:cNvSpPr/>
          <p:nvPr/>
        </p:nvSpPr>
        <p:spPr>
          <a:xfrm>
            <a:off x="548640" y="1874520"/>
            <a:ext cx="2542032" cy="3291840"/>
          </a:xfrm>
          <a:prstGeom prst="roundRect">
            <a:avLst>
              <a:gd name="adj" fmla="val 4317"/>
            </a:avLst>
          </a:prstGeom>
          <a:solidFill>
            <a:schemeClr val="bg1"/>
          </a:solidFill>
          <a:ln w="12700">
            <a:solidFill>
              <a:schemeClr val="accent4"/>
            </a:solidFill>
            <a:prstDash val="solid"/>
          </a:ln>
          <a:effectLst>
            <a:outerShdw sx="100000" sy="100000" kx="0" ky="0" algn="bl" rotWithShape="0" blurRad="101600" dist="25400" dir="5400000">
              <a:srgbClr val="1F2A6B">
                <a:alpha val="12000"/>
              </a:srgbClr>
            </a:outerShdw>
          </a:effectLst>
        </p:spPr>
      </p:sp>
      <p:sp>
        <p:nvSpPr>
          <p:cNvPr id="5" name="a2-d"/>
          <p:cNvSpPr/>
          <p:nvPr/>
        </p:nvSpPr>
        <p:spPr>
          <a:xfrm>
            <a:off x="868680" y="2240280"/>
            <a:ext cx="914400" cy="914400"/>
          </a:xfrm>
          <a:prstGeom prst="ellipse">
            <a:avLst/>
          </a:prstGeom>
          <a:solidFill>
            <a:schemeClr val="tx2"/>
          </a:solidFill>
          <a:ln/>
        </p:spPr>
      </p:sp>
      <p:pic>
        <p:nvPicPr>
          <p:cNvPr id="6" name="a2-d-i" descr="preencoded.png">    </p:cNvPr>
          <p:cNvPicPr>
            <a:picLocks noChangeAspect="1"/>
          </p:cNvPicPr>
          <p:nvPr/>
        </p:nvPicPr>
        <p:blipFill>
          <a:blip r:embed="rId1"/>
          <a:stretch>
            <a:fillRect/>
          </a:stretch>
        </p:blipFill>
        <p:spPr>
          <a:xfrm>
            <a:off x="1097280" y="2468880"/>
            <a:ext cx="457200" cy="457200"/>
          </a:xfrm>
          <a:prstGeom prst="rect">
            <a:avLst/>
          </a:prstGeom>
        </p:spPr>
      </p:pic>
      <p:sp>
        <p:nvSpPr>
          <p:cNvPr id="7" name="a2-h"/>
          <p:cNvSpPr txBox="1"/>
          <p:nvPr/>
        </p:nvSpPr>
        <p:spPr>
          <a:xfrm>
            <a:off x="868680" y="3337560"/>
            <a:ext cx="2039112" cy="685800"/>
          </a:xfrm>
          <a:prstGeom prst="rect">
            <a:avLst/>
          </a:prstGeom>
          <a:noFill/>
          <a:ln/>
        </p:spPr>
        <p:txBody>
          <a:bodyPr wrap="square" lIns="0" tIns="0" rIns="0" bIns="0" rtlCol="0" anchor="t"/>
          <a:lstStyle/>
          <a:p>
            <a:pPr indent="0" marL="0">
              <a:buNone/>
            </a:pPr>
            <a:r>
              <a:rPr lang="en-US" sz="1900" b="1" dirty="0">
                <a:solidFill>
                  <a:schemeClr val="tx2"/>
                </a:solidFill>
              </a:rPr>
              <a:t>Accounting Firms</a:t>
            </a:r>
            <a:endParaRPr lang="en-US" sz="1900" dirty="0"/>
          </a:p>
        </p:txBody>
      </p:sp>
      <p:sp>
        <p:nvSpPr>
          <p:cNvPr id="8" name="a2-t"/>
          <p:cNvSpPr txBox="1"/>
          <p:nvPr/>
        </p:nvSpPr>
        <p:spPr>
          <a:xfrm>
            <a:off x="868680" y="4023360"/>
            <a:ext cx="1993392" cy="1280160"/>
          </a:xfrm>
          <a:prstGeom prst="rect">
            <a:avLst/>
          </a:prstGeom>
          <a:noFill/>
          <a:ln/>
        </p:spPr>
        <p:txBody>
          <a:bodyPr wrap="square" lIns="0" tIns="0" rIns="0" bIns="0" rtlCol="0" anchor="t"/>
          <a:lstStyle/>
          <a:p>
            <a:pPr indent="0" marL="0">
              <a:buNone/>
            </a:pPr>
            <a:r>
              <a:rPr lang="en-US" sz="1500" dirty="0">
                <a:solidFill>
                  <a:schemeClr val="tx1"/>
                </a:solidFill>
              </a:rPr>
              <a:t>We work as your back office, under your name and your quality standards.</a:t>
            </a:r>
            <a:endParaRPr lang="en-US" sz="1500" dirty="0"/>
          </a:p>
        </p:txBody>
      </p:sp>
      <p:sp>
        <p:nvSpPr>
          <p:cNvPr id="9" name="a3-c"/>
          <p:cNvSpPr/>
          <p:nvPr/>
        </p:nvSpPr>
        <p:spPr>
          <a:xfrm>
            <a:off x="3364992" y="1874520"/>
            <a:ext cx="2542032" cy="3291840"/>
          </a:xfrm>
          <a:prstGeom prst="roundRect">
            <a:avLst>
              <a:gd name="adj" fmla="val 4317"/>
            </a:avLst>
          </a:prstGeom>
          <a:solidFill>
            <a:schemeClr val="bg1"/>
          </a:solidFill>
          <a:ln w="12700">
            <a:solidFill>
              <a:schemeClr val="accent4"/>
            </a:solidFill>
            <a:prstDash val="solid"/>
          </a:ln>
          <a:effectLst>
            <a:outerShdw sx="100000" sy="100000" kx="0" ky="0" algn="bl" rotWithShape="0" blurRad="101600" dist="25400" dir="5400000">
              <a:srgbClr val="1F2A6B">
                <a:alpha val="12000"/>
              </a:srgbClr>
            </a:outerShdw>
          </a:effectLst>
        </p:spPr>
      </p:sp>
      <p:sp>
        <p:nvSpPr>
          <p:cNvPr id="10" name="a3-d"/>
          <p:cNvSpPr/>
          <p:nvPr/>
        </p:nvSpPr>
        <p:spPr>
          <a:xfrm>
            <a:off x="3685032" y="2240280"/>
            <a:ext cx="914400" cy="914400"/>
          </a:xfrm>
          <a:prstGeom prst="ellipse">
            <a:avLst/>
          </a:prstGeom>
          <a:solidFill>
            <a:schemeClr val="accent2"/>
          </a:solidFill>
          <a:ln/>
        </p:spPr>
      </p:sp>
      <p:pic>
        <p:nvPicPr>
          <p:cNvPr id="11" name="a3-d-i" descr="preencoded.png">    </p:cNvPr>
          <p:cNvPicPr>
            <a:picLocks noChangeAspect="1"/>
          </p:cNvPicPr>
          <p:nvPr/>
        </p:nvPicPr>
        <p:blipFill>
          <a:blip r:embed="rId2"/>
          <a:stretch>
            <a:fillRect/>
          </a:stretch>
        </p:blipFill>
        <p:spPr>
          <a:xfrm>
            <a:off x="3913632" y="2468880"/>
            <a:ext cx="457200" cy="457200"/>
          </a:xfrm>
          <a:prstGeom prst="rect">
            <a:avLst/>
          </a:prstGeom>
        </p:spPr>
      </p:pic>
      <p:sp>
        <p:nvSpPr>
          <p:cNvPr id="12" name="a3-h"/>
          <p:cNvSpPr txBox="1"/>
          <p:nvPr/>
        </p:nvSpPr>
        <p:spPr>
          <a:xfrm>
            <a:off x="3685032" y="3337560"/>
            <a:ext cx="2039112" cy="685800"/>
          </a:xfrm>
          <a:prstGeom prst="rect">
            <a:avLst/>
          </a:prstGeom>
          <a:noFill/>
          <a:ln/>
        </p:spPr>
        <p:txBody>
          <a:bodyPr wrap="square" lIns="0" tIns="0" rIns="0" bIns="0" rtlCol="0" anchor="t"/>
          <a:lstStyle/>
          <a:p>
            <a:pPr indent="0" marL="0">
              <a:buNone/>
            </a:pPr>
            <a:r>
              <a:rPr lang="en-US" sz="1900" b="1" dirty="0">
                <a:solidFill>
                  <a:schemeClr val="tx2"/>
                </a:solidFill>
              </a:rPr>
              <a:t>SMEs &amp; Corporations</a:t>
            </a:r>
            <a:endParaRPr lang="en-US" sz="1900" dirty="0"/>
          </a:p>
        </p:txBody>
      </p:sp>
      <p:sp>
        <p:nvSpPr>
          <p:cNvPr id="13" name="a3-t"/>
          <p:cNvSpPr txBox="1"/>
          <p:nvPr/>
        </p:nvSpPr>
        <p:spPr>
          <a:xfrm>
            <a:off x="3685032" y="4023360"/>
            <a:ext cx="1993392" cy="1280160"/>
          </a:xfrm>
          <a:prstGeom prst="rect">
            <a:avLst/>
          </a:prstGeom>
          <a:noFill/>
          <a:ln/>
        </p:spPr>
        <p:txBody>
          <a:bodyPr wrap="square" lIns="0" tIns="0" rIns="0" bIns="0" rtlCol="0" anchor="t"/>
          <a:lstStyle/>
          <a:p>
            <a:pPr indent="0" marL="0">
              <a:buNone/>
            </a:pPr>
            <a:r>
              <a:rPr lang="en-US" sz="1500" dirty="0">
                <a:solidFill>
                  <a:schemeClr val="tx1"/>
                </a:solidFill>
              </a:rPr>
              <a:t>Small and mid-sized businesses and incorporated companies in all four markets.</a:t>
            </a:r>
            <a:endParaRPr lang="en-US" sz="1500" dirty="0"/>
          </a:p>
        </p:txBody>
      </p:sp>
      <p:sp>
        <p:nvSpPr>
          <p:cNvPr id="14" name="a4-c"/>
          <p:cNvSpPr/>
          <p:nvPr/>
        </p:nvSpPr>
        <p:spPr>
          <a:xfrm>
            <a:off x="6181344" y="1874520"/>
            <a:ext cx="2542032" cy="3291840"/>
          </a:xfrm>
          <a:prstGeom prst="roundRect">
            <a:avLst>
              <a:gd name="adj" fmla="val 4317"/>
            </a:avLst>
          </a:prstGeom>
          <a:solidFill>
            <a:schemeClr val="bg1"/>
          </a:solidFill>
          <a:ln w="12700">
            <a:solidFill>
              <a:schemeClr val="accent4"/>
            </a:solidFill>
            <a:prstDash val="solid"/>
          </a:ln>
          <a:effectLst>
            <a:outerShdw sx="100000" sy="100000" kx="0" ky="0" algn="bl" rotWithShape="0" blurRad="101600" dist="25400" dir="5400000">
              <a:srgbClr val="1F2A6B">
                <a:alpha val="12000"/>
              </a:srgbClr>
            </a:outerShdw>
          </a:effectLst>
        </p:spPr>
      </p:sp>
      <p:sp>
        <p:nvSpPr>
          <p:cNvPr id="15" name="a4-d"/>
          <p:cNvSpPr/>
          <p:nvPr/>
        </p:nvSpPr>
        <p:spPr>
          <a:xfrm>
            <a:off x="6501384" y="2240280"/>
            <a:ext cx="914400" cy="914400"/>
          </a:xfrm>
          <a:prstGeom prst="ellipse">
            <a:avLst/>
          </a:prstGeom>
          <a:solidFill>
            <a:schemeClr val="tx2"/>
          </a:solidFill>
          <a:ln/>
        </p:spPr>
      </p:sp>
      <p:pic>
        <p:nvPicPr>
          <p:cNvPr id="16" name="a4-d-i" descr="preencoded.png">    </p:cNvPr>
          <p:cNvPicPr>
            <a:picLocks noChangeAspect="1"/>
          </p:cNvPicPr>
          <p:nvPr/>
        </p:nvPicPr>
        <p:blipFill>
          <a:blip r:embed="rId3"/>
          <a:stretch>
            <a:fillRect/>
          </a:stretch>
        </p:blipFill>
        <p:spPr>
          <a:xfrm>
            <a:off x="6729984" y="2468880"/>
            <a:ext cx="457200" cy="457200"/>
          </a:xfrm>
          <a:prstGeom prst="rect">
            <a:avLst/>
          </a:prstGeom>
        </p:spPr>
      </p:pic>
      <p:sp>
        <p:nvSpPr>
          <p:cNvPr id="17" name="a4-h"/>
          <p:cNvSpPr txBox="1"/>
          <p:nvPr/>
        </p:nvSpPr>
        <p:spPr>
          <a:xfrm>
            <a:off x="6501384" y="3337560"/>
            <a:ext cx="2039112" cy="685800"/>
          </a:xfrm>
          <a:prstGeom prst="rect">
            <a:avLst/>
          </a:prstGeom>
          <a:noFill/>
          <a:ln/>
        </p:spPr>
        <p:txBody>
          <a:bodyPr wrap="square" lIns="0" tIns="0" rIns="0" bIns="0" rtlCol="0" anchor="t"/>
          <a:lstStyle/>
          <a:p>
            <a:pPr indent="0" marL="0">
              <a:buNone/>
            </a:pPr>
            <a:r>
              <a:rPr lang="en-US" sz="1900" b="1" dirty="0">
                <a:solidFill>
                  <a:schemeClr val="tx2"/>
                </a:solidFill>
              </a:rPr>
              <a:t>Professional Corporations</a:t>
            </a:r>
            <a:endParaRPr lang="en-US" sz="1900" dirty="0"/>
          </a:p>
        </p:txBody>
      </p:sp>
      <p:sp>
        <p:nvSpPr>
          <p:cNvPr id="18" name="a4-t"/>
          <p:cNvSpPr txBox="1"/>
          <p:nvPr/>
        </p:nvSpPr>
        <p:spPr>
          <a:xfrm>
            <a:off x="6501384" y="4023360"/>
            <a:ext cx="1993392" cy="1280160"/>
          </a:xfrm>
          <a:prstGeom prst="rect">
            <a:avLst/>
          </a:prstGeom>
          <a:noFill/>
          <a:ln/>
        </p:spPr>
        <p:txBody>
          <a:bodyPr wrap="square" lIns="0" tIns="0" rIns="0" bIns="0" rtlCol="0" anchor="t"/>
          <a:lstStyle/>
          <a:p>
            <a:pPr indent="0" marL="0">
              <a:buNone/>
            </a:pPr>
            <a:r>
              <a:rPr lang="en-US" sz="1500" dirty="0">
                <a:solidFill>
                  <a:schemeClr val="tx1"/>
                </a:solidFill>
              </a:rPr>
              <a:t>Dental and other professional corporations across Canada.</a:t>
            </a:r>
            <a:endParaRPr lang="en-US" sz="1500" dirty="0"/>
          </a:p>
        </p:txBody>
      </p:sp>
      <p:sp>
        <p:nvSpPr>
          <p:cNvPr id="19" name="a5-c"/>
          <p:cNvSpPr/>
          <p:nvPr/>
        </p:nvSpPr>
        <p:spPr>
          <a:xfrm>
            <a:off x="8997696" y="1874520"/>
            <a:ext cx="2542032" cy="3291840"/>
          </a:xfrm>
          <a:prstGeom prst="roundRect">
            <a:avLst>
              <a:gd name="adj" fmla="val 4317"/>
            </a:avLst>
          </a:prstGeom>
          <a:solidFill>
            <a:schemeClr val="bg1"/>
          </a:solidFill>
          <a:ln w="12700">
            <a:solidFill>
              <a:schemeClr val="accent4"/>
            </a:solidFill>
            <a:prstDash val="solid"/>
          </a:ln>
          <a:effectLst>
            <a:outerShdw sx="100000" sy="100000" kx="0" ky="0" algn="bl" rotWithShape="0" blurRad="101600" dist="25400" dir="5400000">
              <a:srgbClr val="1F2A6B">
                <a:alpha val="12000"/>
              </a:srgbClr>
            </a:outerShdw>
          </a:effectLst>
        </p:spPr>
      </p:sp>
      <p:sp>
        <p:nvSpPr>
          <p:cNvPr id="20" name="a5-d"/>
          <p:cNvSpPr/>
          <p:nvPr/>
        </p:nvSpPr>
        <p:spPr>
          <a:xfrm>
            <a:off x="9317736" y="2240280"/>
            <a:ext cx="914400" cy="914400"/>
          </a:xfrm>
          <a:prstGeom prst="ellipse">
            <a:avLst/>
          </a:prstGeom>
          <a:solidFill>
            <a:schemeClr val="accent2"/>
          </a:solidFill>
          <a:ln/>
        </p:spPr>
      </p:sp>
      <p:pic>
        <p:nvPicPr>
          <p:cNvPr id="21" name="a5-d-i" descr="preencoded.png">    </p:cNvPr>
          <p:cNvPicPr>
            <a:picLocks noChangeAspect="1"/>
          </p:cNvPicPr>
          <p:nvPr/>
        </p:nvPicPr>
        <p:blipFill>
          <a:blip r:embed="rId4"/>
          <a:stretch>
            <a:fillRect/>
          </a:stretch>
        </p:blipFill>
        <p:spPr>
          <a:xfrm>
            <a:off x="9546336" y="2468880"/>
            <a:ext cx="457200" cy="457200"/>
          </a:xfrm>
          <a:prstGeom prst="rect">
            <a:avLst/>
          </a:prstGeom>
        </p:spPr>
      </p:pic>
      <p:sp>
        <p:nvSpPr>
          <p:cNvPr id="22" name="a5-h"/>
          <p:cNvSpPr txBox="1"/>
          <p:nvPr/>
        </p:nvSpPr>
        <p:spPr>
          <a:xfrm>
            <a:off x="9317736" y="3337560"/>
            <a:ext cx="2039112" cy="685800"/>
          </a:xfrm>
          <a:prstGeom prst="rect">
            <a:avLst/>
          </a:prstGeom>
          <a:noFill/>
          <a:ln/>
        </p:spPr>
        <p:txBody>
          <a:bodyPr wrap="square" lIns="0" tIns="0" rIns="0" bIns="0" rtlCol="0" anchor="t"/>
          <a:lstStyle/>
          <a:p>
            <a:pPr indent="0" marL="0">
              <a:buNone/>
            </a:pPr>
            <a:r>
              <a:rPr lang="en-US" sz="1900" b="1" dirty="0">
                <a:solidFill>
                  <a:schemeClr val="tx2"/>
                </a:solidFill>
              </a:rPr>
              <a:t>Medical Practices</a:t>
            </a:r>
            <a:endParaRPr lang="en-US" sz="1900" dirty="0"/>
          </a:p>
        </p:txBody>
      </p:sp>
      <p:sp>
        <p:nvSpPr>
          <p:cNvPr id="23" name="a5-t"/>
          <p:cNvSpPr txBox="1"/>
          <p:nvPr/>
        </p:nvSpPr>
        <p:spPr>
          <a:xfrm>
            <a:off x="9317736" y="4023360"/>
            <a:ext cx="1993392" cy="1280160"/>
          </a:xfrm>
          <a:prstGeom prst="rect">
            <a:avLst/>
          </a:prstGeom>
          <a:noFill/>
          <a:ln/>
        </p:spPr>
        <p:txBody>
          <a:bodyPr wrap="square" lIns="0" tIns="0" rIns="0" bIns="0" rtlCol="0" anchor="t"/>
          <a:lstStyle/>
          <a:p>
            <a:pPr indent="0" marL="0">
              <a:buNone/>
            </a:pPr>
            <a:r>
              <a:rPr lang="en-US" sz="1500" dirty="0">
                <a:solidFill>
                  <a:schemeClr val="tx1"/>
                </a:solidFill>
              </a:rPr>
              <a:t>Doctors and clinics in Australia, supported every quarter.</a:t>
            </a:r>
            <a:endParaRPr lang="en-US" sz="15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5</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childTnLst>
                          </p:cTn>
                        </p:par>
                        <p:par>
                          <p:cTn id="23" fill="hold">
                            <p:stCondLst>
                              <p:cond delay="75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par>
                          <p:cTn id="39" fill="hold">
                            <p:stCondLst>
                              <p:cond delay="1200"/>
                            </p:stCondLst>
                            <p:childTnLst>
                              <p:par>
                                <p:cTn id="24" presetID="10" presetClass="entr" presetSubtype="0"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par>
                          <p:cTn id="55" fill="hold">
                            <p:stCondLst>
                              <p:cond delay="1650"/>
                            </p:stCondLst>
                            <p:childTnLst>
                              <p:par>
                                <p:cTn id="40" presetID="10" presetClass="entr" presetSubtype="0"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childTnLst>
                          </p:cTn>
                        </p:par>
                        <p:par>
                          <p:cTn id="71" fill="hold">
                            <p:stCondLst>
                              <p:cond delay="2100"/>
                            </p:stCondLst>
                            <p:childTnLst>
                              <p:par>
                                <p:cTn id="56" presetID="10" presetClass="entr" presetSubtype="0" fill="hold" grpId="0" nodeType="after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509760" cy="777240"/>
          </a:xfrm>
          <a:prstGeom prst="rect">
            <a:avLst/>
          </a:prstGeom>
          <a:noFill/>
          <a:ln/>
        </p:spPr>
        <p:txBody>
          <a:bodyPr wrap="square" lIns="0" tIns="0" rIns="0" bIns="0" rtlCol="0" anchor="ctr"/>
          <a:lstStyle/>
          <a:p>
            <a:pPr algn="l" indent="0" marL="0">
              <a:buNone/>
            </a:pPr>
            <a:r>
              <a:rPr lang="en-US" sz="3600" b="1" dirty="0">
                <a:solidFill>
                  <a:schemeClr val="tx2"/>
                </a:solidFill>
              </a:rPr>
              <a:t>Canada</a:t>
            </a:r>
            <a:endParaRPr lang="en-US" sz="3600" dirty="0"/>
          </a:p>
        </p:txBody>
      </p:sp>
      <p:sp>
        <p:nvSpPr>
          <p:cNvPr id="3" name="a1-d"/>
          <p:cNvSpPr/>
          <p:nvPr/>
        </p:nvSpPr>
        <p:spPr>
          <a:xfrm>
            <a:off x="548640" y="1463040"/>
            <a:ext cx="868680" cy="868680"/>
          </a:xfrm>
          <a:prstGeom prst="ellipse">
            <a:avLst/>
          </a:prstGeom>
          <a:solidFill>
            <a:schemeClr val="tx2"/>
          </a:solidFill>
          <a:ln/>
        </p:spPr>
      </p:sp>
      <p:pic>
        <p:nvPicPr>
          <p:cNvPr id="4" name="a1-d-i" descr="preencoded.png">    </p:cNvPr>
          <p:cNvPicPr>
            <a:picLocks noChangeAspect="1"/>
          </p:cNvPicPr>
          <p:nvPr/>
        </p:nvPicPr>
        <p:blipFill>
          <a:blip r:embed="rId1"/>
          <a:stretch>
            <a:fillRect/>
          </a:stretch>
        </p:blipFill>
        <p:spPr>
          <a:xfrm>
            <a:off x="765810" y="1680210"/>
            <a:ext cx="434340" cy="434340"/>
          </a:xfrm>
          <a:prstGeom prst="rect">
            <a:avLst/>
          </a:prstGeom>
        </p:spPr>
      </p:pic>
      <p:sp>
        <p:nvSpPr>
          <p:cNvPr id="5" name="a1-t"/>
          <p:cNvSpPr txBox="1"/>
          <p:nvPr/>
        </p:nvSpPr>
        <p:spPr>
          <a:xfrm>
            <a:off x="1645920" y="1417320"/>
            <a:ext cx="4663440" cy="960120"/>
          </a:xfrm>
          <a:prstGeom prst="rect">
            <a:avLst/>
          </a:prstGeom>
          <a:noFill/>
          <a:ln/>
        </p:spPr>
        <p:txBody>
          <a:bodyPr wrap="square" lIns="0" tIns="0" rIns="0" bIns="0" rtlCol="0" anchor="ctr"/>
          <a:lstStyle/>
          <a:p>
            <a:pPr indent="0" marL="0">
              <a:buNone/>
            </a:pPr>
            <a:r>
              <a:rPr lang="en-US" sz="2000" b="1" dirty="0">
                <a:solidFill>
                  <a:schemeClr val="tx2"/>
                </a:solidFill>
              </a:rPr>
              <a:t>Bookkeeping &amp; Accounting</a:t>
            </a:r>
            <a:endParaRPr lang="en-US" sz="2000" dirty="0"/>
          </a:p>
          <a:p>
            <a:pPr indent="0" marL="0">
              <a:buNone/>
            </a:pPr>
            <a:r>
              <a:rPr lang="en-US" sz="1500" dirty="0">
                <a:solidFill>
                  <a:schemeClr val="accent5"/>
                </a:solidFill>
              </a:rPr>
              <a:t>In QuickBooks and CaseWare</a:t>
            </a:r>
            <a:endParaRPr lang="en-US" sz="2000" dirty="0"/>
          </a:p>
        </p:txBody>
      </p:sp>
      <p:sp>
        <p:nvSpPr>
          <p:cNvPr id="6" name="a2-d"/>
          <p:cNvSpPr/>
          <p:nvPr/>
        </p:nvSpPr>
        <p:spPr>
          <a:xfrm>
            <a:off x="548640" y="2834640"/>
            <a:ext cx="868680" cy="868680"/>
          </a:xfrm>
          <a:prstGeom prst="ellipse">
            <a:avLst/>
          </a:prstGeom>
          <a:solidFill>
            <a:schemeClr val="tx2"/>
          </a:solidFill>
          <a:ln/>
        </p:spPr>
      </p:sp>
      <p:pic>
        <p:nvPicPr>
          <p:cNvPr id="7" name="a2-d-i" descr="preencoded.png">    </p:cNvPr>
          <p:cNvPicPr>
            <a:picLocks noChangeAspect="1"/>
          </p:cNvPicPr>
          <p:nvPr/>
        </p:nvPicPr>
        <p:blipFill>
          <a:blip r:embed="rId2"/>
          <a:stretch>
            <a:fillRect/>
          </a:stretch>
        </p:blipFill>
        <p:spPr>
          <a:xfrm>
            <a:off x="765810" y="3051810"/>
            <a:ext cx="434340" cy="434340"/>
          </a:xfrm>
          <a:prstGeom prst="rect">
            <a:avLst/>
          </a:prstGeom>
        </p:spPr>
      </p:pic>
      <p:sp>
        <p:nvSpPr>
          <p:cNvPr id="8" name="a2-t"/>
          <p:cNvSpPr txBox="1"/>
          <p:nvPr/>
        </p:nvSpPr>
        <p:spPr>
          <a:xfrm>
            <a:off x="1645920" y="2788920"/>
            <a:ext cx="4663440" cy="960120"/>
          </a:xfrm>
          <a:prstGeom prst="rect">
            <a:avLst/>
          </a:prstGeom>
          <a:noFill/>
          <a:ln/>
        </p:spPr>
        <p:txBody>
          <a:bodyPr wrap="square" lIns="0" tIns="0" rIns="0" bIns="0" rtlCol="0" anchor="ctr"/>
          <a:lstStyle/>
          <a:p>
            <a:pPr indent="0" marL="0">
              <a:buNone/>
            </a:pPr>
            <a:r>
              <a:rPr lang="en-US" sz="2000" b="1" dirty="0">
                <a:solidFill>
                  <a:schemeClr val="tx2"/>
                </a:solidFill>
              </a:rPr>
              <a:t>T2 Return Preparation</a:t>
            </a:r>
            <a:endParaRPr lang="en-US" sz="2000" dirty="0"/>
          </a:p>
          <a:p>
            <a:pPr indent="0" marL="0">
              <a:buNone/>
            </a:pPr>
            <a:r>
              <a:rPr lang="en-US" sz="1500" dirty="0">
                <a:solidFill>
                  <a:schemeClr val="accent5"/>
                </a:solidFill>
              </a:rPr>
              <a:t>We prepare the T2; your firm reviews and files it</a:t>
            </a:r>
            <a:endParaRPr lang="en-US" sz="2000" dirty="0"/>
          </a:p>
        </p:txBody>
      </p:sp>
      <p:sp>
        <p:nvSpPr>
          <p:cNvPr id="9" name="a3-d"/>
          <p:cNvSpPr/>
          <p:nvPr/>
        </p:nvSpPr>
        <p:spPr>
          <a:xfrm>
            <a:off x="548640" y="4206240"/>
            <a:ext cx="868680" cy="868680"/>
          </a:xfrm>
          <a:prstGeom prst="ellipse">
            <a:avLst/>
          </a:prstGeom>
          <a:solidFill>
            <a:schemeClr val="accent1"/>
          </a:solidFill>
          <a:ln/>
        </p:spPr>
      </p:sp>
      <p:pic>
        <p:nvPicPr>
          <p:cNvPr id="10" name="a3-d-i" descr="preencoded.png">    </p:cNvPr>
          <p:cNvPicPr>
            <a:picLocks noChangeAspect="1"/>
          </p:cNvPicPr>
          <p:nvPr/>
        </p:nvPicPr>
        <p:blipFill>
          <a:blip r:embed="rId3"/>
          <a:stretch>
            <a:fillRect/>
          </a:stretch>
        </p:blipFill>
        <p:spPr>
          <a:xfrm>
            <a:off x="765810" y="4423410"/>
            <a:ext cx="434340" cy="434340"/>
          </a:xfrm>
          <a:prstGeom prst="rect">
            <a:avLst/>
          </a:prstGeom>
        </p:spPr>
      </p:pic>
      <p:sp>
        <p:nvSpPr>
          <p:cNvPr id="11" name="a3-t"/>
          <p:cNvSpPr txBox="1"/>
          <p:nvPr/>
        </p:nvSpPr>
        <p:spPr>
          <a:xfrm>
            <a:off x="1645920" y="4160520"/>
            <a:ext cx="4663440" cy="960120"/>
          </a:xfrm>
          <a:prstGeom prst="rect">
            <a:avLst/>
          </a:prstGeom>
          <a:noFill/>
          <a:ln/>
        </p:spPr>
        <p:txBody>
          <a:bodyPr wrap="square" lIns="0" tIns="0" rIns="0" bIns="0" rtlCol="0" anchor="ctr"/>
          <a:lstStyle/>
          <a:p>
            <a:pPr indent="0" marL="0">
              <a:buNone/>
            </a:pPr>
            <a:r>
              <a:rPr lang="en-US" sz="2000" b="1" dirty="0">
                <a:solidFill>
                  <a:schemeClr val="tx2"/>
                </a:solidFill>
              </a:rPr>
              <a:t>Financial Reconstruction</a:t>
            </a:r>
            <a:endParaRPr lang="en-US" sz="2000" dirty="0"/>
          </a:p>
          <a:p>
            <a:pPr indent="0" marL="0">
              <a:buNone/>
            </a:pPr>
            <a:r>
              <a:rPr lang="en-US" sz="1500" dirty="0">
                <a:solidFill>
                  <a:schemeClr val="accent5"/>
                </a:solidFill>
              </a:rPr>
              <a:t>Bringing incomplete or overdue records up to date</a:t>
            </a:r>
            <a:endParaRPr lang="en-US" sz="2000" dirty="0"/>
          </a:p>
        </p:txBody>
      </p:sp>
      <p:sp>
        <p:nvSpPr>
          <p:cNvPr id="12" name="a4-p"/>
          <p:cNvSpPr/>
          <p:nvPr/>
        </p:nvSpPr>
        <p:spPr>
          <a:xfrm>
            <a:off x="6583680" y="1417320"/>
            <a:ext cx="5029200" cy="4526280"/>
          </a:xfrm>
          <a:prstGeom prst="roundRect">
            <a:avLst>
              <a:gd name="adj" fmla="val 2424"/>
            </a:avLst>
          </a:prstGeom>
          <a:solidFill>
            <a:schemeClr val="tx2"/>
          </a:solidFill>
          <a:ln/>
        </p:spPr>
      </p:sp>
      <p:sp>
        <p:nvSpPr>
          <p:cNvPr id="13" name="a4-h"/>
          <p:cNvSpPr txBox="1"/>
          <p:nvPr/>
        </p:nvSpPr>
        <p:spPr>
          <a:xfrm>
            <a:off x="6949440" y="1691640"/>
            <a:ext cx="438912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WHO WE SERVE</a:t>
            </a:r>
            <a:endParaRPr lang="en-US" sz="1300" dirty="0"/>
          </a:p>
        </p:txBody>
      </p:sp>
      <p:sp>
        <p:nvSpPr>
          <p:cNvPr id="14" name="a4-t"/>
          <p:cNvSpPr txBox="1"/>
          <p:nvPr/>
        </p:nvSpPr>
        <p:spPr>
          <a:xfrm>
            <a:off x="6949440" y="2029968"/>
            <a:ext cx="4389120" cy="10515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bg1"/>
                </a:solidFill>
              </a:rPr>
              <a:t>Professional corporations</a:t>
            </a:r>
            <a:endParaRPr lang="en-US" sz="1600" dirty="0"/>
          </a:p>
          <a:p>
            <a:pPr marL="342900" indent="-342900">
              <a:spcAft>
                <a:spcPts val="400"/>
              </a:spcAft>
              <a:buSzPct val="100000"/>
              <a:buChar char="•"/>
            </a:pPr>
            <a:r>
              <a:rPr lang="en-US" sz="1600" dirty="0">
                <a:solidFill>
                  <a:schemeClr val="bg1"/>
                </a:solidFill>
              </a:rPr>
              <a:t>Incorporated companies</a:t>
            </a:r>
            <a:endParaRPr lang="en-US" sz="1600" dirty="0"/>
          </a:p>
          <a:p>
            <a:pPr marL="342900" indent="-342900">
              <a:spcAft>
                <a:spcPts val="400"/>
              </a:spcAft>
              <a:buSzPct val="100000"/>
              <a:buChar char="•"/>
            </a:pPr>
            <a:r>
              <a:rPr lang="en-US" sz="1600" dirty="0">
                <a:solidFill>
                  <a:schemeClr val="bg1"/>
                </a:solidFill>
              </a:rPr>
              <a:t>Small &amp; mid-sized enterprises (SMEs)</a:t>
            </a:r>
            <a:endParaRPr lang="en-US" sz="1600" dirty="0"/>
          </a:p>
        </p:txBody>
      </p:sp>
      <p:sp>
        <p:nvSpPr>
          <p:cNvPr id="15" name="a5-h"/>
          <p:cNvSpPr txBox="1"/>
          <p:nvPr/>
        </p:nvSpPr>
        <p:spPr>
          <a:xfrm>
            <a:off x="6949440" y="3200400"/>
            <a:ext cx="438912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OUR CANADIAN PARTNERS</a:t>
            </a:r>
            <a:endParaRPr lang="en-US" sz="1300" dirty="0"/>
          </a:p>
        </p:txBody>
      </p:sp>
      <p:sp>
        <p:nvSpPr>
          <p:cNvPr id="16" name="a5-pc0"/>
          <p:cNvSpPr/>
          <p:nvPr/>
        </p:nvSpPr>
        <p:spPr>
          <a:xfrm>
            <a:off x="6949440" y="3566160"/>
            <a:ext cx="4297680" cy="841248"/>
          </a:xfrm>
          <a:prstGeom prst="roundRect">
            <a:avLst>
              <a:gd name="adj" fmla="val 13043"/>
            </a:avLst>
          </a:prstGeom>
          <a:solidFill>
            <a:schemeClr val="bg1"/>
          </a:solidFill>
          <a:ln/>
        </p:spPr>
      </p:sp>
      <p:sp>
        <p:nvSpPr>
          <p:cNvPr id="17" name="a5-pt0"/>
          <p:cNvSpPr txBox="1"/>
          <p:nvPr/>
        </p:nvSpPr>
        <p:spPr>
          <a:xfrm>
            <a:off x="7178040" y="3566160"/>
            <a:ext cx="3931920" cy="841248"/>
          </a:xfrm>
          <a:prstGeom prst="rect">
            <a:avLst/>
          </a:prstGeom>
          <a:noFill/>
          <a:ln/>
        </p:spPr>
        <p:txBody>
          <a:bodyPr wrap="square" lIns="0" tIns="0" rIns="0" bIns="0" rtlCol="0" anchor="ctr"/>
          <a:lstStyle/>
          <a:p>
            <a:pPr indent="0" marL="0">
              <a:buNone/>
            </a:pPr>
            <a:r>
              <a:rPr lang="en-US" sz="1600" b="1" dirty="0">
                <a:solidFill>
                  <a:schemeClr val="tx2"/>
                </a:solidFill>
              </a:rPr>
              <a:t>Opty Business Solutions Inc.</a:t>
            </a:r>
            <a:endParaRPr lang="en-US" sz="1600" dirty="0"/>
          </a:p>
          <a:p>
            <a:pPr indent="0" marL="0">
              <a:buNone/>
            </a:pPr>
            <a:r>
              <a:rPr lang="en-US" sz="1300" dirty="0">
                <a:solidFill>
                  <a:schemeClr val="accent5"/>
                </a:solidFill>
              </a:rPr>
              <a:t>We prepare T2s in their CCH iFirm; Opty files.</a:t>
            </a:r>
            <a:endParaRPr lang="en-US" sz="1600" dirty="0"/>
          </a:p>
        </p:txBody>
      </p:sp>
      <p:sp>
        <p:nvSpPr>
          <p:cNvPr id="18" name="a5-pc1"/>
          <p:cNvSpPr/>
          <p:nvPr/>
        </p:nvSpPr>
        <p:spPr>
          <a:xfrm>
            <a:off x="6949440" y="4507992"/>
            <a:ext cx="4297680" cy="841248"/>
          </a:xfrm>
          <a:prstGeom prst="roundRect">
            <a:avLst>
              <a:gd name="adj" fmla="val 13043"/>
            </a:avLst>
          </a:prstGeom>
          <a:solidFill>
            <a:schemeClr val="bg1"/>
          </a:solidFill>
          <a:ln/>
        </p:spPr>
      </p:sp>
      <p:sp>
        <p:nvSpPr>
          <p:cNvPr id="19" name="a5-pt1"/>
          <p:cNvSpPr txBox="1"/>
          <p:nvPr/>
        </p:nvSpPr>
        <p:spPr>
          <a:xfrm>
            <a:off x="7178040" y="4507992"/>
            <a:ext cx="3931920" cy="841248"/>
          </a:xfrm>
          <a:prstGeom prst="rect">
            <a:avLst/>
          </a:prstGeom>
          <a:noFill/>
          <a:ln/>
        </p:spPr>
        <p:txBody>
          <a:bodyPr wrap="square" lIns="0" tIns="0" rIns="0" bIns="0" rtlCol="0" anchor="ctr"/>
          <a:lstStyle/>
          <a:p>
            <a:pPr indent="0" marL="0">
              <a:buNone/>
            </a:pPr>
            <a:r>
              <a:rPr lang="en-US" sz="1600" b="1" dirty="0">
                <a:solidFill>
                  <a:schemeClr val="tx2"/>
                </a:solidFill>
              </a:rPr>
              <a:t>Harry Chang, CA</a:t>
            </a:r>
            <a:endParaRPr lang="en-US" sz="1600" dirty="0"/>
          </a:p>
          <a:p>
            <a:pPr indent="0" marL="0">
              <a:buNone/>
            </a:pPr>
            <a:r>
              <a:rPr lang="en-US" sz="1300" dirty="0">
                <a:solidFill>
                  <a:schemeClr val="accent5"/>
                </a:solidFill>
              </a:rPr>
              <a:t>We prepare an Excel T2 workbook; they file in their own system.</a:t>
            </a:r>
            <a:endParaRPr lang="en-US" sz="1600" dirty="0"/>
          </a:p>
        </p:txBody>
      </p:sp>
      <p:sp>
        <p:nvSpPr>
          <p:cNvPr id="20" name="a5-n"/>
          <p:cNvSpPr txBox="1"/>
          <p:nvPr/>
        </p:nvSpPr>
        <p:spPr>
          <a:xfrm>
            <a:off x="6949440" y="5468112"/>
            <a:ext cx="4389120" cy="320040"/>
          </a:xfrm>
          <a:prstGeom prst="rect">
            <a:avLst/>
          </a:prstGeom>
          <a:noFill/>
          <a:ln/>
        </p:spPr>
        <p:txBody>
          <a:bodyPr wrap="square" lIns="0" tIns="0" rIns="0" bIns="0" rtlCol="0" anchor="ctr"/>
          <a:lstStyle/>
          <a:p>
            <a:pPr indent="0" marL="0">
              <a:buNone/>
            </a:pPr>
            <a:r>
              <a:rPr lang="en-US" sz="1400" i="1" dirty="0">
                <a:solidFill>
                  <a:schemeClr val="accent4"/>
                </a:solidFill>
              </a:rPr>
              <a:t>A steady flow of new clients through both firms.</a:t>
            </a:r>
            <a:endParaRPr lang="en-US" sz="14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6</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par>
                          <p:cTn id="23" fill="hold">
                            <p:stCondLst>
                              <p:cond delay="750"/>
                            </p:stCondLst>
                            <p:childTnLst>
                              <p:par>
                                <p:cTn id="14"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par>
                          <p:cTn id="33" fill="hold">
                            <p:stCondLst>
                              <p:cond delay="1200"/>
                            </p:stCondLst>
                            <p:childTnLst>
                              <p:par>
                                <p:cTn id="24" presetID="10" presetClass="entr" presetSubtype="0"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par>
                          <p:cTn id="43" fill="hold">
                            <p:stCondLst>
                              <p:cond delay="165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par>
                          <p:cTn id="62" fill="hold">
                            <p:stCondLst>
                              <p:cond delay="2100"/>
                            </p:stCondLst>
                            <p:childTnLst>
                              <p:par>
                                <p:cTn id="44" presetID="10" presetClass="entr" presetSubtype="0"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509760" cy="777240"/>
          </a:xfrm>
          <a:prstGeom prst="rect">
            <a:avLst/>
          </a:prstGeom>
          <a:noFill/>
          <a:ln/>
        </p:spPr>
        <p:txBody>
          <a:bodyPr wrap="square" lIns="0" tIns="0" rIns="0" bIns="0" rtlCol="0" anchor="ctr"/>
          <a:lstStyle/>
          <a:p>
            <a:pPr algn="l" indent="0" marL="0">
              <a:buNone/>
            </a:pPr>
            <a:r>
              <a:rPr lang="en-US" sz="3600" b="1" dirty="0">
                <a:solidFill>
                  <a:schemeClr val="tx2"/>
                </a:solidFill>
              </a:rPr>
              <a:t>Case Study: Six Years Rebuilt</a:t>
            </a:r>
            <a:endParaRPr lang="en-US" sz="3600" dirty="0"/>
          </a:p>
        </p:txBody>
      </p:sp>
      <p:sp>
        <p:nvSpPr>
          <p:cNvPr id="3" name="a1-sub"/>
          <p:cNvSpPr txBox="1"/>
          <p:nvPr/>
        </p:nvSpPr>
        <p:spPr>
          <a:xfrm>
            <a:off x="548640" y="1143000"/>
            <a:ext cx="9144000" cy="411480"/>
          </a:xfrm>
          <a:prstGeom prst="rect">
            <a:avLst/>
          </a:prstGeom>
          <a:noFill/>
          <a:ln/>
        </p:spPr>
        <p:txBody>
          <a:bodyPr wrap="square" lIns="0" tIns="0" rIns="0" bIns="0" rtlCol="0" anchor="ctr"/>
          <a:lstStyle/>
          <a:p>
            <a:pPr indent="0" marL="0">
              <a:buNone/>
            </a:pPr>
            <a:r>
              <a:rPr lang="en-US" sz="1800" dirty="0">
                <a:solidFill>
                  <a:schemeClr val="accent5"/>
                </a:solidFill>
              </a:rPr>
              <a:t>Client: A Dentistry Professional Corporation in Canada</a:t>
            </a:r>
            <a:endParaRPr lang="en-US" sz="1800" dirty="0"/>
          </a:p>
        </p:txBody>
      </p:sp>
      <p:sp>
        <p:nvSpPr>
          <p:cNvPr id="4" name="a2-tl"/>
          <p:cNvSpPr/>
          <p:nvPr/>
        </p:nvSpPr>
        <p:spPr>
          <a:xfrm>
            <a:off x="1097280" y="2331720"/>
            <a:ext cx="9966960" cy="0"/>
          </a:xfrm>
          <a:prstGeom prst="line">
            <a:avLst/>
          </a:prstGeom>
          <a:noFill/>
          <a:ln w="50800">
            <a:solidFill>
              <a:schemeClr val="accent4"/>
            </a:solidFill>
            <a:prstDash val="solid"/>
          </a:ln>
        </p:spPr>
      </p:sp>
      <p:sp>
        <p:nvSpPr>
          <p:cNvPr id="5" name="a2-y0"/>
          <p:cNvSpPr/>
          <p:nvPr/>
        </p:nvSpPr>
        <p:spPr>
          <a:xfrm>
            <a:off x="932688" y="2011680"/>
            <a:ext cx="640080" cy="640080"/>
          </a:xfrm>
          <a:prstGeom prst="ellipse">
            <a:avLst/>
          </a:prstGeom>
          <a:solidFill>
            <a:schemeClr val="tx2"/>
          </a:solidFill>
          <a:ln/>
        </p:spPr>
      </p:sp>
      <p:sp>
        <p:nvSpPr>
          <p:cNvPr id="6" name="a2-yc0"/>
          <p:cNvSpPr txBox="1"/>
          <p:nvPr/>
        </p:nvSpPr>
        <p:spPr>
          <a:xfrm>
            <a:off x="932688" y="20116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7" name="a2-yt0"/>
          <p:cNvSpPr txBox="1"/>
          <p:nvPr/>
        </p:nvSpPr>
        <p:spPr>
          <a:xfrm>
            <a:off x="594360" y="2743200"/>
            <a:ext cx="1325880" cy="365760"/>
          </a:xfrm>
          <a:prstGeom prst="rect">
            <a:avLst/>
          </a:prstGeom>
          <a:noFill/>
          <a:ln/>
        </p:spPr>
        <p:txBody>
          <a:bodyPr wrap="square" lIns="0" tIns="0" rIns="0" bIns="0" rtlCol="0" anchor="ctr"/>
          <a:lstStyle/>
          <a:p>
            <a:pPr algn="ctr" indent="0" marL="0">
              <a:buNone/>
            </a:pPr>
            <a:r>
              <a:rPr lang="en-US" sz="1800" b="1" dirty="0">
                <a:solidFill>
                  <a:schemeClr val="tx2"/>
                </a:solidFill>
              </a:rPr>
              <a:t>2021</a:t>
            </a:r>
            <a:endParaRPr lang="en-US" sz="1800" dirty="0"/>
          </a:p>
        </p:txBody>
      </p:sp>
      <p:sp>
        <p:nvSpPr>
          <p:cNvPr id="8" name="a2-y1"/>
          <p:cNvSpPr/>
          <p:nvPr/>
        </p:nvSpPr>
        <p:spPr>
          <a:xfrm>
            <a:off x="2926080" y="2011680"/>
            <a:ext cx="640080" cy="640080"/>
          </a:xfrm>
          <a:prstGeom prst="ellipse">
            <a:avLst/>
          </a:prstGeom>
          <a:solidFill>
            <a:schemeClr val="tx2"/>
          </a:solidFill>
          <a:ln/>
        </p:spPr>
      </p:sp>
      <p:sp>
        <p:nvSpPr>
          <p:cNvPr id="9" name="a2-yc1"/>
          <p:cNvSpPr txBox="1"/>
          <p:nvPr/>
        </p:nvSpPr>
        <p:spPr>
          <a:xfrm>
            <a:off x="2926080" y="20116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0" name="a2-yt1"/>
          <p:cNvSpPr txBox="1"/>
          <p:nvPr/>
        </p:nvSpPr>
        <p:spPr>
          <a:xfrm>
            <a:off x="2587752" y="2743200"/>
            <a:ext cx="1325880" cy="365760"/>
          </a:xfrm>
          <a:prstGeom prst="rect">
            <a:avLst/>
          </a:prstGeom>
          <a:noFill/>
          <a:ln/>
        </p:spPr>
        <p:txBody>
          <a:bodyPr wrap="square" lIns="0" tIns="0" rIns="0" bIns="0" rtlCol="0" anchor="ctr"/>
          <a:lstStyle/>
          <a:p>
            <a:pPr algn="ctr" indent="0" marL="0">
              <a:buNone/>
            </a:pPr>
            <a:r>
              <a:rPr lang="en-US" sz="1800" b="1" dirty="0">
                <a:solidFill>
                  <a:schemeClr val="tx2"/>
                </a:solidFill>
              </a:rPr>
              <a:t>2022</a:t>
            </a:r>
            <a:endParaRPr lang="en-US" sz="1800" dirty="0"/>
          </a:p>
        </p:txBody>
      </p:sp>
      <p:sp>
        <p:nvSpPr>
          <p:cNvPr id="11" name="a2-y2"/>
          <p:cNvSpPr/>
          <p:nvPr/>
        </p:nvSpPr>
        <p:spPr>
          <a:xfrm>
            <a:off x="4919472" y="2011680"/>
            <a:ext cx="640080" cy="640080"/>
          </a:xfrm>
          <a:prstGeom prst="ellipse">
            <a:avLst/>
          </a:prstGeom>
          <a:solidFill>
            <a:schemeClr val="tx2"/>
          </a:solidFill>
          <a:ln/>
        </p:spPr>
      </p:sp>
      <p:sp>
        <p:nvSpPr>
          <p:cNvPr id="12" name="a2-yc2"/>
          <p:cNvSpPr txBox="1"/>
          <p:nvPr/>
        </p:nvSpPr>
        <p:spPr>
          <a:xfrm>
            <a:off x="4919472" y="20116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3" name="a2-yt2"/>
          <p:cNvSpPr txBox="1"/>
          <p:nvPr/>
        </p:nvSpPr>
        <p:spPr>
          <a:xfrm>
            <a:off x="4581144" y="2743200"/>
            <a:ext cx="1325880" cy="365760"/>
          </a:xfrm>
          <a:prstGeom prst="rect">
            <a:avLst/>
          </a:prstGeom>
          <a:noFill/>
          <a:ln/>
        </p:spPr>
        <p:txBody>
          <a:bodyPr wrap="square" lIns="0" tIns="0" rIns="0" bIns="0" rtlCol="0" anchor="ctr"/>
          <a:lstStyle/>
          <a:p>
            <a:pPr algn="ctr" indent="0" marL="0">
              <a:buNone/>
            </a:pPr>
            <a:r>
              <a:rPr lang="en-US" sz="1800" b="1" dirty="0">
                <a:solidFill>
                  <a:schemeClr val="tx2"/>
                </a:solidFill>
              </a:rPr>
              <a:t>2023</a:t>
            </a:r>
            <a:endParaRPr lang="en-US" sz="1800" dirty="0"/>
          </a:p>
        </p:txBody>
      </p:sp>
      <p:sp>
        <p:nvSpPr>
          <p:cNvPr id="14" name="a2-y3"/>
          <p:cNvSpPr/>
          <p:nvPr/>
        </p:nvSpPr>
        <p:spPr>
          <a:xfrm>
            <a:off x="6912864" y="2011680"/>
            <a:ext cx="640080" cy="640080"/>
          </a:xfrm>
          <a:prstGeom prst="ellipse">
            <a:avLst/>
          </a:prstGeom>
          <a:solidFill>
            <a:schemeClr val="tx2"/>
          </a:solidFill>
          <a:ln/>
        </p:spPr>
      </p:sp>
      <p:sp>
        <p:nvSpPr>
          <p:cNvPr id="15" name="a2-yc3"/>
          <p:cNvSpPr txBox="1"/>
          <p:nvPr/>
        </p:nvSpPr>
        <p:spPr>
          <a:xfrm>
            <a:off x="6912864" y="20116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6" name="a2-yt3"/>
          <p:cNvSpPr txBox="1"/>
          <p:nvPr/>
        </p:nvSpPr>
        <p:spPr>
          <a:xfrm>
            <a:off x="6574536" y="2743200"/>
            <a:ext cx="1325880" cy="365760"/>
          </a:xfrm>
          <a:prstGeom prst="rect">
            <a:avLst/>
          </a:prstGeom>
          <a:noFill/>
          <a:ln/>
        </p:spPr>
        <p:txBody>
          <a:bodyPr wrap="square" lIns="0" tIns="0" rIns="0" bIns="0" rtlCol="0" anchor="ctr"/>
          <a:lstStyle/>
          <a:p>
            <a:pPr algn="ctr" indent="0" marL="0">
              <a:buNone/>
            </a:pPr>
            <a:r>
              <a:rPr lang="en-US" sz="1800" b="1" dirty="0">
                <a:solidFill>
                  <a:schemeClr val="tx2"/>
                </a:solidFill>
              </a:rPr>
              <a:t>2024</a:t>
            </a:r>
            <a:endParaRPr lang="en-US" sz="1800" dirty="0"/>
          </a:p>
        </p:txBody>
      </p:sp>
      <p:sp>
        <p:nvSpPr>
          <p:cNvPr id="17" name="a2-y4"/>
          <p:cNvSpPr/>
          <p:nvPr/>
        </p:nvSpPr>
        <p:spPr>
          <a:xfrm>
            <a:off x="8906256" y="2011680"/>
            <a:ext cx="640080" cy="640080"/>
          </a:xfrm>
          <a:prstGeom prst="ellipse">
            <a:avLst/>
          </a:prstGeom>
          <a:solidFill>
            <a:schemeClr val="tx2"/>
          </a:solidFill>
          <a:ln/>
        </p:spPr>
      </p:sp>
      <p:sp>
        <p:nvSpPr>
          <p:cNvPr id="18" name="a2-yc4"/>
          <p:cNvSpPr txBox="1"/>
          <p:nvPr/>
        </p:nvSpPr>
        <p:spPr>
          <a:xfrm>
            <a:off x="8906256" y="20116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9" name="a2-yt4"/>
          <p:cNvSpPr txBox="1"/>
          <p:nvPr/>
        </p:nvSpPr>
        <p:spPr>
          <a:xfrm>
            <a:off x="8567928" y="2743200"/>
            <a:ext cx="1325880" cy="365760"/>
          </a:xfrm>
          <a:prstGeom prst="rect">
            <a:avLst/>
          </a:prstGeom>
          <a:noFill/>
          <a:ln/>
        </p:spPr>
        <p:txBody>
          <a:bodyPr wrap="square" lIns="0" tIns="0" rIns="0" bIns="0" rtlCol="0" anchor="ctr"/>
          <a:lstStyle/>
          <a:p>
            <a:pPr algn="ctr" indent="0" marL="0">
              <a:buNone/>
            </a:pPr>
            <a:r>
              <a:rPr lang="en-US" sz="1800" b="1" dirty="0">
                <a:solidFill>
                  <a:schemeClr val="tx2"/>
                </a:solidFill>
              </a:rPr>
              <a:t>2025</a:t>
            </a:r>
            <a:endParaRPr lang="en-US" sz="1800" dirty="0"/>
          </a:p>
        </p:txBody>
      </p:sp>
      <p:sp>
        <p:nvSpPr>
          <p:cNvPr id="20" name="a2-y5"/>
          <p:cNvSpPr/>
          <p:nvPr/>
        </p:nvSpPr>
        <p:spPr>
          <a:xfrm>
            <a:off x="10899648" y="2011680"/>
            <a:ext cx="640080" cy="640080"/>
          </a:xfrm>
          <a:prstGeom prst="ellipse">
            <a:avLst/>
          </a:prstGeom>
          <a:solidFill>
            <a:schemeClr val="accent1"/>
          </a:solidFill>
          <a:ln/>
        </p:spPr>
      </p:sp>
      <p:sp>
        <p:nvSpPr>
          <p:cNvPr id="21" name="a2-yc5"/>
          <p:cNvSpPr txBox="1"/>
          <p:nvPr/>
        </p:nvSpPr>
        <p:spPr>
          <a:xfrm>
            <a:off x="10899648" y="20116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22" name="a2-yt5"/>
          <p:cNvSpPr txBox="1"/>
          <p:nvPr/>
        </p:nvSpPr>
        <p:spPr>
          <a:xfrm>
            <a:off x="10561320" y="2743200"/>
            <a:ext cx="1325880" cy="365760"/>
          </a:xfrm>
          <a:prstGeom prst="rect">
            <a:avLst/>
          </a:prstGeom>
          <a:noFill/>
          <a:ln/>
        </p:spPr>
        <p:txBody>
          <a:bodyPr wrap="square" lIns="0" tIns="0" rIns="0" bIns="0" rtlCol="0" anchor="ctr"/>
          <a:lstStyle/>
          <a:p>
            <a:pPr algn="ctr" indent="0" marL="0">
              <a:buNone/>
            </a:pPr>
            <a:r>
              <a:rPr lang="en-US" sz="1800" b="1" dirty="0">
                <a:solidFill>
                  <a:schemeClr val="tx2"/>
                </a:solidFill>
              </a:rPr>
              <a:t>2026</a:t>
            </a:r>
            <a:endParaRPr lang="en-US" sz="1800" dirty="0"/>
          </a:p>
        </p:txBody>
      </p:sp>
      <p:sp>
        <p:nvSpPr>
          <p:cNvPr id="23" name="a3-c"/>
          <p:cNvSpPr/>
          <p:nvPr/>
        </p:nvSpPr>
        <p:spPr>
          <a:xfrm>
            <a:off x="548640" y="3520440"/>
            <a:ext cx="3474720" cy="2103120"/>
          </a:xfrm>
          <a:prstGeom prst="roundRect">
            <a:avLst>
              <a:gd name="adj" fmla="val 5217"/>
            </a:avLst>
          </a:prstGeom>
          <a:solidFill>
            <a:schemeClr val="bg2"/>
          </a:solidFill>
          <a:ln/>
        </p:spPr>
      </p:sp>
      <p:sp>
        <p:nvSpPr>
          <p:cNvPr id="24" name="a3-h"/>
          <p:cNvSpPr txBox="1"/>
          <p:nvPr/>
        </p:nvSpPr>
        <p:spPr>
          <a:xfrm>
            <a:off x="822960" y="3749040"/>
            <a:ext cx="2926080" cy="411480"/>
          </a:xfrm>
          <a:prstGeom prst="rect">
            <a:avLst/>
          </a:prstGeom>
          <a:noFill/>
          <a:ln/>
        </p:spPr>
        <p:txBody>
          <a:bodyPr wrap="square" lIns="0" tIns="0" rIns="0" bIns="0" rtlCol="0" anchor="ctr"/>
          <a:lstStyle/>
          <a:p>
            <a:pPr indent="0" marL="0">
              <a:buNone/>
            </a:pPr>
            <a:r>
              <a:rPr lang="en-US" sz="2000" b="1" dirty="0">
                <a:solidFill>
                  <a:schemeClr val="accent1"/>
                </a:solidFill>
              </a:rPr>
              <a:t>The Challenge</a:t>
            </a:r>
            <a:endParaRPr lang="en-US" sz="2000" dirty="0"/>
          </a:p>
        </p:txBody>
      </p:sp>
      <p:sp>
        <p:nvSpPr>
          <p:cNvPr id="25" name="a3-t"/>
          <p:cNvSpPr txBox="1"/>
          <p:nvPr/>
        </p:nvSpPr>
        <p:spPr>
          <a:xfrm>
            <a:off x="822960" y="4206240"/>
            <a:ext cx="2926080" cy="1325880"/>
          </a:xfrm>
          <a:prstGeom prst="rect">
            <a:avLst/>
          </a:prstGeom>
          <a:noFill/>
          <a:ln/>
        </p:spPr>
        <p:txBody>
          <a:bodyPr wrap="square" lIns="0" tIns="0" rIns="0" bIns="0" rtlCol="0" anchor="t"/>
          <a:lstStyle/>
          <a:p>
            <a:pPr indent="0" marL="0">
              <a:buNone/>
            </a:pPr>
            <a:r>
              <a:rPr lang="en-US" sz="1500" dirty="0">
                <a:solidFill>
                  <a:schemeClr val="tx1"/>
                </a:solidFill>
              </a:rPr>
              <a:t>Six years of financial records, from 2021 to 2026, had to be rebuilt from the ground up.</a:t>
            </a:r>
            <a:endParaRPr lang="en-US" sz="1500" dirty="0"/>
          </a:p>
        </p:txBody>
      </p:sp>
      <p:sp>
        <p:nvSpPr>
          <p:cNvPr id="26" name="a4-c"/>
          <p:cNvSpPr/>
          <p:nvPr/>
        </p:nvSpPr>
        <p:spPr>
          <a:xfrm>
            <a:off x="4297680" y="3520440"/>
            <a:ext cx="3474720" cy="2103120"/>
          </a:xfrm>
          <a:prstGeom prst="roundRect">
            <a:avLst>
              <a:gd name="adj" fmla="val 5217"/>
            </a:avLst>
          </a:prstGeom>
          <a:solidFill>
            <a:schemeClr val="bg2"/>
          </a:solidFill>
          <a:ln/>
        </p:spPr>
      </p:sp>
      <p:sp>
        <p:nvSpPr>
          <p:cNvPr id="27" name="a4-h"/>
          <p:cNvSpPr txBox="1"/>
          <p:nvPr/>
        </p:nvSpPr>
        <p:spPr>
          <a:xfrm>
            <a:off x="4572000" y="3749040"/>
            <a:ext cx="2926080" cy="411480"/>
          </a:xfrm>
          <a:prstGeom prst="rect">
            <a:avLst/>
          </a:prstGeom>
          <a:noFill/>
          <a:ln/>
        </p:spPr>
        <p:txBody>
          <a:bodyPr wrap="square" lIns="0" tIns="0" rIns="0" bIns="0" rtlCol="0" anchor="ctr"/>
          <a:lstStyle/>
          <a:p>
            <a:pPr indent="0" marL="0">
              <a:buNone/>
            </a:pPr>
            <a:r>
              <a:rPr lang="en-US" sz="2000" b="1" dirty="0">
                <a:solidFill>
                  <a:schemeClr val="accent1"/>
                </a:solidFill>
              </a:rPr>
              <a:t>Our Approach</a:t>
            </a:r>
            <a:endParaRPr lang="en-US" sz="2000" dirty="0"/>
          </a:p>
        </p:txBody>
      </p:sp>
      <p:sp>
        <p:nvSpPr>
          <p:cNvPr id="28" name="a4-t"/>
          <p:cNvSpPr txBox="1"/>
          <p:nvPr/>
        </p:nvSpPr>
        <p:spPr>
          <a:xfrm>
            <a:off x="4572000" y="4206240"/>
            <a:ext cx="2926080" cy="1325880"/>
          </a:xfrm>
          <a:prstGeom prst="rect">
            <a:avLst/>
          </a:prstGeom>
          <a:noFill/>
          <a:ln/>
        </p:spPr>
        <p:txBody>
          <a:bodyPr wrap="square" lIns="0" tIns="0" rIns="0" bIns="0" rtlCol="0" anchor="t"/>
          <a:lstStyle/>
          <a:p>
            <a:pPr indent="0" marL="0">
              <a:buNone/>
            </a:pPr>
            <a:r>
              <a:rPr lang="en-US" sz="1500" dirty="0">
                <a:solidFill>
                  <a:schemeClr val="tx1"/>
                </a:solidFill>
              </a:rPr>
              <a:t>We gathered the source documents, rebuilt the books year by year and reconciled every account.</a:t>
            </a:r>
            <a:endParaRPr lang="en-US" sz="1500" dirty="0"/>
          </a:p>
        </p:txBody>
      </p:sp>
      <p:sp>
        <p:nvSpPr>
          <p:cNvPr id="29" name="a5-c"/>
          <p:cNvSpPr/>
          <p:nvPr/>
        </p:nvSpPr>
        <p:spPr>
          <a:xfrm>
            <a:off x="8046720" y="3520440"/>
            <a:ext cx="3474720" cy="2103120"/>
          </a:xfrm>
          <a:prstGeom prst="roundRect">
            <a:avLst>
              <a:gd name="adj" fmla="val 5217"/>
            </a:avLst>
          </a:prstGeom>
          <a:solidFill>
            <a:schemeClr val="tx2"/>
          </a:solidFill>
          <a:ln/>
        </p:spPr>
      </p:sp>
      <p:sp>
        <p:nvSpPr>
          <p:cNvPr id="30" name="a5-h"/>
          <p:cNvSpPr txBox="1"/>
          <p:nvPr/>
        </p:nvSpPr>
        <p:spPr>
          <a:xfrm>
            <a:off x="8321040" y="3749040"/>
            <a:ext cx="2926080" cy="411480"/>
          </a:xfrm>
          <a:prstGeom prst="rect">
            <a:avLst/>
          </a:prstGeom>
          <a:noFill/>
          <a:ln/>
        </p:spPr>
        <p:txBody>
          <a:bodyPr wrap="square" lIns="0" tIns="0" rIns="0" bIns="0" rtlCol="0" anchor="ctr"/>
          <a:lstStyle/>
          <a:p>
            <a:pPr indent="0" marL="0">
              <a:buNone/>
            </a:pPr>
            <a:r>
              <a:rPr lang="en-US" sz="2000" b="1" dirty="0">
                <a:solidFill>
                  <a:schemeClr val="bg1"/>
                </a:solidFill>
              </a:rPr>
              <a:t>The Outcome</a:t>
            </a:r>
            <a:endParaRPr lang="en-US" sz="2000" dirty="0"/>
          </a:p>
        </p:txBody>
      </p:sp>
      <p:sp>
        <p:nvSpPr>
          <p:cNvPr id="31" name="a5-t"/>
          <p:cNvSpPr txBox="1"/>
          <p:nvPr/>
        </p:nvSpPr>
        <p:spPr>
          <a:xfrm>
            <a:off x="8321040" y="4206240"/>
            <a:ext cx="2926080" cy="1325880"/>
          </a:xfrm>
          <a:prstGeom prst="rect">
            <a:avLst/>
          </a:prstGeom>
          <a:noFill/>
          <a:ln/>
        </p:spPr>
        <p:txBody>
          <a:bodyPr wrap="square" lIns="0" tIns="0" rIns="0" bIns="0" rtlCol="0" anchor="t"/>
          <a:lstStyle/>
          <a:p>
            <a:pPr indent="0" marL="0">
              <a:buNone/>
            </a:pPr>
            <a:r>
              <a:rPr lang="en-US" sz="1500" dirty="0">
                <a:solidFill>
                  <a:schemeClr val="bg1"/>
                </a:solidFill>
              </a:rPr>
              <a:t>Complete, reliable records for every year, ready for the accountant's review and tax filing.</a:t>
            </a:r>
            <a:endParaRPr lang="en-US" sz="15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7</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childTnLst>
                          </p:cTn>
                        </p:par>
                        <p:par>
                          <p:cTn id="65" fill="hold">
                            <p:stCondLst>
                              <p:cond delay="75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childTnLst>
                          </p:cTn>
                        </p:par>
                        <p:par>
                          <p:cTn id="75" fill="hold">
                            <p:stCondLst>
                              <p:cond delay="1200"/>
                            </p:stCondLst>
                            <p:childTnLst>
                              <p:par>
                                <p:cTn id="66" presetID="10" presetClass="entr" presetSubtype="0" fill="hold" grpId="0"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childTnLst>
                          </p:cTn>
                        </p:par>
                        <p:par>
                          <p:cTn id="85" fill="hold">
                            <p:stCondLst>
                              <p:cond delay="1650"/>
                            </p:stCondLst>
                            <p:childTnLst>
                              <p:par>
                                <p:cTn id="76" presetID="10" presetClass="entr" presetSubtype="0" fill="hold" grpId="0" nodeType="after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childTnLst>
                          </p:cTn>
                        </p:par>
                        <p:par>
                          <p:cTn id="95" fill="hold">
                            <p:stCondLst>
                              <p:cond delay="2100"/>
                            </p:stCondLst>
                            <p:childTnLst>
                              <p:par>
                                <p:cTn id="86" presetID="10" presetClass="entr" presetSubtype="0" fill="hold" grpId="0" nodeType="after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509760" cy="777240"/>
          </a:xfrm>
          <a:prstGeom prst="rect">
            <a:avLst/>
          </a:prstGeom>
          <a:noFill/>
          <a:ln/>
        </p:spPr>
        <p:txBody>
          <a:bodyPr wrap="square" lIns="0" tIns="0" rIns="0" bIns="0" rtlCol="0" anchor="ctr"/>
          <a:lstStyle/>
          <a:p>
            <a:pPr algn="l" indent="0" marL="0">
              <a:buNone/>
            </a:pPr>
            <a:r>
              <a:rPr lang="en-US" sz="3600" b="1" dirty="0">
                <a:solidFill>
                  <a:schemeClr val="tx2"/>
                </a:solidFill>
              </a:rPr>
              <a:t>Australia</a:t>
            </a:r>
            <a:endParaRPr lang="en-US" sz="3600" dirty="0"/>
          </a:p>
        </p:txBody>
      </p:sp>
      <p:sp>
        <p:nvSpPr>
          <p:cNvPr id="3" name="a1-sub"/>
          <p:cNvSpPr txBox="1"/>
          <p:nvPr/>
        </p:nvSpPr>
        <p:spPr>
          <a:xfrm>
            <a:off x="548640" y="1143000"/>
            <a:ext cx="10972800" cy="411480"/>
          </a:xfrm>
          <a:prstGeom prst="rect">
            <a:avLst/>
          </a:prstGeom>
          <a:noFill/>
          <a:ln/>
        </p:spPr>
        <p:txBody>
          <a:bodyPr wrap="square" lIns="0" tIns="0" rIns="0" bIns="0" rtlCol="0" anchor="ctr"/>
          <a:lstStyle/>
          <a:p>
            <a:pPr indent="0" marL="0">
              <a:buNone/>
            </a:pPr>
            <a:r>
              <a:rPr lang="en-US" sz="1800" dirty="0">
                <a:solidFill>
                  <a:schemeClr val="accent5"/>
                </a:solidFill>
              </a:rPr>
              <a:t>Partner firm: Stone Group Accounting Firm  ·  Clients: medical practices and SMEs</a:t>
            </a:r>
            <a:endParaRPr lang="en-US" sz="1800" dirty="0"/>
          </a:p>
        </p:txBody>
      </p:sp>
      <p:sp>
        <p:nvSpPr>
          <p:cNvPr id="4" name="a2-tag"/>
          <p:cNvSpPr txBox="1"/>
          <p:nvPr/>
        </p:nvSpPr>
        <p:spPr>
          <a:xfrm>
            <a:off x="548640" y="1737360"/>
            <a:ext cx="54864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LOTUS BPO</a:t>
            </a:r>
            <a:endParaRPr lang="en-US" sz="1200" dirty="0"/>
          </a:p>
        </p:txBody>
      </p:sp>
      <p:sp>
        <p:nvSpPr>
          <p:cNvPr id="5" name="a2-c"/>
          <p:cNvSpPr/>
          <p:nvPr/>
        </p:nvSpPr>
        <p:spPr>
          <a:xfrm>
            <a:off x="548640" y="2148840"/>
            <a:ext cx="3337560" cy="3154680"/>
          </a:xfrm>
          <a:prstGeom prst="roundRect">
            <a:avLst>
              <a:gd name="adj" fmla="val 3478"/>
            </a:avLst>
          </a:prstGeom>
          <a:solidFill>
            <a:schemeClr val="accent2"/>
          </a:solidFill>
          <a:ln/>
        </p:spPr>
      </p:sp>
      <p:sp>
        <p:nvSpPr>
          <p:cNvPr id="6" name="a2-d"/>
          <p:cNvSpPr/>
          <p:nvPr/>
        </p:nvSpPr>
        <p:spPr>
          <a:xfrm>
            <a:off x="822960" y="2423160"/>
            <a:ext cx="777240" cy="777240"/>
          </a:xfrm>
          <a:prstGeom prst="ellipse">
            <a:avLst/>
          </a:prstGeom>
          <a:solidFill>
            <a:schemeClr val="bg1"/>
          </a:solidFill>
          <a:ln/>
        </p:spPr>
      </p:sp>
      <p:pic>
        <p:nvPicPr>
          <p:cNvPr id="7" name="a2-d-i" descr="preencoded.png">    </p:cNvPr>
          <p:cNvPicPr>
            <a:picLocks noChangeAspect="1"/>
          </p:cNvPicPr>
          <p:nvPr/>
        </p:nvPicPr>
        <p:blipFill>
          <a:blip r:embed="rId1"/>
          <a:stretch>
            <a:fillRect/>
          </a:stretch>
        </p:blipFill>
        <p:spPr>
          <a:xfrm>
            <a:off x="1017270" y="2617470"/>
            <a:ext cx="388620" cy="388620"/>
          </a:xfrm>
          <a:prstGeom prst="rect">
            <a:avLst/>
          </a:prstGeom>
        </p:spPr>
      </p:pic>
      <p:sp>
        <p:nvSpPr>
          <p:cNvPr id="8" name="a2-h"/>
          <p:cNvSpPr txBox="1"/>
          <p:nvPr/>
        </p:nvSpPr>
        <p:spPr>
          <a:xfrm>
            <a:off x="822960" y="3337560"/>
            <a:ext cx="2788920" cy="457200"/>
          </a:xfrm>
          <a:prstGeom prst="rect">
            <a:avLst/>
          </a:prstGeom>
          <a:noFill/>
          <a:ln/>
        </p:spPr>
        <p:txBody>
          <a:bodyPr wrap="square" lIns="0" tIns="0" rIns="0" bIns="0" rtlCol="0" anchor="ctr"/>
          <a:lstStyle/>
          <a:p>
            <a:pPr indent="0" marL="0">
              <a:buNone/>
            </a:pPr>
            <a:r>
              <a:rPr lang="en-US" sz="2400" b="1" dirty="0">
                <a:solidFill>
                  <a:schemeClr val="bg1"/>
                </a:solidFill>
              </a:rPr>
              <a:t>Xero Blue</a:t>
            </a:r>
            <a:endParaRPr lang="en-US" sz="2400" dirty="0"/>
          </a:p>
        </p:txBody>
      </p:sp>
      <p:sp>
        <p:nvSpPr>
          <p:cNvPr id="9" name="a2-s"/>
          <p:cNvSpPr txBox="1"/>
          <p:nvPr/>
        </p:nvSpPr>
        <p:spPr>
          <a:xfrm>
            <a:off x="822960" y="3794760"/>
            <a:ext cx="2788920" cy="320040"/>
          </a:xfrm>
          <a:prstGeom prst="rect">
            <a:avLst/>
          </a:prstGeom>
          <a:noFill/>
          <a:ln/>
        </p:spPr>
        <p:txBody>
          <a:bodyPr wrap="square" lIns="0" tIns="0" rIns="0" bIns="0" rtlCol="0" anchor="ctr"/>
          <a:lstStyle/>
          <a:p>
            <a:pPr indent="0" marL="0">
              <a:buNone/>
            </a:pPr>
            <a:r>
              <a:rPr lang="en-US" sz="1400" b="1" dirty="0">
                <a:solidFill>
                  <a:schemeClr val="accent4"/>
                </a:solidFill>
              </a:rPr>
              <a:t>The client's books</a:t>
            </a:r>
            <a:endParaRPr lang="en-US" sz="1400" dirty="0"/>
          </a:p>
        </p:txBody>
      </p:sp>
      <p:sp>
        <p:nvSpPr>
          <p:cNvPr id="10" name="a2-t"/>
          <p:cNvSpPr txBox="1"/>
          <p:nvPr/>
        </p:nvSpPr>
        <p:spPr>
          <a:xfrm>
            <a:off x="822960" y="4160520"/>
            <a:ext cx="2880360" cy="1005840"/>
          </a:xfrm>
          <a:prstGeom prst="rect">
            <a:avLst/>
          </a:prstGeom>
          <a:noFill/>
          <a:ln/>
        </p:spPr>
        <p:txBody>
          <a:bodyPr wrap="square" lIns="0" tIns="0" rIns="0" bIns="0" rtlCol="0" anchor="t"/>
          <a:lstStyle/>
          <a:p>
            <a:pPr indent="0" marL="0">
              <a:buNone/>
            </a:pPr>
            <a:r>
              <a:rPr lang="en-US" sz="1500" dirty="0">
                <a:solidFill>
                  <a:schemeClr val="bg1"/>
                </a:solidFill>
              </a:rPr>
              <a:t>We keep the books and prepare the BAS every quarter.</a:t>
            </a:r>
            <a:endParaRPr lang="en-US" sz="1500" dirty="0"/>
          </a:p>
        </p:txBody>
      </p:sp>
      <p:sp>
        <p:nvSpPr>
          <p:cNvPr id="11" name="a3-ar"/>
          <p:cNvSpPr/>
          <p:nvPr/>
        </p:nvSpPr>
        <p:spPr>
          <a:xfrm>
            <a:off x="3959352" y="3520440"/>
            <a:ext cx="310896" cy="411480"/>
          </a:xfrm>
          <a:prstGeom prst="rightArrow">
            <a:avLst/>
          </a:prstGeom>
          <a:solidFill>
            <a:schemeClr val="accent3"/>
          </a:solidFill>
          <a:ln/>
        </p:spPr>
      </p:sp>
      <p:sp>
        <p:nvSpPr>
          <p:cNvPr id="12" name="a3-tag"/>
          <p:cNvSpPr txBox="1"/>
          <p:nvPr/>
        </p:nvSpPr>
        <p:spPr>
          <a:xfrm>
            <a:off x="4343400" y="1737360"/>
            <a:ext cx="5486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YOUR FIRM</a:t>
            </a:r>
            <a:endParaRPr lang="en-US" sz="1200" dirty="0"/>
          </a:p>
        </p:txBody>
      </p:sp>
      <p:sp>
        <p:nvSpPr>
          <p:cNvPr id="13" name="a3-c"/>
          <p:cNvSpPr/>
          <p:nvPr/>
        </p:nvSpPr>
        <p:spPr>
          <a:xfrm>
            <a:off x="4343400" y="2148840"/>
            <a:ext cx="3337560" cy="3154680"/>
          </a:xfrm>
          <a:prstGeom prst="roundRect">
            <a:avLst>
              <a:gd name="adj" fmla="val 3478"/>
            </a:avLst>
          </a:prstGeom>
          <a:solidFill>
            <a:schemeClr val="accent1"/>
          </a:solidFill>
          <a:ln/>
        </p:spPr>
      </p:sp>
      <p:sp>
        <p:nvSpPr>
          <p:cNvPr id="14" name="a3-d"/>
          <p:cNvSpPr/>
          <p:nvPr/>
        </p:nvSpPr>
        <p:spPr>
          <a:xfrm>
            <a:off x="4617720" y="2423160"/>
            <a:ext cx="777240" cy="777240"/>
          </a:xfrm>
          <a:prstGeom prst="ellipse">
            <a:avLst/>
          </a:prstGeom>
          <a:solidFill>
            <a:schemeClr val="bg1"/>
          </a:solidFill>
          <a:ln/>
        </p:spPr>
      </p:sp>
      <p:pic>
        <p:nvPicPr>
          <p:cNvPr id="15" name="a3-d-i" descr="preencoded.png">    </p:cNvPr>
          <p:cNvPicPr>
            <a:picLocks noChangeAspect="1"/>
          </p:cNvPicPr>
          <p:nvPr/>
        </p:nvPicPr>
        <p:blipFill>
          <a:blip r:embed="rId2"/>
          <a:stretch>
            <a:fillRect/>
          </a:stretch>
        </p:blipFill>
        <p:spPr>
          <a:xfrm>
            <a:off x="4812030" y="2617470"/>
            <a:ext cx="388620" cy="388620"/>
          </a:xfrm>
          <a:prstGeom prst="rect">
            <a:avLst/>
          </a:prstGeom>
        </p:spPr>
      </p:pic>
      <p:sp>
        <p:nvSpPr>
          <p:cNvPr id="16" name="a3-h"/>
          <p:cNvSpPr txBox="1"/>
          <p:nvPr/>
        </p:nvSpPr>
        <p:spPr>
          <a:xfrm>
            <a:off x="4617720" y="3337560"/>
            <a:ext cx="2788920" cy="457200"/>
          </a:xfrm>
          <a:prstGeom prst="rect">
            <a:avLst/>
          </a:prstGeom>
          <a:noFill/>
          <a:ln/>
        </p:spPr>
        <p:txBody>
          <a:bodyPr wrap="square" lIns="0" tIns="0" rIns="0" bIns="0" rtlCol="0" anchor="ctr"/>
          <a:lstStyle/>
          <a:p>
            <a:pPr indent="0" marL="0">
              <a:buNone/>
            </a:pPr>
            <a:r>
              <a:rPr lang="en-US" sz="2400" b="1" dirty="0">
                <a:solidFill>
                  <a:schemeClr val="bg1"/>
                </a:solidFill>
              </a:rPr>
              <a:t>Xero Red</a:t>
            </a:r>
            <a:endParaRPr lang="en-US" sz="2400" dirty="0"/>
          </a:p>
        </p:txBody>
      </p:sp>
      <p:sp>
        <p:nvSpPr>
          <p:cNvPr id="17" name="a3-s"/>
          <p:cNvSpPr txBox="1"/>
          <p:nvPr/>
        </p:nvSpPr>
        <p:spPr>
          <a:xfrm>
            <a:off x="4617720" y="3794760"/>
            <a:ext cx="2788920" cy="320040"/>
          </a:xfrm>
          <a:prstGeom prst="rect">
            <a:avLst/>
          </a:prstGeom>
          <a:noFill/>
          <a:ln/>
        </p:spPr>
        <p:txBody>
          <a:bodyPr wrap="square" lIns="0" tIns="0" rIns="0" bIns="0" rtlCol="0" anchor="ctr"/>
          <a:lstStyle/>
          <a:p>
            <a:pPr indent="0" marL="0">
              <a:buNone/>
            </a:pPr>
            <a:r>
              <a:rPr lang="en-US" sz="1400" b="1" dirty="0">
                <a:solidFill>
                  <a:schemeClr val="accent4"/>
                </a:solidFill>
              </a:rPr>
              <a:t>The firm's tax side</a:t>
            </a:r>
            <a:endParaRPr lang="en-US" sz="1400" dirty="0"/>
          </a:p>
        </p:txBody>
      </p:sp>
      <p:sp>
        <p:nvSpPr>
          <p:cNvPr id="18" name="a3-t"/>
          <p:cNvSpPr txBox="1"/>
          <p:nvPr/>
        </p:nvSpPr>
        <p:spPr>
          <a:xfrm>
            <a:off x="4617720" y="4160520"/>
            <a:ext cx="2880360" cy="1005840"/>
          </a:xfrm>
          <a:prstGeom prst="rect">
            <a:avLst/>
          </a:prstGeom>
          <a:noFill/>
          <a:ln/>
        </p:spPr>
        <p:txBody>
          <a:bodyPr wrap="square" lIns="0" tIns="0" rIns="0" bIns="0" rtlCol="0" anchor="t"/>
          <a:lstStyle/>
          <a:p>
            <a:pPr indent="0" marL="0">
              <a:buNone/>
            </a:pPr>
            <a:r>
              <a:rPr lang="en-US" sz="1500" dirty="0">
                <a:solidFill>
                  <a:schemeClr val="bg1"/>
                </a:solidFill>
              </a:rPr>
              <a:t>Figures flow across automatically. The firm reviews the BAS.</a:t>
            </a:r>
            <a:endParaRPr lang="en-US" sz="1500" dirty="0"/>
          </a:p>
        </p:txBody>
      </p:sp>
      <p:sp>
        <p:nvSpPr>
          <p:cNvPr id="19" name="a4-ar"/>
          <p:cNvSpPr/>
          <p:nvPr/>
        </p:nvSpPr>
        <p:spPr>
          <a:xfrm>
            <a:off x="7754112" y="3520440"/>
            <a:ext cx="310896" cy="411480"/>
          </a:xfrm>
          <a:prstGeom prst="rightArrow">
            <a:avLst/>
          </a:prstGeom>
          <a:solidFill>
            <a:schemeClr val="accent3"/>
          </a:solidFill>
          <a:ln/>
        </p:spPr>
      </p:sp>
      <p:sp>
        <p:nvSpPr>
          <p:cNvPr id="20" name="a4-c"/>
          <p:cNvSpPr/>
          <p:nvPr/>
        </p:nvSpPr>
        <p:spPr>
          <a:xfrm>
            <a:off x="8138160" y="2148840"/>
            <a:ext cx="3337560" cy="3154680"/>
          </a:xfrm>
          <a:prstGeom prst="roundRect">
            <a:avLst>
              <a:gd name="adj" fmla="val 3478"/>
            </a:avLst>
          </a:prstGeom>
          <a:solidFill>
            <a:schemeClr val="tx2"/>
          </a:solidFill>
          <a:ln/>
        </p:spPr>
      </p:sp>
      <p:sp>
        <p:nvSpPr>
          <p:cNvPr id="21" name="a4-d"/>
          <p:cNvSpPr/>
          <p:nvPr/>
        </p:nvSpPr>
        <p:spPr>
          <a:xfrm>
            <a:off x="8412480" y="2423160"/>
            <a:ext cx="777240" cy="777240"/>
          </a:xfrm>
          <a:prstGeom prst="ellipse">
            <a:avLst/>
          </a:prstGeom>
          <a:solidFill>
            <a:schemeClr val="bg1"/>
          </a:solidFill>
          <a:ln/>
        </p:spPr>
      </p:sp>
      <p:pic>
        <p:nvPicPr>
          <p:cNvPr id="22" name="a4-d-i" descr="preencoded.png">    </p:cNvPr>
          <p:cNvPicPr>
            <a:picLocks noChangeAspect="1"/>
          </p:cNvPicPr>
          <p:nvPr/>
        </p:nvPicPr>
        <p:blipFill>
          <a:blip r:embed="rId3"/>
          <a:stretch>
            <a:fillRect/>
          </a:stretch>
        </p:blipFill>
        <p:spPr>
          <a:xfrm>
            <a:off x="8606790" y="2617470"/>
            <a:ext cx="388620" cy="388620"/>
          </a:xfrm>
          <a:prstGeom prst="rect">
            <a:avLst/>
          </a:prstGeom>
        </p:spPr>
      </p:pic>
      <p:sp>
        <p:nvSpPr>
          <p:cNvPr id="23" name="a4-h"/>
          <p:cNvSpPr txBox="1"/>
          <p:nvPr/>
        </p:nvSpPr>
        <p:spPr>
          <a:xfrm>
            <a:off x="8412480" y="3337560"/>
            <a:ext cx="2788920" cy="457200"/>
          </a:xfrm>
          <a:prstGeom prst="rect">
            <a:avLst/>
          </a:prstGeom>
          <a:noFill/>
          <a:ln/>
        </p:spPr>
        <p:txBody>
          <a:bodyPr wrap="square" lIns="0" tIns="0" rIns="0" bIns="0" rtlCol="0" anchor="ctr"/>
          <a:lstStyle/>
          <a:p>
            <a:pPr indent="0" marL="0">
              <a:buNone/>
            </a:pPr>
            <a:r>
              <a:rPr lang="en-US" sz="2400" b="1" dirty="0">
                <a:solidFill>
                  <a:schemeClr val="bg1"/>
                </a:solidFill>
              </a:rPr>
              <a:t>ATO</a:t>
            </a:r>
            <a:endParaRPr lang="en-US" sz="2400" dirty="0"/>
          </a:p>
        </p:txBody>
      </p:sp>
      <p:sp>
        <p:nvSpPr>
          <p:cNvPr id="24" name="a4-s"/>
          <p:cNvSpPr txBox="1"/>
          <p:nvPr/>
        </p:nvSpPr>
        <p:spPr>
          <a:xfrm>
            <a:off x="8412480" y="3794760"/>
            <a:ext cx="2788920" cy="320040"/>
          </a:xfrm>
          <a:prstGeom prst="rect">
            <a:avLst/>
          </a:prstGeom>
          <a:noFill/>
          <a:ln/>
        </p:spPr>
        <p:txBody>
          <a:bodyPr wrap="square" lIns="0" tIns="0" rIns="0" bIns="0" rtlCol="0" anchor="ctr"/>
          <a:lstStyle/>
          <a:p>
            <a:pPr indent="0" marL="0">
              <a:buNone/>
            </a:pPr>
            <a:r>
              <a:rPr lang="en-US" sz="1400" b="1" dirty="0">
                <a:solidFill>
                  <a:schemeClr val="accent4"/>
                </a:solidFill>
              </a:rPr>
              <a:t>Australian Taxation Office</a:t>
            </a:r>
            <a:endParaRPr lang="en-US" sz="1400" dirty="0"/>
          </a:p>
        </p:txBody>
      </p:sp>
      <p:sp>
        <p:nvSpPr>
          <p:cNvPr id="25" name="a4-t"/>
          <p:cNvSpPr txBox="1"/>
          <p:nvPr/>
        </p:nvSpPr>
        <p:spPr>
          <a:xfrm>
            <a:off x="8412480" y="4160520"/>
            <a:ext cx="2880360" cy="1005840"/>
          </a:xfrm>
          <a:prstGeom prst="rect">
            <a:avLst/>
          </a:prstGeom>
          <a:noFill/>
          <a:ln/>
        </p:spPr>
        <p:txBody>
          <a:bodyPr wrap="square" lIns="0" tIns="0" rIns="0" bIns="0" rtlCol="0" anchor="t"/>
          <a:lstStyle/>
          <a:p>
            <a:pPr indent="0" marL="0">
              <a:buNone/>
            </a:pPr>
            <a:r>
              <a:rPr lang="en-US" sz="1500" dirty="0">
                <a:solidFill>
                  <a:schemeClr val="bg1"/>
                </a:solidFill>
              </a:rPr>
              <a:t>The firm lodges the BAS. We never lodge on our own.</a:t>
            </a:r>
            <a:endParaRPr lang="en-US" sz="1500" dirty="0"/>
          </a:p>
        </p:txBody>
      </p:sp>
      <p:sp>
        <p:nvSpPr>
          <p:cNvPr id="26" name="a5-n"/>
          <p:cNvSpPr txBox="1"/>
          <p:nvPr/>
        </p:nvSpPr>
        <p:spPr>
          <a:xfrm>
            <a:off x="548640" y="5532120"/>
            <a:ext cx="9509760" cy="548640"/>
          </a:xfrm>
          <a:prstGeom prst="rect">
            <a:avLst/>
          </a:prstGeom>
          <a:noFill/>
          <a:ln/>
        </p:spPr>
        <p:txBody>
          <a:bodyPr wrap="square" lIns="0" tIns="0" rIns="0" bIns="0" rtlCol="0" anchor="ctr"/>
          <a:lstStyle/>
          <a:p>
            <a:pPr indent="0" marL="0">
              <a:buNone/>
            </a:pPr>
            <a:r>
              <a:rPr lang="en-US" sz="1400" b="1" dirty="0">
                <a:solidFill>
                  <a:schemeClr val="tx2"/>
                </a:solidFill>
              </a:rPr>
              <a:t>In short: </a:t>
            </a:r>
            <a:pPr indent="0" marL="0">
              <a:buNone/>
            </a:pPr>
            <a:r>
              <a:rPr lang="en-US" sz="1400" dirty="0">
                <a:solidFill>
                  <a:schemeClr val="tx1"/>
                </a:solidFill>
              </a:rPr>
              <a:t>Xero Blue is where the client's books live. Xero Red is the accounting firm's side of Xero, linked to the ATO.</a:t>
            </a:r>
            <a:endParaRPr lang="en-US" sz="14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8</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childTnLst>
                          </p:cTn>
                        </p:par>
                        <p:par>
                          <p:cTn id="29" fill="hold">
                            <p:stCondLst>
                              <p:cond delay="75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par>
                          <p:cTn id="54" fill="hold">
                            <p:stCondLst>
                              <p:cond delay="1200"/>
                            </p:stCondLst>
                            <p:childTnLst>
                              <p:par>
                                <p:cTn id="30" presetID="10" presetClass="entr" presetSubtype="0"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par>
                          <p:cTn id="76" fill="hold">
                            <p:stCondLst>
                              <p:cond delay="1650"/>
                            </p:stCondLst>
                            <p:childTnLst>
                              <p:par>
                                <p:cTn id="55" presetID="10" presetClass="entr" presetSubtype="0" fill="hold" grpId="0" nodeType="after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par>
                          <p:cTn id="80" fill="hold">
                            <p:stCondLst>
                              <p:cond delay="2100"/>
                            </p:stCondLst>
                            <p:childTnLst>
                              <p:par>
                                <p:cTn id="77" presetID="10" presetClass="entr" presetSubtype="0" fill="hold" grpId="0" nodeType="after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3" grpId="0" animBg="1"/>
      <p:bldP spid="24" grpId="0" animBg="1"/>
      <p:bldP spid="25" grpId="0" animBg="1"/>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509760" cy="777240"/>
          </a:xfrm>
          <a:prstGeom prst="rect">
            <a:avLst/>
          </a:prstGeom>
          <a:noFill/>
          <a:ln/>
        </p:spPr>
        <p:txBody>
          <a:bodyPr wrap="square" lIns="0" tIns="0" rIns="0" bIns="0" rtlCol="0" anchor="ctr"/>
          <a:lstStyle/>
          <a:p>
            <a:pPr algn="l" indent="0" marL="0">
              <a:buNone/>
            </a:pPr>
            <a:r>
              <a:rPr lang="en-US" sz="3600" b="1" dirty="0">
                <a:solidFill>
                  <a:schemeClr val="tx2"/>
                </a:solidFill>
              </a:rPr>
              <a:t>United States</a:t>
            </a:r>
            <a:endParaRPr lang="en-US" sz="3600" dirty="0"/>
          </a:p>
        </p:txBody>
      </p:sp>
      <p:sp>
        <p:nvSpPr>
          <p:cNvPr id="3" name="a1-sub"/>
          <p:cNvSpPr txBox="1"/>
          <p:nvPr/>
        </p:nvSpPr>
        <p:spPr>
          <a:xfrm>
            <a:off x="548640" y="1143000"/>
            <a:ext cx="5852160" cy="411480"/>
          </a:xfrm>
          <a:prstGeom prst="rect">
            <a:avLst/>
          </a:prstGeom>
          <a:noFill/>
          <a:ln/>
        </p:spPr>
        <p:txBody>
          <a:bodyPr wrap="square" lIns="0" tIns="0" rIns="0" bIns="0" rtlCol="0" anchor="ctr"/>
          <a:lstStyle/>
          <a:p>
            <a:pPr indent="0" marL="0">
              <a:buNone/>
            </a:pPr>
            <a:r>
              <a:rPr lang="en-US" sz="1800" dirty="0">
                <a:solidFill>
                  <a:schemeClr val="accent5"/>
                </a:solidFill>
              </a:rPr>
              <a:t>Tax and advisory support for small and mid-sized businesses</a:t>
            </a:r>
            <a:endParaRPr lang="en-US" sz="1800" dirty="0"/>
          </a:p>
        </p:txBody>
      </p:sp>
      <p:sp>
        <p:nvSpPr>
          <p:cNvPr id="4" name="a2-d"/>
          <p:cNvSpPr/>
          <p:nvPr/>
        </p:nvSpPr>
        <p:spPr>
          <a:xfrm>
            <a:off x="548640" y="1874520"/>
            <a:ext cx="868680" cy="868680"/>
          </a:xfrm>
          <a:prstGeom prst="ellipse">
            <a:avLst/>
          </a:prstGeom>
          <a:solidFill>
            <a:schemeClr val="tx2"/>
          </a:solidFill>
          <a:ln/>
        </p:spPr>
      </p:sp>
      <p:pic>
        <p:nvPicPr>
          <p:cNvPr id="5" name="a2-d-i" descr="preencoded.png">    </p:cNvPr>
          <p:cNvPicPr>
            <a:picLocks noChangeAspect="1"/>
          </p:cNvPicPr>
          <p:nvPr/>
        </p:nvPicPr>
        <p:blipFill>
          <a:blip r:embed="rId1"/>
          <a:stretch>
            <a:fillRect/>
          </a:stretch>
        </p:blipFill>
        <p:spPr>
          <a:xfrm>
            <a:off x="765810" y="2091690"/>
            <a:ext cx="434340" cy="434340"/>
          </a:xfrm>
          <a:prstGeom prst="rect">
            <a:avLst/>
          </a:prstGeom>
        </p:spPr>
      </p:pic>
      <p:sp>
        <p:nvSpPr>
          <p:cNvPr id="6" name="a2-t"/>
          <p:cNvSpPr txBox="1"/>
          <p:nvPr/>
        </p:nvSpPr>
        <p:spPr>
          <a:xfrm>
            <a:off x="1645920" y="1828800"/>
            <a:ext cx="4663440" cy="960120"/>
          </a:xfrm>
          <a:prstGeom prst="rect">
            <a:avLst/>
          </a:prstGeom>
          <a:noFill/>
          <a:ln/>
        </p:spPr>
        <p:txBody>
          <a:bodyPr wrap="square" lIns="0" tIns="0" rIns="0" bIns="0" rtlCol="0" anchor="ctr"/>
          <a:lstStyle/>
          <a:p>
            <a:pPr indent="0" marL="0">
              <a:buNone/>
            </a:pPr>
            <a:r>
              <a:rPr lang="en-US" sz="2000" b="1" dirty="0">
                <a:solidFill>
                  <a:schemeClr val="tx2"/>
                </a:solidFill>
              </a:rPr>
              <a:t>Tax Return Preparation &amp; Filing</a:t>
            </a:r>
            <a:endParaRPr lang="en-US" sz="2000" dirty="0"/>
          </a:p>
          <a:p>
            <a:pPr indent="0" marL="0">
              <a:buNone/>
            </a:pPr>
            <a:r>
              <a:rPr lang="en-US" sz="1500" dirty="0">
                <a:solidFill>
                  <a:schemeClr val="accent5"/>
                </a:solidFill>
              </a:rPr>
              <a:t>Prepared accurately and filed on schedule</a:t>
            </a:r>
            <a:endParaRPr lang="en-US" sz="2000" dirty="0"/>
          </a:p>
        </p:txBody>
      </p:sp>
      <p:sp>
        <p:nvSpPr>
          <p:cNvPr id="7" name="a3-d"/>
          <p:cNvSpPr/>
          <p:nvPr/>
        </p:nvSpPr>
        <p:spPr>
          <a:xfrm>
            <a:off x="548640" y="3200400"/>
            <a:ext cx="868680" cy="868680"/>
          </a:xfrm>
          <a:prstGeom prst="ellipse">
            <a:avLst/>
          </a:prstGeom>
          <a:solidFill>
            <a:schemeClr val="tx2"/>
          </a:solidFill>
          <a:ln/>
        </p:spPr>
      </p:sp>
      <p:pic>
        <p:nvPicPr>
          <p:cNvPr id="8" name="a3-d-i" descr="preencoded.png">    </p:cNvPr>
          <p:cNvPicPr>
            <a:picLocks noChangeAspect="1"/>
          </p:cNvPicPr>
          <p:nvPr/>
        </p:nvPicPr>
        <p:blipFill>
          <a:blip r:embed="rId2"/>
          <a:stretch>
            <a:fillRect/>
          </a:stretch>
        </p:blipFill>
        <p:spPr>
          <a:xfrm>
            <a:off x="765810" y="3417570"/>
            <a:ext cx="434340" cy="434340"/>
          </a:xfrm>
          <a:prstGeom prst="rect">
            <a:avLst/>
          </a:prstGeom>
        </p:spPr>
      </p:pic>
      <p:sp>
        <p:nvSpPr>
          <p:cNvPr id="9" name="a3-t"/>
          <p:cNvSpPr txBox="1"/>
          <p:nvPr/>
        </p:nvSpPr>
        <p:spPr>
          <a:xfrm>
            <a:off x="1645920" y="3154680"/>
            <a:ext cx="4663440" cy="960120"/>
          </a:xfrm>
          <a:prstGeom prst="rect">
            <a:avLst/>
          </a:prstGeom>
          <a:noFill/>
          <a:ln/>
        </p:spPr>
        <p:txBody>
          <a:bodyPr wrap="square" lIns="0" tIns="0" rIns="0" bIns="0" rtlCol="0" anchor="ctr"/>
          <a:lstStyle/>
          <a:p>
            <a:pPr indent="0" marL="0">
              <a:buNone/>
            </a:pPr>
            <a:r>
              <a:rPr lang="en-US" sz="2000" b="1" dirty="0">
                <a:solidFill>
                  <a:schemeClr val="tx2"/>
                </a:solidFill>
              </a:rPr>
              <a:t>Tax &amp; Business Consulting</a:t>
            </a:r>
            <a:endParaRPr lang="en-US" sz="2000" dirty="0"/>
          </a:p>
          <a:p>
            <a:pPr indent="0" marL="0">
              <a:buNone/>
            </a:pPr>
            <a:r>
              <a:rPr lang="en-US" sz="1500" dirty="0">
                <a:solidFill>
                  <a:schemeClr val="accent5"/>
                </a:solidFill>
              </a:rPr>
              <a:t>Practical guidance for everyday decisions</a:t>
            </a:r>
            <a:endParaRPr lang="en-US" sz="2000" dirty="0"/>
          </a:p>
        </p:txBody>
      </p:sp>
      <p:sp>
        <p:nvSpPr>
          <p:cNvPr id="10" name="a4-d"/>
          <p:cNvSpPr/>
          <p:nvPr/>
        </p:nvSpPr>
        <p:spPr>
          <a:xfrm>
            <a:off x="548640" y="4526280"/>
            <a:ext cx="868680" cy="868680"/>
          </a:xfrm>
          <a:prstGeom prst="ellipse">
            <a:avLst/>
          </a:prstGeom>
          <a:solidFill>
            <a:schemeClr val="accent1"/>
          </a:solidFill>
          <a:ln/>
        </p:spPr>
      </p:sp>
      <p:pic>
        <p:nvPicPr>
          <p:cNvPr id="11" name="a4-d-i" descr="preencoded.png">    </p:cNvPr>
          <p:cNvPicPr>
            <a:picLocks noChangeAspect="1"/>
          </p:cNvPicPr>
          <p:nvPr/>
        </p:nvPicPr>
        <p:blipFill>
          <a:blip r:embed="rId3"/>
          <a:stretch>
            <a:fillRect/>
          </a:stretch>
        </p:blipFill>
        <p:spPr>
          <a:xfrm>
            <a:off x="765810" y="4743450"/>
            <a:ext cx="434340" cy="434340"/>
          </a:xfrm>
          <a:prstGeom prst="rect">
            <a:avLst/>
          </a:prstGeom>
        </p:spPr>
      </p:pic>
      <p:sp>
        <p:nvSpPr>
          <p:cNvPr id="12" name="a4-t"/>
          <p:cNvSpPr txBox="1"/>
          <p:nvPr/>
        </p:nvSpPr>
        <p:spPr>
          <a:xfrm>
            <a:off x="1645920" y="4480560"/>
            <a:ext cx="4663440" cy="960120"/>
          </a:xfrm>
          <a:prstGeom prst="rect">
            <a:avLst/>
          </a:prstGeom>
          <a:noFill/>
          <a:ln/>
        </p:spPr>
        <p:txBody>
          <a:bodyPr wrap="square" lIns="0" tIns="0" rIns="0" bIns="0" rtlCol="0" anchor="ctr"/>
          <a:lstStyle/>
          <a:p>
            <a:pPr indent="0" marL="0">
              <a:buNone/>
            </a:pPr>
            <a:r>
              <a:rPr lang="en-US" sz="2000" b="1" dirty="0">
                <a:solidFill>
                  <a:schemeClr val="tx2"/>
                </a:solidFill>
              </a:rPr>
              <a:t>Support That Scales</a:t>
            </a:r>
            <a:endParaRPr lang="en-US" sz="2000" dirty="0"/>
          </a:p>
          <a:p>
            <a:pPr indent="0" marL="0">
              <a:buNone/>
            </a:pPr>
            <a:r>
              <a:rPr lang="en-US" sz="1500" dirty="0">
                <a:solidFill>
                  <a:schemeClr val="accent5"/>
                </a:solidFill>
              </a:rPr>
              <a:t>Our help grows as the business grows</a:t>
            </a:r>
            <a:endParaRPr lang="en-US" sz="2000" dirty="0"/>
          </a:p>
        </p:txBody>
      </p:sp>
      <p:sp>
        <p:nvSpPr>
          <p:cNvPr id="13" name="a5-p"/>
          <p:cNvSpPr/>
          <p:nvPr/>
        </p:nvSpPr>
        <p:spPr>
          <a:xfrm>
            <a:off x="6583680" y="1417320"/>
            <a:ext cx="5029200" cy="3895344"/>
          </a:xfrm>
          <a:prstGeom prst="roundRect">
            <a:avLst>
              <a:gd name="adj" fmla="val 2817"/>
            </a:avLst>
          </a:prstGeom>
          <a:solidFill>
            <a:schemeClr val="tx2"/>
          </a:solidFill>
          <a:ln/>
        </p:spPr>
      </p:sp>
      <p:sp>
        <p:nvSpPr>
          <p:cNvPr id="14" name="a5-h"/>
          <p:cNvSpPr txBox="1"/>
          <p:nvPr/>
        </p:nvSpPr>
        <p:spPr>
          <a:xfrm>
            <a:off x="6949440" y="1691640"/>
            <a:ext cx="438912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WHO WE SERVE</a:t>
            </a:r>
            <a:endParaRPr lang="en-US" sz="1300" dirty="0"/>
          </a:p>
        </p:txBody>
      </p:sp>
      <p:sp>
        <p:nvSpPr>
          <p:cNvPr id="15" name="a5-t"/>
          <p:cNvSpPr txBox="1"/>
          <p:nvPr/>
        </p:nvSpPr>
        <p:spPr>
          <a:xfrm>
            <a:off x="6949440" y="2011680"/>
            <a:ext cx="4389120" cy="365760"/>
          </a:xfrm>
          <a:prstGeom prst="rect">
            <a:avLst/>
          </a:prstGeom>
          <a:noFill/>
          <a:ln/>
        </p:spPr>
        <p:txBody>
          <a:bodyPr wrap="square" lIns="0" tIns="0" rIns="0" bIns="0" rtlCol="0" anchor="ctr"/>
          <a:lstStyle/>
          <a:p>
            <a:pPr indent="0" marL="0">
              <a:buNone/>
            </a:pPr>
            <a:r>
              <a:rPr lang="en-US" sz="1700" b="1" dirty="0">
                <a:solidFill>
                  <a:schemeClr val="bg1"/>
                </a:solidFill>
              </a:rPr>
              <a:t>Small &amp; mid-sized businesses (SMEs)</a:t>
            </a:r>
            <a:endParaRPr lang="en-US" sz="1700" dirty="0"/>
          </a:p>
        </p:txBody>
      </p:sp>
      <p:sp>
        <p:nvSpPr>
          <p:cNvPr id="16" name="a6-h"/>
          <p:cNvSpPr txBox="1"/>
          <p:nvPr/>
        </p:nvSpPr>
        <p:spPr>
          <a:xfrm>
            <a:off x="6949440" y="2606040"/>
            <a:ext cx="438912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WHAT OUR CLIENTS GET</a:t>
            </a:r>
            <a:endParaRPr lang="en-US" sz="1300" dirty="0"/>
          </a:p>
        </p:txBody>
      </p:sp>
      <p:sp>
        <p:nvSpPr>
          <p:cNvPr id="17" name="a6-c0"/>
          <p:cNvSpPr/>
          <p:nvPr/>
        </p:nvSpPr>
        <p:spPr>
          <a:xfrm>
            <a:off x="6949440" y="2971800"/>
            <a:ext cx="4297680" cy="603504"/>
          </a:xfrm>
          <a:prstGeom prst="roundRect">
            <a:avLst>
              <a:gd name="adj" fmla="val 18182"/>
            </a:avLst>
          </a:prstGeom>
          <a:solidFill>
            <a:schemeClr val="bg1"/>
          </a:solidFill>
          <a:ln/>
        </p:spPr>
      </p:sp>
      <p:sp>
        <p:nvSpPr>
          <p:cNvPr id="18" name="a6-n0"/>
          <p:cNvSpPr txBox="1"/>
          <p:nvPr/>
        </p:nvSpPr>
        <p:spPr>
          <a:xfrm>
            <a:off x="7178040" y="2971800"/>
            <a:ext cx="3931920" cy="603504"/>
          </a:xfrm>
          <a:prstGeom prst="rect">
            <a:avLst/>
          </a:prstGeom>
          <a:noFill/>
          <a:ln/>
        </p:spPr>
        <p:txBody>
          <a:bodyPr wrap="square" lIns="0" tIns="0" rIns="0" bIns="0" rtlCol="0" anchor="ctr"/>
          <a:lstStyle/>
          <a:p>
            <a:pPr indent="0" marL="0">
              <a:buNone/>
            </a:pPr>
            <a:r>
              <a:rPr lang="en-US" sz="1500" b="1" dirty="0">
                <a:solidFill>
                  <a:schemeClr val="tx2"/>
                </a:solidFill>
              </a:rPr>
              <a:t>One dedicated team for their tax needs</a:t>
            </a:r>
            <a:endParaRPr lang="en-US" sz="1500" dirty="0"/>
          </a:p>
        </p:txBody>
      </p:sp>
      <p:sp>
        <p:nvSpPr>
          <p:cNvPr id="19" name="a6-c1"/>
          <p:cNvSpPr/>
          <p:nvPr/>
        </p:nvSpPr>
        <p:spPr>
          <a:xfrm>
            <a:off x="6949440" y="3703320"/>
            <a:ext cx="4297680" cy="603504"/>
          </a:xfrm>
          <a:prstGeom prst="roundRect">
            <a:avLst>
              <a:gd name="adj" fmla="val 18182"/>
            </a:avLst>
          </a:prstGeom>
          <a:solidFill>
            <a:schemeClr val="bg1"/>
          </a:solidFill>
          <a:ln/>
        </p:spPr>
      </p:sp>
      <p:sp>
        <p:nvSpPr>
          <p:cNvPr id="20" name="a6-n1"/>
          <p:cNvSpPr txBox="1"/>
          <p:nvPr/>
        </p:nvSpPr>
        <p:spPr>
          <a:xfrm>
            <a:off x="7178040" y="3703320"/>
            <a:ext cx="3931920" cy="603504"/>
          </a:xfrm>
          <a:prstGeom prst="rect">
            <a:avLst/>
          </a:prstGeom>
          <a:noFill/>
          <a:ln/>
        </p:spPr>
        <p:txBody>
          <a:bodyPr wrap="square" lIns="0" tIns="0" rIns="0" bIns="0" rtlCol="0" anchor="ctr"/>
          <a:lstStyle/>
          <a:p>
            <a:pPr indent="0" marL="0">
              <a:buNone/>
            </a:pPr>
            <a:r>
              <a:rPr lang="en-US" sz="1500" b="1" dirty="0">
                <a:solidFill>
                  <a:schemeClr val="tx2"/>
                </a:solidFill>
              </a:rPr>
              <a:t>Clear answers in plain language</a:t>
            </a:r>
            <a:endParaRPr lang="en-US" sz="1500" dirty="0"/>
          </a:p>
        </p:txBody>
      </p:sp>
      <p:sp>
        <p:nvSpPr>
          <p:cNvPr id="21" name="a6-c2"/>
          <p:cNvSpPr/>
          <p:nvPr/>
        </p:nvSpPr>
        <p:spPr>
          <a:xfrm>
            <a:off x="6949440" y="4434840"/>
            <a:ext cx="4297680" cy="603504"/>
          </a:xfrm>
          <a:prstGeom prst="roundRect">
            <a:avLst>
              <a:gd name="adj" fmla="val 18182"/>
            </a:avLst>
          </a:prstGeom>
          <a:solidFill>
            <a:schemeClr val="bg1"/>
          </a:solidFill>
          <a:ln/>
        </p:spPr>
      </p:sp>
      <p:sp>
        <p:nvSpPr>
          <p:cNvPr id="22" name="a6-n2"/>
          <p:cNvSpPr txBox="1"/>
          <p:nvPr/>
        </p:nvSpPr>
        <p:spPr>
          <a:xfrm>
            <a:off x="7178040" y="4434840"/>
            <a:ext cx="3931920" cy="603504"/>
          </a:xfrm>
          <a:prstGeom prst="rect">
            <a:avLst/>
          </a:prstGeom>
          <a:noFill/>
          <a:ln/>
        </p:spPr>
        <p:txBody>
          <a:bodyPr wrap="square" lIns="0" tIns="0" rIns="0" bIns="0" rtlCol="0" anchor="ctr"/>
          <a:lstStyle/>
          <a:p>
            <a:pPr indent="0" marL="0">
              <a:buNone/>
            </a:pPr>
            <a:r>
              <a:rPr lang="en-US" sz="1500" b="1" dirty="0">
                <a:solidFill>
                  <a:schemeClr val="tx2"/>
                </a:solidFill>
              </a:rPr>
              <a:t>Deadlines tracked and met</a:t>
            </a:r>
            <a:endParaRPr lang="en-US" sz="15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9</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childTnLst>
                          </p:cTn>
                        </p:par>
                        <p:par>
                          <p:cTn id="17" fill="hold">
                            <p:stCondLst>
                              <p:cond delay="75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27" fill="hold">
                            <p:stCondLst>
                              <p:cond delay="1200"/>
                            </p:stCondLst>
                            <p:childTnLst>
                              <p:par>
                                <p:cTn id="18" presetID="10"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par>
                          <p:cTn id="37" fill="hold">
                            <p:stCondLst>
                              <p:cond delay="1650"/>
                            </p:stCondLst>
                            <p:childTnLst>
                              <p:par>
                                <p:cTn id="28" presetID="10" presetClass="entr" presetSubtype="0"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par>
                          <p:cTn id="47" fill="hold">
                            <p:stCondLst>
                              <p:cond delay="210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par>
                          <p:cTn id="69" fill="hold">
                            <p:stCondLst>
                              <p:cond delay="2550"/>
                            </p:stCondLst>
                            <p:childTnLst>
                              <p:par>
                                <p:cTn id="48" presetID="10" presetClass="entr" presetSubtype="0"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9" grpId="0" animBg="1"/>
      <p:bldP spid="10"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509760" cy="777240"/>
          </a:xfrm>
          <a:prstGeom prst="rect">
            <a:avLst/>
          </a:prstGeom>
          <a:noFill/>
          <a:ln/>
        </p:spPr>
        <p:txBody>
          <a:bodyPr wrap="square" lIns="0" tIns="0" rIns="0" bIns="0" rtlCol="0" anchor="ctr"/>
          <a:lstStyle/>
          <a:p>
            <a:pPr algn="l" indent="0" marL="0">
              <a:buNone/>
            </a:pPr>
            <a:r>
              <a:rPr lang="en-US" sz="3600" b="1" dirty="0">
                <a:solidFill>
                  <a:schemeClr val="tx2"/>
                </a:solidFill>
              </a:rPr>
              <a:t>Singapore</a:t>
            </a:r>
            <a:endParaRPr lang="en-US" sz="3600" dirty="0"/>
          </a:p>
        </p:txBody>
      </p:sp>
      <p:sp>
        <p:nvSpPr>
          <p:cNvPr id="3" name="a1-sub"/>
          <p:cNvSpPr txBox="1"/>
          <p:nvPr/>
        </p:nvSpPr>
        <p:spPr>
          <a:xfrm>
            <a:off x="548640" y="1143000"/>
            <a:ext cx="5852160" cy="411480"/>
          </a:xfrm>
          <a:prstGeom prst="rect">
            <a:avLst/>
          </a:prstGeom>
          <a:noFill/>
          <a:ln/>
        </p:spPr>
        <p:txBody>
          <a:bodyPr wrap="square" lIns="0" tIns="0" rIns="0" bIns="0" rtlCol="0" anchor="ctr"/>
          <a:lstStyle/>
          <a:p>
            <a:pPr indent="0" marL="0">
              <a:buNone/>
            </a:pPr>
            <a:r>
              <a:rPr lang="en-US" sz="1800" dirty="0">
                <a:solidFill>
                  <a:schemeClr val="accent5"/>
                </a:solidFill>
              </a:rPr>
              <a:t>Accounting and reporting for small and mid-sized businesses</a:t>
            </a:r>
            <a:endParaRPr lang="en-US" sz="1800" dirty="0"/>
          </a:p>
        </p:txBody>
      </p:sp>
      <p:sp>
        <p:nvSpPr>
          <p:cNvPr id="4" name="a2-d"/>
          <p:cNvSpPr/>
          <p:nvPr/>
        </p:nvSpPr>
        <p:spPr>
          <a:xfrm>
            <a:off x="548640" y="1874520"/>
            <a:ext cx="868680" cy="868680"/>
          </a:xfrm>
          <a:prstGeom prst="ellipse">
            <a:avLst/>
          </a:prstGeom>
          <a:solidFill>
            <a:schemeClr val="tx2"/>
          </a:solidFill>
          <a:ln/>
        </p:spPr>
      </p:sp>
      <p:pic>
        <p:nvPicPr>
          <p:cNvPr id="5" name="a2-d-i" descr="preencoded.png">    </p:cNvPr>
          <p:cNvPicPr>
            <a:picLocks noChangeAspect="1"/>
          </p:cNvPicPr>
          <p:nvPr/>
        </p:nvPicPr>
        <p:blipFill>
          <a:blip r:embed="rId1"/>
          <a:stretch>
            <a:fillRect/>
          </a:stretch>
        </p:blipFill>
        <p:spPr>
          <a:xfrm>
            <a:off x="765810" y="2091690"/>
            <a:ext cx="434340" cy="434340"/>
          </a:xfrm>
          <a:prstGeom prst="rect">
            <a:avLst/>
          </a:prstGeom>
        </p:spPr>
      </p:pic>
      <p:sp>
        <p:nvSpPr>
          <p:cNvPr id="6" name="a2-t"/>
          <p:cNvSpPr txBox="1"/>
          <p:nvPr/>
        </p:nvSpPr>
        <p:spPr>
          <a:xfrm>
            <a:off x="1645920" y="1828800"/>
            <a:ext cx="4663440" cy="960120"/>
          </a:xfrm>
          <a:prstGeom prst="rect">
            <a:avLst/>
          </a:prstGeom>
          <a:noFill/>
          <a:ln/>
        </p:spPr>
        <p:txBody>
          <a:bodyPr wrap="square" lIns="0" tIns="0" rIns="0" bIns="0" rtlCol="0" anchor="ctr"/>
          <a:lstStyle/>
          <a:p>
            <a:pPr indent="0" marL="0">
              <a:buNone/>
            </a:pPr>
            <a:r>
              <a:rPr lang="en-US" sz="2000" b="1" dirty="0">
                <a:solidFill>
                  <a:schemeClr val="tx2"/>
                </a:solidFill>
              </a:rPr>
              <a:t>Bookkeeping in QuickBooks &amp; Xero</a:t>
            </a:r>
            <a:endParaRPr lang="en-US" sz="2000" dirty="0"/>
          </a:p>
          <a:p>
            <a:pPr indent="0" marL="0">
              <a:buNone/>
            </a:pPr>
            <a:r>
              <a:rPr lang="en-US" sz="1500" dirty="0">
                <a:solidFill>
                  <a:schemeClr val="accent5"/>
                </a:solidFill>
              </a:rPr>
              <a:t>Books kept accurate and up to date</a:t>
            </a:r>
            <a:endParaRPr lang="en-US" sz="2000" dirty="0"/>
          </a:p>
        </p:txBody>
      </p:sp>
      <p:sp>
        <p:nvSpPr>
          <p:cNvPr id="7" name="a3-d"/>
          <p:cNvSpPr/>
          <p:nvPr/>
        </p:nvSpPr>
        <p:spPr>
          <a:xfrm>
            <a:off x="548640" y="3200400"/>
            <a:ext cx="868680" cy="868680"/>
          </a:xfrm>
          <a:prstGeom prst="ellipse">
            <a:avLst/>
          </a:prstGeom>
          <a:solidFill>
            <a:schemeClr val="tx2"/>
          </a:solidFill>
          <a:ln/>
        </p:spPr>
      </p:sp>
      <p:pic>
        <p:nvPicPr>
          <p:cNvPr id="8" name="a3-d-i" descr="preencoded.png">    </p:cNvPr>
          <p:cNvPicPr>
            <a:picLocks noChangeAspect="1"/>
          </p:cNvPicPr>
          <p:nvPr/>
        </p:nvPicPr>
        <p:blipFill>
          <a:blip r:embed="rId2"/>
          <a:stretch>
            <a:fillRect/>
          </a:stretch>
        </p:blipFill>
        <p:spPr>
          <a:xfrm>
            <a:off x="765810" y="3417570"/>
            <a:ext cx="434340" cy="434340"/>
          </a:xfrm>
          <a:prstGeom prst="rect">
            <a:avLst/>
          </a:prstGeom>
        </p:spPr>
      </p:pic>
      <p:sp>
        <p:nvSpPr>
          <p:cNvPr id="9" name="a3-t"/>
          <p:cNvSpPr txBox="1"/>
          <p:nvPr/>
        </p:nvSpPr>
        <p:spPr>
          <a:xfrm>
            <a:off x="1645920" y="3154680"/>
            <a:ext cx="4663440" cy="960120"/>
          </a:xfrm>
          <a:prstGeom prst="rect">
            <a:avLst/>
          </a:prstGeom>
          <a:noFill/>
          <a:ln/>
        </p:spPr>
        <p:txBody>
          <a:bodyPr wrap="square" lIns="0" tIns="0" rIns="0" bIns="0" rtlCol="0" anchor="ctr"/>
          <a:lstStyle/>
          <a:p>
            <a:pPr indent="0" marL="0">
              <a:buNone/>
            </a:pPr>
            <a:r>
              <a:rPr lang="en-US" sz="2000" b="1" dirty="0">
                <a:solidFill>
                  <a:schemeClr val="tx2"/>
                </a:solidFill>
              </a:rPr>
              <a:t>Accounting &amp; Records</a:t>
            </a:r>
            <a:endParaRPr lang="en-US" sz="2000" dirty="0"/>
          </a:p>
          <a:p>
            <a:pPr indent="0" marL="0">
              <a:buNone/>
            </a:pPr>
            <a:r>
              <a:rPr lang="en-US" sz="1500" dirty="0">
                <a:solidFill>
                  <a:schemeClr val="accent5"/>
                </a:solidFill>
              </a:rPr>
              <a:t>Clean, reconciled accounts all year round</a:t>
            </a:r>
            <a:endParaRPr lang="en-US" sz="2000" dirty="0"/>
          </a:p>
        </p:txBody>
      </p:sp>
      <p:sp>
        <p:nvSpPr>
          <p:cNvPr id="10" name="a4-d"/>
          <p:cNvSpPr/>
          <p:nvPr/>
        </p:nvSpPr>
        <p:spPr>
          <a:xfrm>
            <a:off x="548640" y="4526280"/>
            <a:ext cx="868680" cy="868680"/>
          </a:xfrm>
          <a:prstGeom prst="ellipse">
            <a:avLst/>
          </a:prstGeom>
          <a:solidFill>
            <a:schemeClr val="accent1"/>
          </a:solidFill>
          <a:ln/>
        </p:spPr>
      </p:sp>
      <p:pic>
        <p:nvPicPr>
          <p:cNvPr id="11" name="a4-d-i" descr="preencoded.png">    </p:cNvPr>
          <p:cNvPicPr>
            <a:picLocks noChangeAspect="1"/>
          </p:cNvPicPr>
          <p:nvPr/>
        </p:nvPicPr>
        <p:blipFill>
          <a:blip r:embed="rId3"/>
          <a:stretch>
            <a:fillRect/>
          </a:stretch>
        </p:blipFill>
        <p:spPr>
          <a:xfrm>
            <a:off x="765810" y="4743450"/>
            <a:ext cx="434340" cy="434340"/>
          </a:xfrm>
          <a:prstGeom prst="rect">
            <a:avLst/>
          </a:prstGeom>
        </p:spPr>
      </p:pic>
      <p:sp>
        <p:nvSpPr>
          <p:cNvPr id="12" name="a4-t"/>
          <p:cNvSpPr txBox="1"/>
          <p:nvPr/>
        </p:nvSpPr>
        <p:spPr>
          <a:xfrm>
            <a:off x="1645920" y="4480560"/>
            <a:ext cx="4663440" cy="960120"/>
          </a:xfrm>
          <a:prstGeom prst="rect">
            <a:avLst/>
          </a:prstGeom>
          <a:noFill/>
          <a:ln/>
        </p:spPr>
        <p:txBody>
          <a:bodyPr wrap="square" lIns="0" tIns="0" rIns="0" bIns="0" rtlCol="0" anchor="ctr"/>
          <a:lstStyle/>
          <a:p>
            <a:pPr indent="0" marL="0">
              <a:buNone/>
            </a:pPr>
            <a:r>
              <a:rPr lang="en-US" sz="2000" b="1" dirty="0">
                <a:solidFill>
                  <a:schemeClr val="tx2"/>
                </a:solidFill>
              </a:rPr>
              <a:t>Annual Financial Statements</a:t>
            </a:r>
            <a:endParaRPr lang="en-US" sz="2000" dirty="0"/>
          </a:p>
          <a:p>
            <a:pPr indent="0" marL="0">
              <a:buNone/>
            </a:pPr>
            <a:r>
              <a:rPr lang="en-US" sz="1500" dirty="0">
                <a:solidFill>
                  <a:schemeClr val="accent5"/>
                </a:solidFill>
              </a:rPr>
              <a:t>Prepared for directors' review and the AGM</a:t>
            </a:r>
            <a:endParaRPr lang="en-US" sz="2000" dirty="0"/>
          </a:p>
        </p:txBody>
      </p:sp>
      <p:sp>
        <p:nvSpPr>
          <p:cNvPr id="13" name="a5-p"/>
          <p:cNvSpPr/>
          <p:nvPr/>
        </p:nvSpPr>
        <p:spPr>
          <a:xfrm>
            <a:off x="6583680" y="1417320"/>
            <a:ext cx="5029200" cy="4626864"/>
          </a:xfrm>
          <a:prstGeom prst="roundRect">
            <a:avLst>
              <a:gd name="adj" fmla="val 2372"/>
            </a:avLst>
          </a:prstGeom>
          <a:solidFill>
            <a:schemeClr val="tx2"/>
          </a:solidFill>
          <a:ln/>
        </p:spPr>
      </p:sp>
      <p:sp>
        <p:nvSpPr>
          <p:cNvPr id="14" name="a5-h"/>
          <p:cNvSpPr txBox="1"/>
          <p:nvPr/>
        </p:nvSpPr>
        <p:spPr>
          <a:xfrm>
            <a:off x="6949440" y="1691640"/>
            <a:ext cx="438912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WHO WE SERVE</a:t>
            </a:r>
            <a:endParaRPr lang="en-US" sz="1300" dirty="0"/>
          </a:p>
        </p:txBody>
      </p:sp>
      <p:sp>
        <p:nvSpPr>
          <p:cNvPr id="15" name="a5-t"/>
          <p:cNvSpPr txBox="1"/>
          <p:nvPr/>
        </p:nvSpPr>
        <p:spPr>
          <a:xfrm>
            <a:off x="6949440" y="2011680"/>
            <a:ext cx="4389120" cy="365760"/>
          </a:xfrm>
          <a:prstGeom prst="rect">
            <a:avLst/>
          </a:prstGeom>
          <a:noFill/>
          <a:ln/>
        </p:spPr>
        <p:txBody>
          <a:bodyPr wrap="square" lIns="0" tIns="0" rIns="0" bIns="0" rtlCol="0" anchor="ctr"/>
          <a:lstStyle/>
          <a:p>
            <a:pPr indent="0" marL="0">
              <a:buNone/>
            </a:pPr>
            <a:r>
              <a:rPr lang="en-US" sz="1700" b="1" dirty="0">
                <a:solidFill>
                  <a:schemeClr val="bg1"/>
                </a:solidFill>
              </a:rPr>
              <a:t>Small &amp; mid-sized businesses (SMEs)</a:t>
            </a:r>
            <a:endParaRPr lang="en-US" sz="1700" dirty="0"/>
          </a:p>
        </p:txBody>
      </p:sp>
      <p:sp>
        <p:nvSpPr>
          <p:cNvPr id="16" name="a6-h"/>
          <p:cNvSpPr txBox="1"/>
          <p:nvPr/>
        </p:nvSpPr>
        <p:spPr>
          <a:xfrm>
            <a:off x="6949440" y="2606040"/>
            <a:ext cx="4389120" cy="320040"/>
          </a:xfrm>
          <a:prstGeom prst="rect">
            <a:avLst/>
          </a:prstGeom>
          <a:noFill/>
          <a:ln/>
        </p:spPr>
        <p:txBody>
          <a:bodyPr wrap="square" lIns="0" tIns="0" rIns="0" bIns="0" rtlCol="0" anchor="ctr"/>
          <a:lstStyle/>
          <a:p>
            <a:pPr indent="0" marL="0">
              <a:buNone/>
            </a:pPr>
            <a:r>
              <a:rPr lang="en-US" sz="1300" b="1" spc="200" kern="0" dirty="0">
                <a:solidFill>
                  <a:schemeClr val="accent3"/>
                </a:solidFill>
              </a:rPr>
              <a:t>SELECTED CLIENTS</a:t>
            </a:r>
            <a:endParaRPr lang="en-US" sz="1300" dirty="0"/>
          </a:p>
        </p:txBody>
      </p:sp>
      <p:sp>
        <p:nvSpPr>
          <p:cNvPr id="17" name="a6-c0"/>
          <p:cNvSpPr/>
          <p:nvPr/>
        </p:nvSpPr>
        <p:spPr>
          <a:xfrm>
            <a:off x="6949440" y="2971800"/>
            <a:ext cx="4297680" cy="603504"/>
          </a:xfrm>
          <a:prstGeom prst="roundRect">
            <a:avLst>
              <a:gd name="adj" fmla="val 18182"/>
            </a:avLst>
          </a:prstGeom>
          <a:solidFill>
            <a:schemeClr val="bg1"/>
          </a:solidFill>
          <a:ln/>
        </p:spPr>
      </p:sp>
      <p:sp>
        <p:nvSpPr>
          <p:cNvPr id="18" name="a6-n0"/>
          <p:cNvSpPr txBox="1"/>
          <p:nvPr/>
        </p:nvSpPr>
        <p:spPr>
          <a:xfrm>
            <a:off x="7178040" y="2971800"/>
            <a:ext cx="3931920" cy="603504"/>
          </a:xfrm>
          <a:prstGeom prst="rect">
            <a:avLst/>
          </a:prstGeom>
          <a:noFill/>
          <a:ln/>
        </p:spPr>
        <p:txBody>
          <a:bodyPr wrap="square" lIns="0" tIns="0" rIns="0" bIns="0" rtlCol="0" anchor="ctr"/>
          <a:lstStyle/>
          <a:p>
            <a:pPr indent="0" marL="0">
              <a:buNone/>
            </a:pPr>
            <a:r>
              <a:rPr lang="en-US" sz="1500" b="1" dirty="0">
                <a:solidFill>
                  <a:schemeClr val="tx2"/>
                </a:solidFill>
              </a:rPr>
              <a:t>Samai Distillery Cambodia Pte., Ltd.</a:t>
            </a:r>
            <a:endParaRPr lang="en-US" sz="1500" dirty="0"/>
          </a:p>
        </p:txBody>
      </p:sp>
      <p:sp>
        <p:nvSpPr>
          <p:cNvPr id="19" name="a6-c1"/>
          <p:cNvSpPr/>
          <p:nvPr/>
        </p:nvSpPr>
        <p:spPr>
          <a:xfrm>
            <a:off x="6949440" y="3703320"/>
            <a:ext cx="4297680" cy="603504"/>
          </a:xfrm>
          <a:prstGeom prst="roundRect">
            <a:avLst>
              <a:gd name="adj" fmla="val 18182"/>
            </a:avLst>
          </a:prstGeom>
          <a:solidFill>
            <a:schemeClr val="bg1"/>
          </a:solidFill>
          <a:ln/>
        </p:spPr>
      </p:sp>
      <p:sp>
        <p:nvSpPr>
          <p:cNvPr id="20" name="a6-n1"/>
          <p:cNvSpPr txBox="1"/>
          <p:nvPr/>
        </p:nvSpPr>
        <p:spPr>
          <a:xfrm>
            <a:off x="7178040" y="3703320"/>
            <a:ext cx="3931920" cy="603504"/>
          </a:xfrm>
          <a:prstGeom prst="rect">
            <a:avLst/>
          </a:prstGeom>
          <a:noFill/>
          <a:ln/>
        </p:spPr>
        <p:txBody>
          <a:bodyPr wrap="square" lIns="0" tIns="0" rIns="0" bIns="0" rtlCol="0" anchor="ctr"/>
          <a:lstStyle/>
          <a:p>
            <a:pPr indent="0" marL="0">
              <a:buNone/>
            </a:pPr>
            <a:r>
              <a:rPr lang="en-US" sz="1500" b="1" dirty="0">
                <a:solidFill>
                  <a:schemeClr val="tx2"/>
                </a:solidFill>
              </a:rPr>
              <a:t>Nurkas Holdings Pte. Ltd.</a:t>
            </a:r>
            <a:endParaRPr lang="en-US" sz="1500" dirty="0"/>
          </a:p>
        </p:txBody>
      </p:sp>
      <p:sp>
        <p:nvSpPr>
          <p:cNvPr id="21" name="a6-c2"/>
          <p:cNvSpPr/>
          <p:nvPr/>
        </p:nvSpPr>
        <p:spPr>
          <a:xfrm>
            <a:off x="6949440" y="4434840"/>
            <a:ext cx="4297680" cy="603504"/>
          </a:xfrm>
          <a:prstGeom prst="roundRect">
            <a:avLst>
              <a:gd name="adj" fmla="val 18182"/>
            </a:avLst>
          </a:prstGeom>
          <a:solidFill>
            <a:schemeClr val="bg1"/>
          </a:solidFill>
          <a:ln/>
        </p:spPr>
      </p:sp>
      <p:sp>
        <p:nvSpPr>
          <p:cNvPr id="22" name="a6-n2"/>
          <p:cNvSpPr txBox="1"/>
          <p:nvPr/>
        </p:nvSpPr>
        <p:spPr>
          <a:xfrm>
            <a:off x="7178040" y="4434840"/>
            <a:ext cx="3931920" cy="603504"/>
          </a:xfrm>
          <a:prstGeom prst="rect">
            <a:avLst/>
          </a:prstGeom>
          <a:noFill/>
          <a:ln/>
        </p:spPr>
        <p:txBody>
          <a:bodyPr wrap="square" lIns="0" tIns="0" rIns="0" bIns="0" rtlCol="0" anchor="ctr"/>
          <a:lstStyle/>
          <a:p>
            <a:pPr indent="0" marL="0">
              <a:buNone/>
            </a:pPr>
            <a:r>
              <a:rPr lang="en-US" sz="1500" b="1" dirty="0">
                <a:solidFill>
                  <a:schemeClr val="tx2"/>
                </a:solidFill>
              </a:rPr>
              <a:t>Qwqer International Pte. Ltd.</a:t>
            </a:r>
            <a:endParaRPr lang="en-US" sz="1500" dirty="0"/>
          </a:p>
        </p:txBody>
      </p:sp>
      <p:sp>
        <p:nvSpPr>
          <p:cNvPr id="23" name="a6-c3"/>
          <p:cNvSpPr/>
          <p:nvPr/>
        </p:nvSpPr>
        <p:spPr>
          <a:xfrm>
            <a:off x="6949440" y="5166360"/>
            <a:ext cx="4297680" cy="603504"/>
          </a:xfrm>
          <a:prstGeom prst="roundRect">
            <a:avLst>
              <a:gd name="adj" fmla="val 18182"/>
            </a:avLst>
          </a:prstGeom>
          <a:solidFill>
            <a:schemeClr val="bg1"/>
          </a:solidFill>
          <a:ln/>
        </p:spPr>
      </p:sp>
      <p:sp>
        <p:nvSpPr>
          <p:cNvPr id="24" name="a6-n3"/>
          <p:cNvSpPr txBox="1"/>
          <p:nvPr/>
        </p:nvSpPr>
        <p:spPr>
          <a:xfrm>
            <a:off x="7178040" y="5166360"/>
            <a:ext cx="3931920" cy="603504"/>
          </a:xfrm>
          <a:prstGeom prst="rect">
            <a:avLst/>
          </a:prstGeom>
          <a:noFill/>
          <a:ln/>
        </p:spPr>
        <p:txBody>
          <a:bodyPr wrap="square" lIns="0" tIns="0" rIns="0" bIns="0" rtlCol="0" anchor="ctr"/>
          <a:lstStyle/>
          <a:p>
            <a:pPr indent="0" marL="0">
              <a:buNone/>
            </a:pPr>
            <a:r>
              <a:rPr lang="en-US" sz="1500" b="1" dirty="0">
                <a:solidFill>
                  <a:schemeClr val="tx2"/>
                </a:solidFill>
              </a:rPr>
              <a:t>Tanncam Investment Pte. Ltd.</a:t>
            </a:r>
            <a:endParaRPr lang="en-US" sz="15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10</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childTnLst>
                          </p:cTn>
                        </p:par>
                        <p:par>
                          <p:cTn id="17" fill="hold">
                            <p:stCondLst>
                              <p:cond delay="75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27" fill="hold">
                            <p:stCondLst>
                              <p:cond delay="1200"/>
                            </p:stCondLst>
                            <p:childTnLst>
                              <p:par>
                                <p:cTn id="18" presetID="10"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par>
                          <p:cTn id="37" fill="hold">
                            <p:stCondLst>
                              <p:cond delay="1650"/>
                            </p:stCondLst>
                            <p:childTnLst>
                              <p:par>
                                <p:cTn id="28" presetID="10" presetClass="entr" presetSubtype="0"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par>
                          <p:cTn id="47" fill="hold">
                            <p:stCondLst>
                              <p:cond delay="210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par>
                          <p:cTn id="75" fill="hold">
                            <p:stCondLst>
                              <p:cond delay="2550"/>
                            </p:stCondLst>
                            <p:childTnLst>
                              <p:par>
                                <p:cTn id="48" presetID="10" presetClass="entr" presetSubtype="0"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9" grpId="0" animBg="1"/>
      <p:bldP spid="10"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509760" cy="777240"/>
          </a:xfrm>
          <a:prstGeom prst="rect">
            <a:avLst/>
          </a:prstGeom>
          <a:noFill/>
          <a:ln/>
        </p:spPr>
        <p:txBody>
          <a:bodyPr wrap="square" lIns="0" tIns="0" rIns="0" bIns="0" rtlCol="0" anchor="ctr"/>
          <a:lstStyle/>
          <a:p>
            <a:pPr algn="l" indent="0" marL="0">
              <a:buNone/>
            </a:pPr>
            <a:r>
              <a:rPr lang="en-US" sz="3600" b="1" dirty="0">
                <a:solidFill>
                  <a:schemeClr val="tx2"/>
                </a:solidFill>
              </a:rPr>
              <a:t>We Prepare. You File.</a:t>
            </a:r>
            <a:endParaRPr lang="en-US" sz="3600" dirty="0"/>
          </a:p>
        </p:txBody>
      </p:sp>
      <p:sp>
        <p:nvSpPr>
          <p:cNvPr id="3" name="a1-sub"/>
          <p:cNvSpPr txBox="1"/>
          <p:nvPr/>
        </p:nvSpPr>
        <p:spPr>
          <a:xfrm>
            <a:off x="548640" y="1143000"/>
            <a:ext cx="9144000" cy="411480"/>
          </a:xfrm>
          <a:prstGeom prst="rect">
            <a:avLst/>
          </a:prstGeom>
          <a:noFill/>
          <a:ln/>
        </p:spPr>
        <p:txBody>
          <a:bodyPr wrap="square" lIns="0" tIns="0" rIns="0" bIns="0" rtlCol="0" anchor="ctr"/>
          <a:lstStyle/>
          <a:p>
            <a:pPr indent="0" marL="0">
              <a:buNone/>
            </a:pPr>
            <a:r>
              <a:rPr lang="en-US" sz="1800" dirty="0">
                <a:solidFill>
                  <a:schemeClr val="accent5"/>
                </a:solidFill>
              </a:rPr>
              <a:t>How we work alongside our accounting-firm partners today</a:t>
            </a:r>
            <a:endParaRPr lang="en-US" sz="1800" dirty="0"/>
          </a:p>
        </p:txBody>
      </p:sp>
      <p:sp>
        <p:nvSpPr>
          <p:cNvPr id="4" name="a2-ch0"/>
          <p:cNvSpPr txBox="1"/>
          <p:nvPr/>
        </p:nvSpPr>
        <p:spPr>
          <a:xfrm>
            <a:off x="777240" y="1737360"/>
            <a:ext cx="329184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PARTNER FIRM</a:t>
            </a:r>
            <a:endParaRPr lang="en-US" sz="1200" dirty="0"/>
          </a:p>
        </p:txBody>
      </p:sp>
      <p:sp>
        <p:nvSpPr>
          <p:cNvPr id="5" name="a2-ch1"/>
          <p:cNvSpPr txBox="1"/>
          <p:nvPr/>
        </p:nvSpPr>
        <p:spPr>
          <a:xfrm>
            <a:off x="4251960" y="1737360"/>
            <a:ext cx="374904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WHAT LOTUS BPO PREPARES</a:t>
            </a:r>
            <a:endParaRPr lang="en-US" sz="1200" dirty="0"/>
          </a:p>
        </p:txBody>
      </p:sp>
      <p:sp>
        <p:nvSpPr>
          <p:cNvPr id="6" name="a2-ch2"/>
          <p:cNvSpPr txBox="1"/>
          <p:nvPr/>
        </p:nvSpPr>
        <p:spPr>
          <a:xfrm>
            <a:off x="8183880" y="1737360"/>
            <a:ext cx="3657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WHO FILES</a:t>
            </a:r>
            <a:endParaRPr lang="en-US" sz="1200" dirty="0"/>
          </a:p>
        </p:txBody>
      </p:sp>
      <p:sp>
        <p:nvSpPr>
          <p:cNvPr id="7" name="a3-r"/>
          <p:cNvSpPr/>
          <p:nvPr/>
        </p:nvSpPr>
        <p:spPr>
          <a:xfrm>
            <a:off x="548640" y="2103120"/>
            <a:ext cx="11064240" cy="841248"/>
          </a:xfrm>
          <a:prstGeom prst="roundRect">
            <a:avLst>
              <a:gd name="adj" fmla="val 13043"/>
            </a:avLst>
          </a:prstGeom>
          <a:solidFill>
            <a:schemeClr val="bg2"/>
          </a:solidFill>
          <a:ln/>
        </p:spPr>
      </p:sp>
      <p:sp>
        <p:nvSpPr>
          <p:cNvPr id="8" name="a3-p"/>
          <p:cNvSpPr txBox="1"/>
          <p:nvPr/>
        </p:nvSpPr>
        <p:spPr>
          <a:xfrm>
            <a:off x="777240" y="2103120"/>
            <a:ext cx="3200400" cy="841248"/>
          </a:xfrm>
          <a:prstGeom prst="rect">
            <a:avLst/>
          </a:prstGeom>
          <a:noFill/>
          <a:ln/>
        </p:spPr>
        <p:txBody>
          <a:bodyPr wrap="square" lIns="0" tIns="0" rIns="0" bIns="0" rtlCol="0" anchor="ctr"/>
          <a:lstStyle/>
          <a:p>
            <a:pPr indent="0" marL="0">
              <a:buNone/>
            </a:pPr>
            <a:r>
              <a:rPr lang="en-US" sz="1600" b="1" dirty="0">
                <a:solidFill>
                  <a:schemeClr val="tx2"/>
                </a:solidFill>
              </a:rPr>
              <a:t>Opty Business Solutions Inc.</a:t>
            </a:r>
            <a:endParaRPr lang="en-US" sz="1600" dirty="0"/>
          </a:p>
          <a:p>
            <a:pPr indent="0" marL="0">
              <a:buNone/>
            </a:pPr>
            <a:r>
              <a:rPr lang="en-US" sz="1300" dirty="0">
                <a:solidFill>
                  <a:schemeClr val="accent5"/>
                </a:solidFill>
              </a:rPr>
              <a:t>Canada</a:t>
            </a:r>
            <a:endParaRPr lang="en-US" sz="1600" dirty="0"/>
          </a:p>
        </p:txBody>
      </p:sp>
      <p:sp>
        <p:nvSpPr>
          <p:cNvPr id="9" name="a3-w"/>
          <p:cNvSpPr txBox="1"/>
          <p:nvPr/>
        </p:nvSpPr>
        <p:spPr>
          <a:xfrm>
            <a:off x="4251960" y="2103120"/>
            <a:ext cx="3611880" cy="841248"/>
          </a:xfrm>
          <a:prstGeom prst="rect">
            <a:avLst/>
          </a:prstGeom>
          <a:noFill/>
          <a:ln/>
        </p:spPr>
        <p:txBody>
          <a:bodyPr wrap="square" lIns="0" tIns="0" rIns="0" bIns="0" rtlCol="0" anchor="ctr"/>
          <a:lstStyle/>
          <a:p>
            <a:pPr indent="0" marL="0">
              <a:buNone/>
            </a:pPr>
            <a:r>
              <a:rPr lang="en-US" sz="1500" dirty="0">
                <a:solidFill>
                  <a:schemeClr val="tx1"/>
                </a:solidFill>
              </a:rPr>
              <a:t>T2 return, prepared in their CCH iFirm</a:t>
            </a:r>
            <a:endParaRPr lang="en-US" sz="1500" dirty="0"/>
          </a:p>
        </p:txBody>
      </p:sp>
      <p:sp>
        <p:nvSpPr>
          <p:cNvPr id="10" name="a3-f"/>
          <p:cNvSpPr txBox="1"/>
          <p:nvPr/>
        </p:nvSpPr>
        <p:spPr>
          <a:xfrm>
            <a:off x="8183880" y="2103120"/>
            <a:ext cx="3291840" cy="841248"/>
          </a:xfrm>
          <a:prstGeom prst="rect">
            <a:avLst/>
          </a:prstGeom>
          <a:noFill/>
          <a:ln/>
        </p:spPr>
        <p:txBody>
          <a:bodyPr wrap="square" lIns="0" tIns="0" rIns="0" bIns="0" rtlCol="0" anchor="ctr"/>
          <a:lstStyle/>
          <a:p>
            <a:pPr indent="0" marL="0">
              <a:buNone/>
            </a:pPr>
            <a:r>
              <a:rPr lang="en-US" sz="1500" b="1" dirty="0">
                <a:solidFill>
                  <a:schemeClr val="tx2"/>
                </a:solidFill>
              </a:rPr>
              <a:t>Opty reviews and files</a:t>
            </a:r>
            <a:endParaRPr lang="en-US" sz="1500" dirty="0"/>
          </a:p>
        </p:txBody>
      </p:sp>
      <p:sp>
        <p:nvSpPr>
          <p:cNvPr id="11" name="a4-r"/>
          <p:cNvSpPr/>
          <p:nvPr/>
        </p:nvSpPr>
        <p:spPr>
          <a:xfrm>
            <a:off x="548640" y="3090672"/>
            <a:ext cx="11064240" cy="841248"/>
          </a:xfrm>
          <a:prstGeom prst="roundRect">
            <a:avLst>
              <a:gd name="adj" fmla="val 13043"/>
            </a:avLst>
          </a:prstGeom>
          <a:solidFill>
            <a:schemeClr val="bg1"/>
          </a:solidFill>
          <a:ln/>
        </p:spPr>
      </p:sp>
      <p:sp>
        <p:nvSpPr>
          <p:cNvPr id="12" name="a4-p"/>
          <p:cNvSpPr txBox="1"/>
          <p:nvPr/>
        </p:nvSpPr>
        <p:spPr>
          <a:xfrm>
            <a:off x="777240" y="3090672"/>
            <a:ext cx="3200400" cy="841248"/>
          </a:xfrm>
          <a:prstGeom prst="rect">
            <a:avLst/>
          </a:prstGeom>
          <a:noFill/>
          <a:ln/>
        </p:spPr>
        <p:txBody>
          <a:bodyPr wrap="square" lIns="0" tIns="0" rIns="0" bIns="0" rtlCol="0" anchor="ctr"/>
          <a:lstStyle/>
          <a:p>
            <a:pPr indent="0" marL="0">
              <a:buNone/>
            </a:pPr>
            <a:r>
              <a:rPr lang="en-US" sz="1600" b="1" dirty="0">
                <a:solidFill>
                  <a:schemeClr val="tx2"/>
                </a:solidFill>
              </a:rPr>
              <a:t>Harry Chang, CA</a:t>
            </a:r>
            <a:endParaRPr lang="en-US" sz="1600" dirty="0"/>
          </a:p>
          <a:p>
            <a:pPr indent="0" marL="0">
              <a:buNone/>
            </a:pPr>
            <a:r>
              <a:rPr lang="en-US" sz="1300" dirty="0">
                <a:solidFill>
                  <a:schemeClr val="accent5"/>
                </a:solidFill>
              </a:rPr>
              <a:t>Canada</a:t>
            </a:r>
            <a:endParaRPr lang="en-US" sz="1600" dirty="0"/>
          </a:p>
        </p:txBody>
      </p:sp>
      <p:sp>
        <p:nvSpPr>
          <p:cNvPr id="13" name="a4-w"/>
          <p:cNvSpPr txBox="1"/>
          <p:nvPr/>
        </p:nvSpPr>
        <p:spPr>
          <a:xfrm>
            <a:off x="4251960" y="3090672"/>
            <a:ext cx="3611880" cy="841248"/>
          </a:xfrm>
          <a:prstGeom prst="rect">
            <a:avLst/>
          </a:prstGeom>
          <a:noFill/>
          <a:ln/>
        </p:spPr>
        <p:txBody>
          <a:bodyPr wrap="square" lIns="0" tIns="0" rIns="0" bIns="0" rtlCol="0" anchor="ctr"/>
          <a:lstStyle/>
          <a:p>
            <a:pPr indent="0" marL="0">
              <a:buNone/>
            </a:pPr>
            <a:r>
              <a:rPr lang="en-US" sz="1500" dirty="0">
                <a:solidFill>
                  <a:schemeClr val="tx1"/>
                </a:solidFill>
              </a:rPr>
              <a:t>T2 workbook, prepared in Excel</a:t>
            </a:r>
            <a:endParaRPr lang="en-US" sz="1500" dirty="0"/>
          </a:p>
        </p:txBody>
      </p:sp>
      <p:sp>
        <p:nvSpPr>
          <p:cNvPr id="14" name="a4-f"/>
          <p:cNvSpPr txBox="1"/>
          <p:nvPr/>
        </p:nvSpPr>
        <p:spPr>
          <a:xfrm>
            <a:off x="8183880" y="3090672"/>
            <a:ext cx="3291840" cy="841248"/>
          </a:xfrm>
          <a:prstGeom prst="rect">
            <a:avLst/>
          </a:prstGeom>
          <a:noFill/>
          <a:ln/>
        </p:spPr>
        <p:txBody>
          <a:bodyPr wrap="square" lIns="0" tIns="0" rIns="0" bIns="0" rtlCol="0" anchor="ctr"/>
          <a:lstStyle/>
          <a:p>
            <a:pPr indent="0" marL="0">
              <a:buNone/>
            </a:pPr>
            <a:r>
              <a:rPr lang="en-US" sz="1500" b="1" dirty="0">
                <a:solidFill>
                  <a:schemeClr val="tx2"/>
                </a:solidFill>
              </a:rPr>
              <a:t>Harry Chang files in their own system</a:t>
            </a:r>
            <a:endParaRPr lang="en-US" sz="1500" dirty="0"/>
          </a:p>
        </p:txBody>
      </p:sp>
      <p:sp>
        <p:nvSpPr>
          <p:cNvPr id="15" name="a5-r"/>
          <p:cNvSpPr/>
          <p:nvPr/>
        </p:nvSpPr>
        <p:spPr>
          <a:xfrm>
            <a:off x="548640" y="4078224"/>
            <a:ext cx="11064240" cy="841248"/>
          </a:xfrm>
          <a:prstGeom prst="roundRect">
            <a:avLst>
              <a:gd name="adj" fmla="val 13043"/>
            </a:avLst>
          </a:prstGeom>
          <a:solidFill>
            <a:schemeClr val="bg2"/>
          </a:solidFill>
          <a:ln/>
        </p:spPr>
      </p:sp>
      <p:sp>
        <p:nvSpPr>
          <p:cNvPr id="16" name="a5-p"/>
          <p:cNvSpPr txBox="1"/>
          <p:nvPr/>
        </p:nvSpPr>
        <p:spPr>
          <a:xfrm>
            <a:off x="777240" y="4078224"/>
            <a:ext cx="3200400" cy="841248"/>
          </a:xfrm>
          <a:prstGeom prst="rect">
            <a:avLst/>
          </a:prstGeom>
          <a:noFill/>
          <a:ln/>
        </p:spPr>
        <p:txBody>
          <a:bodyPr wrap="square" lIns="0" tIns="0" rIns="0" bIns="0" rtlCol="0" anchor="ctr"/>
          <a:lstStyle/>
          <a:p>
            <a:pPr indent="0" marL="0">
              <a:buNone/>
            </a:pPr>
            <a:r>
              <a:rPr lang="en-US" sz="1600" b="1" dirty="0">
                <a:solidFill>
                  <a:schemeClr val="tx2"/>
                </a:solidFill>
              </a:rPr>
              <a:t>Stone Group Accounting Firm</a:t>
            </a:r>
            <a:endParaRPr lang="en-US" sz="1600" dirty="0"/>
          </a:p>
          <a:p>
            <a:pPr indent="0" marL="0">
              <a:buNone/>
            </a:pPr>
            <a:r>
              <a:rPr lang="en-US" sz="1300" dirty="0">
                <a:solidFill>
                  <a:schemeClr val="accent5"/>
                </a:solidFill>
              </a:rPr>
              <a:t>Australia</a:t>
            </a:r>
            <a:endParaRPr lang="en-US" sz="1600" dirty="0"/>
          </a:p>
        </p:txBody>
      </p:sp>
      <p:sp>
        <p:nvSpPr>
          <p:cNvPr id="17" name="a5-w"/>
          <p:cNvSpPr txBox="1"/>
          <p:nvPr/>
        </p:nvSpPr>
        <p:spPr>
          <a:xfrm>
            <a:off x="4251960" y="4078224"/>
            <a:ext cx="3611880" cy="841248"/>
          </a:xfrm>
          <a:prstGeom prst="rect">
            <a:avLst/>
          </a:prstGeom>
          <a:noFill/>
          <a:ln/>
        </p:spPr>
        <p:txBody>
          <a:bodyPr wrap="square" lIns="0" tIns="0" rIns="0" bIns="0" rtlCol="0" anchor="ctr"/>
          <a:lstStyle/>
          <a:p>
            <a:pPr indent="0" marL="0">
              <a:buNone/>
            </a:pPr>
            <a:r>
              <a:rPr lang="en-US" sz="1500" dirty="0">
                <a:solidFill>
                  <a:schemeClr val="tx1"/>
                </a:solidFill>
              </a:rPr>
              <a:t>Quarterly BAS, prepared in Xero</a:t>
            </a:r>
            <a:endParaRPr lang="en-US" sz="1500" dirty="0"/>
          </a:p>
        </p:txBody>
      </p:sp>
      <p:sp>
        <p:nvSpPr>
          <p:cNvPr id="18" name="a5-f"/>
          <p:cNvSpPr txBox="1"/>
          <p:nvPr/>
        </p:nvSpPr>
        <p:spPr>
          <a:xfrm>
            <a:off x="8183880" y="4078224"/>
            <a:ext cx="3291840" cy="841248"/>
          </a:xfrm>
          <a:prstGeom prst="rect">
            <a:avLst/>
          </a:prstGeom>
          <a:noFill/>
          <a:ln/>
        </p:spPr>
        <p:txBody>
          <a:bodyPr wrap="square" lIns="0" tIns="0" rIns="0" bIns="0" rtlCol="0" anchor="ctr"/>
          <a:lstStyle/>
          <a:p>
            <a:pPr indent="0" marL="0">
              <a:buNone/>
            </a:pPr>
            <a:r>
              <a:rPr lang="en-US" sz="1500" b="1" dirty="0">
                <a:solidFill>
                  <a:schemeClr val="tx2"/>
                </a:solidFill>
              </a:rPr>
              <a:t>Stone Group reviews and lodges</a:t>
            </a:r>
            <a:endParaRPr lang="en-US" sz="1500" dirty="0"/>
          </a:p>
        </p:txBody>
      </p:sp>
      <p:sp>
        <p:nvSpPr>
          <p:cNvPr id="19" name="a6-k"/>
          <p:cNvSpPr/>
          <p:nvPr/>
        </p:nvSpPr>
        <p:spPr>
          <a:xfrm>
            <a:off x="548640" y="5120640"/>
            <a:ext cx="11064240" cy="868680"/>
          </a:xfrm>
          <a:prstGeom prst="roundRect">
            <a:avLst>
              <a:gd name="adj" fmla="val 12632"/>
            </a:avLst>
          </a:prstGeom>
          <a:solidFill>
            <a:schemeClr val="tx2"/>
          </a:solidFill>
          <a:ln/>
        </p:spPr>
      </p:sp>
      <p:sp>
        <p:nvSpPr>
          <p:cNvPr id="20" name="a6-d"/>
          <p:cNvSpPr/>
          <p:nvPr/>
        </p:nvSpPr>
        <p:spPr>
          <a:xfrm>
            <a:off x="777240" y="5230368"/>
            <a:ext cx="640080" cy="640080"/>
          </a:xfrm>
          <a:prstGeom prst="ellipse">
            <a:avLst/>
          </a:prstGeom>
          <a:solidFill>
            <a:schemeClr val="accent1"/>
          </a:solidFill>
          <a:ln/>
        </p:spPr>
      </p:sp>
      <p:pic>
        <p:nvPicPr>
          <p:cNvPr id="21" name="a6-d-i" descr="preencoded.png">    </p:cNvPr>
          <p:cNvPicPr>
            <a:picLocks noChangeAspect="1"/>
          </p:cNvPicPr>
          <p:nvPr/>
        </p:nvPicPr>
        <p:blipFill>
          <a:blip r:embed="rId1"/>
          <a:stretch>
            <a:fillRect/>
          </a:stretch>
        </p:blipFill>
        <p:spPr>
          <a:xfrm>
            <a:off x="937260" y="5390388"/>
            <a:ext cx="320040" cy="320040"/>
          </a:xfrm>
          <a:prstGeom prst="rect">
            <a:avLst/>
          </a:prstGeom>
        </p:spPr>
      </p:pic>
      <p:sp>
        <p:nvSpPr>
          <p:cNvPr id="22" name="a6-t"/>
          <p:cNvSpPr txBox="1"/>
          <p:nvPr/>
        </p:nvSpPr>
        <p:spPr>
          <a:xfrm>
            <a:off x="1600200" y="5120640"/>
            <a:ext cx="9875520" cy="868680"/>
          </a:xfrm>
          <a:prstGeom prst="rect">
            <a:avLst/>
          </a:prstGeom>
          <a:noFill/>
          <a:ln/>
        </p:spPr>
        <p:txBody>
          <a:bodyPr wrap="square" lIns="0" tIns="0" rIns="0" bIns="0" rtlCol="0" anchor="ctr"/>
          <a:lstStyle/>
          <a:p>
            <a:pPr indent="0" marL="0">
              <a:buNone/>
            </a:pPr>
            <a:r>
              <a:rPr lang="en-US" sz="1600" b="1" dirty="0">
                <a:solidFill>
                  <a:schemeClr val="bg1"/>
                </a:solidFill>
              </a:rPr>
              <a:t>Our commitment: </a:t>
            </a:r>
            <a:pPr indent="0" marL="0">
              <a:buNone/>
            </a:pPr>
            <a:r>
              <a:rPr lang="en-US" sz="1600" dirty="0">
                <a:solidFill>
                  <a:schemeClr val="accent4"/>
                </a:solidFill>
              </a:rPr>
              <a:t>when we work through an accounting firm, we prepare and the firm reviews and submits. The final sign-off is always yours.</a:t>
            </a:r>
            <a:endParaRPr lang="en-US" sz="16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11</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childTnLst>
                          </p:cTn>
                        </p:par>
                        <p:par>
                          <p:cTn id="17" fill="hold">
                            <p:stCondLst>
                              <p:cond delay="75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30" fill="hold">
                            <p:stCondLst>
                              <p:cond delay="1200"/>
                            </p:stCondLst>
                            <p:childTnLst>
                              <p:par>
                                <p:cTn id="18" presetID="10"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par>
                          <p:cTn id="43" fill="hold">
                            <p:stCondLst>
                              <p:cond delay="1650"/>
                            </p:stCondLst>
                            <p:childTnLst>
                              <p:par>
                                <p:cTn id="31" presetID="10" presetClass="entr" presetSubtype="0"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par>
                          <p:cTn id="56" fill="hold">
                            <p:stCondLst>
                              <p:cond delay="2100"/>
                            </p:stCondLst>
                            <p:childTnLst>
                              <p:par>
                                <p:cTn id="44" presetID="10" presetClass="entr" presetSubtype="0"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childTnLst>
                          </p:cTn>
                        </p:par>
                        <p:par>
                          <p:cTn id="69" fill="hold">
                            <p:stCondLst>
                              <p:cond delay="2550"/>
                            </p:stCondLst>
                            <p:childTnLst>
                              <p:par>
                                <p:cTn id="57" presetID="10" presetClass="entr" presetSubtype="0"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509760" cy="777240"/>
          </a:xfrm>
          <a:prstGeom prst="rect">
            <a:avLst/>
          </a:prstGeom>
          <a:noFill/>
          <a:ln/>
        </p:spPr>
        <p:txBody>
          <a:bodyPr wrap="square" lIns="0" tIns="0" rIns="0" bIns="0" rtlCol="0" anchor="ctr"/>
          <a:lstStyle/>
          <a:p>
            <a:pPr algn="l" indent="0" marL="0">
              <a:buNone/>
            </a:pPr>
            <a:r>
              <a:rPr lang="en-US" sz="3600" b="1" dirty="0">
                <a:solidFill>
                  <a:schemeClr val="tx2"/>
                </a:solidFill>
              </a:rPr>
              <a:t>How We Work With Your Firm</a:t>
            </a:r>
            <a:endParaRPr lang="en-US" sz="3600" dirty="0"/>
          </a:p>
        </p:txBody>
      </p:sp>
      <p:sp>
        <p:nvSpPr>
          <p:cNvPr id="3" name="a1-ln"/>
          <p:cNvSpPr/>
          <p:nvPr/>
        </p:nvSpPr>
        <p:spPr>
          <a:xfrm>
            <a:off x="1874520" y="2057400"/>
            <a:ext cx="1371600" cy="0"/>
          </a:xfrm>
          <a:prstGeom prst="line">
            <a:avLst/>
          </a:prstGeom>
          <a:noFill/>
          <a:ln w="25400">
            <a:solidFill>
              <a:schemeClr val="accent3"/>
            </a:solidFill>
            <a:prstDash val="dash"/>
          </a:ln>
        </p:spPr>
      </p:sp>
      <p:sp>
        <p:nvSpPr>
          <p:cNvPr id="4" name="a1-d"/>
          <p:cNvSpPr/>
          <p:nvPr/>
        </p:nvSpPr>
        <p:spPr>
          <a:xfrm>
            <a:off x="1005840" y="1508760"/>
            <a:ext cx="1097280" cy="1097280"/>
          </a:xfrm>
          <a:prstGeom prst="ellipse">
            <a:avLst/>
          </a:prstGeom>
          <a:solidFill>
            <a:schemeClr val="tx2"/>
          </a:solidFill>
          <a:ln/>
        </p:spPr>
      </p:sp>
      <p:pic>
        <p:nvPicPr>
          <p:cNvPr id="5" name="a1-d-i" descr="preencoded.png">    </p:cNvPr>
          <p:cNvPicPr>
            <a:picLocks noChangeAspect="1"/>
          </p:cNvPicPr>
          <p:nvPr/>
        </p:nvPicPr>
        <p:blipFill>
          <a:blip r:embed="rId1"/>
          <a:stretch>
            <a:fillRect/>
          </a:stretch>
        </p:blipFill>
        <p:spPr>
          <a:xfrm>
            <a:off x="1280160" y="1783080"/>
            <a:ext cx="548640" cy="548640"/>
          </a:xfrm>
          <a:prstGeom prst="rect">
            <a:avLst/>
          </a:prstGeom>
        </p:spPr>
      </p:pic>
      <p:sp>
        <p:nvSpPr>
          <p:cNvPr id="6" name="a1-n"/>
          <p:cNvSpPr txBox="1"/>
          <p:nvPr/>
        </p:nvSpPr>
        <p:spPr>
          <a:xfrm>
            <a:off x="548640" y="2743200"/>
            <a:ext cx="2011680" cy="274320"/>
          </a:xfrm>
          <a:prstGeom prst="rect">
            <a:avLst/>
          </a:prstGeom>
          <a:noFill/>
          <a:ln/>
        </p:spPr>
        <p:txBody>
          <a:bodyPr wrap="square" lIns="0" tIns="0" rIns="0" bIns="0" rtlCol="0" anchor="ctr"/>
          <a:lstStyle/>
          <a:p>
            <a:pPr algn="ctr" indent="0" marL="0">
              <a:buNone/>
            </a:pPr>
            <a:r>
              <a:rPr lang="en-US" sz="1200" b="1" spc="200" kern="0" dirty="0">
                <a:solidFill>
                  <a:schemeClr val="accent1"/>
                </a:solidFill>
              </a:rPr>
              <a:t>STEP 1</a:t>
            </a:r>
            <a:endParaRPr lang="en-US" sz="1200" dirty="0"/>
          </a:p>
        </p:txBody>
      </p:sp>
      <p:sp>
        <p:nvSpPr>
          <p:cNvPr id="7" name="a1-h"/>
          <p:cNvSpPr txBox="1"/>
          <p:nvPr/>
        </p:nvSpPr>
        <p:spPr>
          <a:xfrm>
            <a:off x="548640" y="3017520"/>
            <a:ext cx="2011680" cy="457200"/>
          </a:xfrm>
          <a:prstGeom prst="rect">
            <a:avLst/>
          </a:prstGeom>
          <a:noFill/>
          <a:ln/>
        </p:spPr>
        <p:txBody>
          <a:bodyPr wrap="square" lIns="0" tIns="0" rIns="0" bIns="0" rtlCol="0" anchor="ctr"/>
          <a:lstStyle/>
          <a:p>
            <a:pPr algn="ctr" indent="0" marL="0">
              <a:buNone/>
            </a:pPr>
            <a:r>
              <a:rPr lang="en-US" sz="1900" b="1" dirty="0">
                <a:solidFill>
                  <a:schemeClr val="tx2"/>
                </a:solidFill>
              </a:rPr>
              <a:t>Discover</a:t>
            </a:r>
            <a:endParaRPr lang="en-US" sz="1900" dirty="0"/>
          </a:p>
        </p:txBody>
      </p:sp>
      <p:sp>
        <p:nvSpPr>
          <p:cNvPr id="8" name="a1-t"/>
          <p:cNvSpPr txBox="1"/>
          <p:nvPr/>
        </p:nvSpPr>
        <p:spPr>
          <a:xfrm>
            <a:off x="594360" y="3520440"/>
            <a:ext cx="1920240" cy="1005840"/>
          </a:xfrm>
          <a:prstGeom prst="rect">
            <a:avLst/>
          </a:prstGeom>
          <a:noFill/>
          <a:ln/>
        </p:spPr>
        <p:txBody>
          <a:bodyPr wrap="square" lIns="0" tIns="0" rIns="0" bIns="0" rtlCol="0" anchor="t"/>
          <a:lstStyle/>
          <a:p>
            <a:pPr algn="ctr" indent="0" marL="0">
              <a:buNone/>
            </a:pPr>
            <a:r>
              <a:rPr lang="en-US" sz="1400" dirty="0">
                <a:solidFill>
                  <a:schemeClr val="tx1"/>
                </a:solidFill>
              </a:rPr>
              <a:t>We learn your needs, systems and deadlines.</a:t>
            </a:r>
            <a:endParaRPr lang="en-US" sz="1400" dirty="0"/>
          </a:p>
        </p:txBody>
      </p:sp>
      <p:sp>
        <p:nvSpPr>
          <p:cNvPr id="9" name="a2-ln"/>
          <p:cNvSpPr/>
          <p:nvPr/>
        </p:nvSpPr>
        <p:spPr>
          <a:xfrm>
            <a:off x="4142232" y="2057400"/>
            <a:ext cx="1371600" cy="0"/>
          </a:xfrm>
          <a:prstGeom prst="line">
            <a:avLst/>
          </a:prstGeom>
          <a:noFill/>
          <a:ln w="25400">
            <a:solidFill>
              <a:schemeClr val="accent3"/>
            </a:solidFill>
            <a:prstDash val="dash"/>
          </a:ln>
        </p:spPr>
      </p:sp>
      <p:sp>
        <p:nvSpPr>
          <p:cNvPr id="10" name="a2-d"/>
          <p:cNvSpPr/>
          <p:nvPr/>
        </p:nvSpPr>
        <p:spPr>
          <a:xfrm>
            <a:off x="3273552" y="1508760"/>
            <a:ext cx="1097280" cy="1097280"/>
          </a:xfrm>
          <a:prstGeom prst="ellipse">
            <a:avLst/>
          </a:prstGeom>
          <a:solidFill>
            <a:schemeClr val="tx2"/>
          </a:solidFill>
          <a:ln/>
        </p:spPr>
      </p:sp>
      <p:pic>
        <p:nvPicPr>
          <p:cNvPr id="11" name="a2-d-i" descr="preencoded.png">    </p:cNvPr>
          <p:cNvPicPr>
            <a:picLocks noChangeAspect="1"/>
          </p:cNvPicPr>
          <p:nvPr/>
        </p:nvPicPr>
        <p:blipFill>
          <a:blip r:embed="rId2"/>
          <a:stretch>
            <a:fillRect/>
          </a:stretch>
        </p:blipFill>
        <p:spPr>
          <a:xfrm>
            <a:off x="3547872" y="1783080"/>
            <a:ext cx="548640" cy="548640"/>
          </a:xfrm>
          <a:prstGeom prst="rect">
            <a:avLst/>
          </a:prstGeom>
        </p:spPr>
      </p:pic>
      <p:sp>
        <p:nvSpPr>
          <p:cNvPr id="12" name="a2-n"/>
          <p:cNvSpPr txBox="1"/>
          <p:nvPr/>
        </p:nvSpPr>
        <p:spPr>
          <a:xfrm>
            <a:off x="2816352" y="2743200"/>
            <a:ext cx="2011680" cy="274320"/>
          </a:xfrm>
          <a:prstGeom prst="rect">
            <a:avLst/>
          </a:prstGeom>
          <a:noFill/>
          <a:ln/>
        </p:spPr>
        <p:txBody>
          <a:bodyPr wrap="square" lIns="0" tIns="0" rIns="0" bIns="0" rtlCol="0" anchor="ctr"/>
          <a:lstStyle/>
          <a:p>
            <a:pPr algn="ctr" indent="0" marL="0">
              <a:buNone/>
            </a:pPr>
            <a:r>
              <a:rPr lang="en-US" sz="1200" b="1" spc="200" kern="0" dirty="0">
                <a:solidFill>
                  <a:schemeClr val="accent1"/>
                </a:solidFill>
              </a:rPr>
              <a:t>STEP 2</a:t>
            </a:r>
            <a:endParaRPr lang="en-US" sz="1200" dirty="0"/>
          </a:p>
        </p:txBody>
      </p:sp>
      <p:sp>
        <p:nvSpPr>
          <p:cNvPr id="13" name="a2-h"/>
          <p:cNvSpPr txBox="1"/>
          <p:nvPr/>
        </p:nvSpPr>
        <p:spPr>
          <a:xfrm>
            <a:off x="2816352" y="3017520"/>
            <a:ext cx="2011680" cy="457200"/>
          </a:xfrm>
          <a:prstGeom prst="rect">
            <a:avLst/>
          </a:prstGeom>
          <a:noFill/>
          <a:ln/>
        </p:spPr>
        <p:txBody>
          <a:bodyPr wrap="square" lIns="0" tIns="0" rIns="0" bIns="0" rtlCol="0" anchor="ctr"/>
          <a:lstStyle/>
          <a:p>
            <a:pPr algn="ctr" indent="0" marL="0">
              <a:buNone/>
            </a:pPr>
            <a:r>
              <a:rPr lang="en-US" sz="1900" b="1" dirty="0">
                <a:solidFill>
                  <a:schemeClr val="tx2"/>
                </a:solidFill>
              </a:rPr>
              <a:t>Onboard</a:t>
            </a:r>
            <a:endParaRPr lang="en-US" sz="1900" dirty="0"/>
          </a:p>
        </p:txBody>
      </p:sp>
      <p:sp>
        <p:nvSpPr>
          <p:cNvPr id="14" name="a2-t"/>
          <p:cNvSpPr txBox="1"/>
          <p:nvPr/>
        </p:nvSpPr>
        <p:spPr>
          <a:xfrm>
            <a:off x="2862072" y="3520440"/>
            <a:ext cx="1920240" cy="1005840"/>
          </a:xfrm>
          <a:prstGeom prst="rect">
            <a:avLst/>
          </a:prstGeom>
          <a:noFill/>
          <a:ln/>
        </p:spPr>
        <p:txBody>
          <a:bodyPr wrap="square" lIns="0" tIns="0" rIns="0" bIns="0" rtlCol="0" anchor="t"/>
          <a:lstStyle/>
          <a:p>
            <a:pPr algn="ctr" indent="0" marL="0">
              <a:buNone/>
            </a:pPr>
            <a:r>
              <a:rPr lang="en-US" sz="1400" dirty="0">
                <a:solidFill>
                  <a:schemeClr val="tx1"/>
                </a:solidFill>
              </a:rPr>
              <a:t>Secure access to your files and software is set up.</a:t>
            </a:r>
            <a:endParaRPr lang="en-US" sz="1400" dirty="0"/>
          </a:p>
        </p:txBody>
      </p:sp>
      <p:sp>
        <p:nvSpPr>
          <p:cNvPr id="15" name="a3-ln"/>
          <p:cNvSpPr/>
          <p:nvPr/>
        </p:nvSpPr>
        <p:spPr>
          <a:xfrm>
            <a:off x="6409944" y="2057400"/>
            <a:ext cx="1371600" cy="0"/>
          </a:xfrm>
          <a:prstGeom prst="line">
            <a:avLst/>
          </a:prstGeom>
          <a:noFill/>
          <a:ln w="25400">
            <a:solidFill>
              <a:schemeClr val="accent3"/>
            </a:solidFill>
            <a:prstDash val="dash"/>
          </a:ln>
        </p:spPr>
      </p:sp>
      <p:sp>
        <p:nvSpPr>
          <p:cNvPr id="16" name="a3-d"/>
          <p:cNvSpPr/>
          <p:nvPr/>
        </p:nvSpPr>
        <p:spPr>
          <a:xfrm>
            <a:off x="5541264" y="1508760"/>
            <a:ext cx="1097280" cy="1097280"/>
          </a:xfrm>
          <a:prstGeom prst="ellipse">
            <a:avLst/>
          </a:prstGeom>
          <a:solidFill>
            <a:schemeClr val="accent1"/>
          </a:solidFill>
          <a:ln/>
        </p:spPr>
      </p:sp>
      <p:pic>
        <p:nvPicPr>
          <p:cNvPr id="17" name="a3-d-i" descr="preencoded.png">    </p:cNvPr>
          <p:cNvPicPr>
            <a:picLocks noChangeAspect="1"/>
          </p:cNvPicPr>
          <p:nvPr/>
        </p:nvPicPr>
        <p:blipFill>
          <a:blip r:embed="rId3"/>
          <a:stretch>
            <a:fillRect/>
          </a:stretch>
        </p:blipFill>
        <p:spPr>
          <a:xfrm>
            <a:off x="5815584" y="1783080"/>
            <a:ext cx="548640" cy="548640"/>
          </a:xfrm>
          <a:prstGeom prst="rect">
            <a:avLst/>
          </a:prstGeom>
        </p:spPr>
      </p:pic>
      <p:sp>
        <p:nvSpPr>
          <p:cNvPr id="18" name="a3-n"/>
          <p:cNvSpPr txBox="1"/>
          <p:nvPr/>
        </p:nvSpPr>
        <p:spPr>
          <a:xfrm>
            <a:off x="5084064" y="2743200"/>
            <a:ext cx="2011680" cy="274320"/>
          </a:xfrm>
          <a:prstGeom prst="rect">
            <a:avLst/>
          </a:prstGeom>
          <a:noFill/>
          <a:ln/>
        </p:spPr>
        <p:txBody>
          <a:bodyPr wrap="square" lIns="0" tIns="0" rIns="0" bIns="0" rtlCol="0" anchor="ctr"/>
          <a:lstStyle/>
          <a:p>
            <a:pPr algn="ctr" indent="0" marL="0">
              <a:buNone/>
            </a:pPr>
            <a:r>
              <a:rPr lang="en-US" sz="1200" b="1" spc="200" kern="0" dirty="0">
                <a:solidFill>
                  <a:schemeClr val="accent1"/>
                </a:solidFill>
              </a:rPr>
              <a:t>STEP 3</a:t>
            </a:r>
            <a:endParaRPr lang="en-US" sz="1200" dirty="0"/>
          </a:p>
        </p:txBody>
      </p:sp>
      <p:sp>
        <p:nvSpPr>
          <p:cNvPr id="19" name="a3-h"/>
          <p:cNvSpPr txBox="1"/>
          <p:nvPr/>
        </p:nvSpPr>
        <p:spPr>
          <a:xfrm>
            <a:off x="5084064" y="3017520"/>
            <a:ext cx="2011680" cy="457200"/>
          </a:xfrm>
          <a:prstGeom prst="rect">
            <a:avLst/>
          </a:prstGeom>
          <a:noFill/>
          <a:ln/>
        </p:spPr>
        <p:txBody>
          <a:bodyPr wrap="square" lIns="0" tIns="0" rIns="0" bIns="0" rtlCol="0" anchor="ctr"/>
          <a:lstStyle/>
          <a:p>
            <a:pPr algn="ctr" indent="0" marL="0">
              <a:buNone/>
            </a:pPr>
            <a:r>
              <a:rPr lang="en-US" sz="1900" b="1" dirty="0">
                <a:solidFill>
                  <a:schemeClr val="tx2"/>
                </a:solidFill>
              </a:rPr>
              <a:t>Prepare</a:t>
            </a:r>
            <a:endParaRPr lang="en-US" sz="1900" dirty="0"/>
          </a:p>
        </p:txBody>
      </p:sp>
      <p:sp>
        <p:nvSpPr>
          <p:cNvPr id="20" name="a3-t"/>
          <p:cNvSpPr txBox="1"/>
          <p:nvPr/>
        </p:nvSpPr>
        <p:spPr>
          <a:xfrm>
            <a:off x="5129784" y="3520440"/>
            <a:ext cx="1920240" cy="1005840"/>
          </a:xfrm>
          <a:prstGeom prst="rect">
            <a:avLst/>
          </a:prstGeom>
          <a:noFill/>
          <a:ln/>
        </p:spPr>
        <p:txBody>
          <a:bodyPr wrap="square" lIns="0" tIns="0" rIns="0" bIns="0" rtlCol="0" anchor="t"/>
          <a:lstStyle/>
          <a:p>
            <a:pPr algn="ctr" indent="0" marL="0">
              <a:buNone/>
            </a:pPr>
            <a:r>
              <a:rPr lang="en-US" sz="1400" dirty="0">
                <a:solidFill>
                  <a:schemeClr val="tx1"/>
                </a:solidFill>
              </a:rPr>
              <a:t>Our team completes the books and prepares the tax reports.</a:t>
            </a:r>
            <a:endParaRPr lang="en-US" sz="1400" dirty="0"/>
          </a:p>
        </p:txBody>
      </p:sp>
      <p:sp>
        <p:nvSpPr>
          <p:cNvPr id="21" name="a4-ln"/>
          <p:cNvSpPr/>
          <p:nvPr/>
        </p:nvSpPr>
        <p:spPr>
          <a:xfrm>
            <a:off x="8677656" y="2057400"/>
            <a:ext cx="1371600" cy="0"/>
          </a:xfrm>
          <a:prstGeom prst="line">
            <a:avLst/>
          </a:prstGeom>
          <a:noFill/>
          <a:ln w="25400">
            <a:solidFill>
              <a:schemeClr val="accent3"/>
            </a:solidFill>
            <a:prstDash val="dash"/>
          </a:ln>
        </p:spPr>
      </p:sp>
      <p:sp>
        <p:nvSpPr>
          <p:cNvPr id="22" name="a4-d"/>
          <p:cNvSpPr/>
          <p:nvPr/>
        </p:nvSpPr>
        <p:spPr>
          <a:xfrm>
            <a:off x="7808976" y="1508760"/>
            <a:ext cx="1097280" cy="1097280"/>
          </a:xfrm>
          <a:prstGeom prst="ellipse">
            <a:avLst/>
          </a:prstGeom>
          <a:solidFill>
            <a:schemeClr val="tx2"/>
          </a:solidFill>
          <a:ln/>
        </p:spPr>
      </p:sp>
      <p:pic>
        <p:nvPicPr>
          <p:cNvPr id="23" name="a4-d-i" descr="preencoded.png">    </p:cNvPr>
          <p:cNvPicPr>
            <a:picLocks noChangeAspect="1"/>
          </p:cNvPicPr>
          <p:nvPr/>
        </p:nvPicPr>
        <p:blipFill>
          <a:blip r:embed="rId4"/>
          <a:stretch>
            <a:fillRect/>
          </a:stretch>
        </p:blipFill>
        <p:spPr>
          <a:xfrm>
            <a:off x="8083296" y="1783080"/>
            <a:ext cx="548640" cy="548640"/>
          </a:xfrm>
          <a:prstGeom prst="rect">
            <a:avLst/>
          </a:prstGeom>
        </p:spPr>
      </p:pic>
      <p:sp>
        <p:nvSpPr>
          <p:cNvPr id="24" name="a4-n"/>
          <p:cNvSpPr txBox="1"/>
          <p:nvPr/>
        </p:nvSpPr>
        <p:spPr>
          <a:xfrm>
            <a:off x="7351776" y="2743200"/>
            <a:ext cx="2011680" cy="274320"/>
          </a:xfrm>
          <a:prstGeom prst="rect">
            <a:avLst/>
          </a:prstGeom>
          <a:noFill/>
          <a:ln/>
        </p:spPr>
        <p:txBody>
          <a:bodyPr wrap="square" lIns="0" tIns="0" rIns="0" bIns="0" rtlCol="0" anchor="ctr"/>
          <a:lstStyle/>
          <a:p>
            <a:pPr algn="ctr" indent="0" marL="0">
              <a:buNone/>
            </a:pPr>
            <a:r>
              <a:rPr lang="en-US" sz="1200" b="1" spc="200" kern="0" dirty="0">
                <a:solidFill>
                  <a:schemeClr val="accent1"/>
                </a:solidFill>
              </a:rPr>
              <a:t>STEP 4</a:t>
            </a:r>
            <a:endParaRPr lang="en-US" sz="1200" dirty="0"/>
          </a:p>
        </p:txBody>
      </p:sp>
      <p:sp>
        <p:nvSpPr>
          <p:cNvPr id="25" name="a4-h"/>
          <p:cNvSpPr txBox="1"/>
          <p:nvPr/>
        </p:nvSpPr>
        <p:spPr>
          <a:xfrm>
            <a:off x="7351776" y="3017520"/>
            <a:ext cx="2011680" cy="457200"/>
          </a:xfrm>
          <a:prstGeom prst="rect">
            <a:avLst/>
          </a:prstGeom>
          <a:noFill/>
          <a:ln/>
        </p:spPr>
        <p:txBody>
          <a:bodyPr wrap="square" lIns="0" tIns="0" rIns="0" bIns="0" rtlCol="0" anchor="ctr"/>
          <a:lstStyle/>
          <a:p>
            <a:pPr algn="ctr" indent="0" marL="0">
              <a:buNone/>
            </a:pPr>
            <a:r>
              <a:rPr lang="en-US" sz="1900" b="1" dirty="0">
                <a:solidFill>
                  <a:schemeClr val="tx2"/>
                </a:solidFill>
              </a:rPr>
              <a:t>Review</a:t>
            </a:r>
            <a:endParaRPr lang="en-US" sz="1900" dirty="0"/>
          </a:p>
        </p:txBody>
      </p:sp>
      <p:sp>
        <p:nvSpPr>
          <p:cNvPr id="26" name="a4-t"/>
          <p:cNvSpPr txBox="1"/>
          <p:nvPr/>
        </p:nvSpPr>
        <p:spPr>
          <a:xfrm>
            <a:off x="7397496" y="3520440"/>
            <a:ext cx="1920240" cy="1005840"/>
          </a:xfrm>
          <a:prstGeom prst="rect">
            <a:avLst/>
          </a:prstGeom>
          <a:noFill/>
          <a:ln/>
        </p:spPr>
        <p:txBody>
          <a:bodyPr wrap="square" lIns="0" tIns="0" rIns="0" bIns="0" rtlCol="0" anchor="t"/>
          <a:lstStyle/>
          <a:p>
            <a:pPr algn="ctr" indent="0" marL="0">
              <a:buNone/>
            </a:pPr>
            <a:r>
              <a:rPr lang="en-US" sz="1400" dirty="0">
                <a:solidFill>
                  <a:schemeClr val="tx1"/>
                </a:solidFill>
              </a:rPr>
              <a:t>Your team checks and approves the work.</a:t>
            </a:r>
            <a:endParaRPr lang="en-US" sz="1400" dirty="0"/>
          </a:p>
        </p:txBody>
      </p:sp>
      <p:sp>
        <p:nvSpPr>
          <p:cNvPr id="27" name="a5-d"/>
          <p:cNvSpPr/>
          <p:nvPr/>
        </p:nvSpPr>
        <p:spPr>
          <a:xfrm>
            <a:off x="10076688" y="1508760"/>
            <a:ext cx="1097280" cy="1097280"/>
          </a:xfrm>
          <a:prstGeom prst="ellipse">
            <a:avLst/>
          </a:prstGeom>
          <a:solidFill>
            <a:schemeClr val="tx2"/>
          </a:solidFill>
          <a:ln/>
        </p:spPr>
      </p:sp>
      <p:pic>
        <p:nvPicPr>
          <p:cNvPr id="28" name="a5-d-i" descr="preencoded.png">    </p:cNvPr>
          <p:cNvPicPr>
            <a:picLocks noChangeAspect="1"/>
          </p:cNvPicPr>
          <p:nvPr/>
        </p:nvPicPr>
        <p:blipFill>
          <a:blip r:embed="rId5"/>
          <a:stretch>
            <a:fillRect/>
          </a:stretch>
        </p:blipFill>
        <p:spPr>
          <a:xfrm>
            <a:off x="10351008" y="1783080"/>
            <a:ext cx="548640" cy="548640"/>
          </a:xfrm>
          <a:prstGeom prst="rect">
            <a:avLst/>
          </a:prstGeom>
        </p:spPr>
      </p:pic>
      <p:sp>
        <p:nvSpPr>
          <p:cNvPr id="29" name="a5-n"/>
          <p:cNvSpPr txBox="1"/>
          <p:nvPr/>
        </p:nvSpPr>
        <p:spPr>
          <a:xfrm>
            <a:off x="9619488" y="2743200"/>
            <a:ext cx="2011680" cy="274320"/>
          </a:xfrm>
          <a:prstGeom prst="rect">
            <a:avLst/>
          </a:prstGeom>
          <a:noFill/>
          <a:ln/>
        </p:spPr>
        <p:txBody>
          <a:bodyPr wrap="square" lIns="0" tIns="0" rIns="0" bIns="0" rtlCol="0" anchor="ctr"/>
          <a:lstStyle/>
          <a:p>
            <a:pPr algn="ctr" indent="0" marL="0">
              <a:buNone/>
            </a:pPr>
            <a:r>
              <a:rPr lang="en-US" sz="1200" b="1" spc="200" kern="0" dirty="0">
                <a:solidFill>
                  <a:schemeClr val="accent1"/>
                </a:solidFill>
              </a:rPr>
              <a:t>STEP 5</a:t>
            </a:r>
            <a:endParaRPr lang="en-US" sz="1200" dirty="0"/>
          </a:p>
        </p:txBody>
      </p:sp>
      <p:sp>
        <p:nvSpPr>
          <p:cNvPr id="30" name="a5-h"/>
          <p:cNvSpPr txBox="1"/>
          <p:nvPr/>
        </p:nvSpPr>
        <p:spPr>
          <a:xfrm>
            <a:off x="9619488" y="3017520"/>
            <a:ext cx="2011680" cy="457200"/>
          </a:xfrm>
          <a:prstGeom prst="rect">
            <a:avLst/>
          </a:prstGeom>
          <a:noFill/>
          <a:ln/>
        </p:spPr>
        <p:txBody>
          <a:bodyPr wrap="square" lIns="0" tIns="0" rIns="0" bIns="0" rtlCol="0" anchor="ctr"/>
          <a:lstStyle/>
          <a:p>
            <a:pPr algn="ctr" indent="0" marL="0">
              <a:buNone/>
            </a:pPr>
            <a:r>
              <a:rPr lang="en-US" sz="1900" b="1" dirty="0">
                <a:solidFill>
                  <a:schemeClr val="tx2"/>
                </a:solidFill>
              </a:rPr>
              <a:t>Submit</a:t>
            </a:r>
            <a:endParaRPr lang="en-US" sz="1900" dirty="0"/>
          </a:p>
        </p:txBody>
      </p:sp>
      <p:sp>
        <p:nvSpPr>
          <p:cNvPr id="31" name="a5-t"/>
          <p:cNvSpPr txBox="1"/>
          <p:nvPr/>
        </p:nvSpPr>
        <p:spPr>
          <a:xfrm>
            <a:off x="9665208" y="3520440"/>
            <a:ext cx="1920240" cy="1005840"/>
          </a:xfrm>
          <a:prstGeom prst="rect">
            <a:avLst/>
          </a:prstGeom>
          <a:noFill/>
          <a:ln/>
        </p:spPr>
        <p:txBody>
          <a:bodyPr wrap="square" lIns="0" tIns="0" rIns="0" bIns="0" rtlCol="0" anchor="t"/>
          <a:lstStyle/>
          <a:p>
            <a:pPr algn="ctr" indent="0" marL="0">
              <a:buNone/>
            </a:pPr>
            <a:r>
              <a:rPr lang="en-US" sz="1400" dirty="0">
                <a:solidFill>
                  <a:schemeClr val="tx1"/>
                </a:solidFill>
              </a:rPr>
              <a:t>You file from your own system and keep the client.</a:t>
            </a:r>
            <a:endParaRPr lang="en-US" sz="1400" dirty="0"/>
          </a:p>
        </p:txBody>
      </p:sp>
      <p:sp>
        <p:nvSpPr>
          <p:cNvPr id="32" name="a6-k"/>
          <p:cNvSpPr/>
          <p:nvPr/>
        </p:nvSpPr>
        <p:spPr>
          <a:xfrm>
            <a:off x="548640" y="4892040"/>
            <a:ext cx="11064240" cy="1051560"/>
          </a:xfrm>
          <a:prstGeom prst="roundRect">
            <a:avLst>
              <a:gd name="adj" fmla="val 10435"/>
            </a:avLst>
          </a:prstGeom>
          <a:solidFill>
            <a:schemeClr val="bg2"/>
          </a:solidFill>
          <a:ln/>
        </p:spPr>
      </p:sp>
      <p:sp>
        <p:nvSpPr>
          <p:cNvPr id="33" name="a6-d"/>
          <p:cNvSpPr/>
          <p:nvPr/>
        </p:nvSpPr>
        <p:spPr>
          <a:xfrm>
            <a:off x="822960" y="5047488"/>
            <a:ext cx="731520" cy="731520"/>
          </a:xfrm>
          <a:prstGeom prst="ellipse">
            <a:avLst/>
          </a:prstGeom>
          <a:solidFill>
            <a:schemeClr val="accent1"/>
          </a:solidFill>
          <a:ln/>
        </p:spPr>
      </p:sp>
      <p:pic>
        <p:nvPicPr>
          <p:cNvPr id="34" name="a6-d-i" descr="preencoded.png">    </p:cNvPr>
          <p:cNvPicPr>
            <a:picLocks noChangeAspect="1"/>
          </p:cNvPicPr>
          <p:nvPr/>
        </p:nvPicPr>
        <p:blipFill>
          <a:blip r:embed="rId6"/>
          <a:stretch>
            <a:fillRect/>
          </a:stretch>
        </p:blipFill>
        <p:spPr>
          <a:xfrm>
            <a:off x="1005840" y="5230368"/>
            <a:ext cx="365760" cy="365760"/>
          </a:xfrm>
          <a:prstGeom prst="rect">
            <a:avLst/>
          </a:prstGeom>
        </p:spPr>
      </p:pic>
      <p:sp>
        <p:nvSpPr>
          <p:cNvPr id="35" name="a6-t"/>
          <p:cNvSpPr txBox="1"/>
          <p:nvPr/>
        </p:nvSpPr>
        <p:spPr>
          <a:xfrm>
            <a:off x="1783080" y="4892040"/>
            <a:ext cx="9601200" cy="1051560"/>
          </a:xfrm>
          <a:prstGeom prst="rect">
            <a:avLst/>
          </a:prstGeom>
          <a:noFill/>
          <a:ln/>
        </p:spPr>
        <p:txBody>
          <a:bodyPr wrap="square" lIns="0" tIns="0" rIns="0" bIns="0" rtlCol="0" anchor="ctr"/>
          <a:lstStyle/>
          <a:p>
            <a:pPr indent="0" marL="0">
              <a:buNone/>
            </a:pPr>
            <a:r>
              <a:rPr lang="en-US" sz="1700" b="1" dirty="0">
                <a:solidFill>
                  <a:schemeClr val="tx2"/>
                </a:solidFill>
              </a:rPr>
              <a:t>Humans in the lead. </a:t>
            </a:r>
            <a:pPr indent="0" marL="0">
              <a:buNone/>
            </a:pPr>
            <a:r>
              <a:rPr lang="en-US" sz="1700" dirty="0">
                <a:solidFill>
                  <a:schemeClr val="tx1"/>
                </a:solidFill>
              </a:rPr>
              <a:t>Skilled accountants do the work, your team makes the final call, and your clients remain yours.</a:t>
            </a:r>
            <a:endParaRPr lang="en-US" sz="17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12</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2"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par>
                          <p:cTn id="41" fill="hold">
                            <p:stCondLst>
                              <p:cond delay="750"/>
                            </p:stCondLst>
                            <p:childTnLst>
                              <p:par>
                                <p:cTn id="23" presetID="10"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par>
                          <p:cTn id="60" fill="hold">
                            <p:stCondLst>
                              <p:cond delay="1200"/>
                            </p:stCondLst>
                            <p:childTnLst>
                              <p:par>
                                <p:cTn id="42" presetID="10" presetClass="entr" presetSubtype="0"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par>
                          <p:cTn id="79" fill="hold">
                            <p:stCondLst>
                              <p:cond delay="1650"/>
                            </p:stCondLst>
                            <p:childTnLst>
                              <p:par>
                                <p:cTn id="61" presetID="10" presetClass="entr" presetSubtype="0"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childTnLst>
                          </p:cTn>
                        </p:par>
                        <p:par>
                          <p:cTn id="95" fill="hold">
                            <p:stCondLst>
                              <p:cond delay="2100"/>
                            </p:stCondLst>
                            <p:childTnLst>
                              <p:par>
                                <p:cTn id="80" presetID="10" presetClass="entr" presetSubtype="0" fill="hold" grpId="0" nodeType="after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childTnLst>
                          </p:cTn>
                        </p:par>
                        <p:par>
                          <p:cTn id="108" fill="hold">
                            <p:stCondLst>
                              <p:cond delay="2550"/>
                            </p:stCondLst>
                            <p:childTnLst>
                              <p:par>
                                <p:cTn id="96" presetID="10" presetClass="entr" presetSubtype="0" fill="hold" grpId="0" nodeType="after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P spid="31" grpId="0" animBg="1"/>
      <p:bldP spid="32" grpId="0" animBg="1"/>
      <p:bldP spid="33" grpId="0" animBg="1"/>
      <p:bldP spid="3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509760" cy="777240"/>
          </a:xfrm>
          <a:prstGeom prst="rect">
            <a:avLst/>
          </a:prstGeom>
          <a:noFill/>
          <a:ln/>
        </p:spPr>
        <p:txBody>
          <a:bodyPr wrap="square" lIns="0" tIns="0" rIns="0" bIns="0" rtlCol="0" anchor="ctr"/>
          <a:lstStyle/>
          <a:p>
            <a:pPr algn="l" indent="0" marL="0">
              <a:buNone/>
            </a:pPr>
            <a:r>
              <a:rPr lang="en-US" sz="3600" b="1" dirty="0">
                <a:solidFill>
                  <a:schemeClr val="tx2"/>
                </a:solidFill>
              </a:rPr>
              <a:t>Why Partner With Lotus BPO</a:t>
            </a:r>
            <a:endParaRPr lang="en-US" sz="3600" dirty="0"/>
          </a:p>
        </p:txBody>
      </p:sp>
      <p:sp>
        <p:nvSpPr>
          <p:cNvPr id="3" name="a1-d0"/>
          <p:cNvSpPr/>
          <p:nvPr/>
        </p:nvSpPr>
        <p:spPr>
          <a:xfrm>
            <a:off x="548640" y="1600200"/>
            <a:ext cx="868680" cy="868680"/>
          </a:xfrm>
          <a:prstGeom prst="ellipse">
            <a:avLst/>
          </a:prstGeom>
          <a:solidFill>
            <a:schemeClr val="tx2"/>
          </a:solidFill>
          <a:ln/>
        </p:spPr>
      </p:sp>
      <p:pic>
        <p:nvPicPr>
          <p:cNvPr id="4" name="a1-d0-i" descr="preencoded.png">    </p:cNvPr>
          <p:cNvPicPr>
            <a:picLocks noChangeAspect="1"/>
          </p:cNvPicPr>
          <p:nvPr/>
        </p:nvPicPr>
        <p:blipFill>
          <a:blip r:embed="rId1"/>
          <a:stretch>
            <a:fillRect/>
          </a:stretch>
        </p:blipFill>
        <p:spPr>
          <a:xfrm>
            <a:off x="765810" y="1817370"/>
            <a:ext cx="434340" cy="434340"/>
          </a:xfrm>
          <a:prstGeom prst="rect">
            <a:avLst/>
          </a:prstGeom>
        </p:spPr>
      </p:pic>
      <p:sp>
        <p:nvSpPr>
          <p:cNvPr id="5" name="a1-t0"/>
          <p:cNvSpPr txBox="1"/>
          <p:nvPr/>
        </p:nvSpPr>
        <p:spPr>
          <a:xfrm>
            <a:off x="1645920" y="1508760"/>
            <a:ext cx="4251960" cy="1097280"/>
          </a:xfrm>
          <a:prstGeom prst="rect">
            <a:avLst/>
          </a:prstGeom>
          <a:noFill/>
          <a:ln/>
        </p:spPr>
        <p:txBody>
          <a:bodyPr wrap="square" lIns="0" tIns="0" rIns="0" bIns="0" rtlCol="0" anchor="ctr"/>
          <a:lstStyle/>
          <a:p>
            <a:pPr indent="0" marL="0">
              <a:buNone/>
            </a:pPr>
            <a:r>
              <a:rPr lang="en-US" sz="2000" b="1" dirty="0">
                <a:solidFill>
                  <a:schemeClr val="tx2"/>
                </a:solidFill>
              </a:rPr>
              <a:t>Cost Efficiency</a:t>
            </a:r>
            <a:endParaRPr lang="en-US" sz="2000" dirty="0"/>
          </a:p>
          <a:p>
            <a:pPr indent="0" marL="0">
              <a:buNone/>
            </a:pPr>
            <a:r>
              <a:rPr lang="en-US" sz="1500" dirty="0">
                <a:solidFill>
                  <a:schemeClr val="tx1"/>
                </a:solidFill>
              </a:rPr>
              <a:t>Skilled work at a lower cost than hiring locally.</a:t>
            </a:r>
            <a:endParaRPr lang="en-US" sz="2000" dirty="0"/>
          </a:p>
        </p:txBody>
      </p:sp>
      <p:sp>
        <p:nvSpPr>
          <p:cNvPr id="6" name="a1-d1"/>
          <p:cNvSpPr/>
          <p:nvPr/>
        </p:nvSpPr>
        <p:spPr>
          <a:xfrm>
            <a:off x="6172200" y="1600200"/>
            <a:ext cx="868680" cy="868680"/>
          </a:xfrm>
          <a:prstGeom prst="ellipse">
            <a:avLst/>
          </a:prstGeom>
          <a:solidFill>
            <a:schemeClr val="accent2"/>
          </a:solidFill>
          <a:ln/>
        </p:spPr>
      </p:sp>
      <p:pic>
        <p:nvPicPr>
          <p:cNvPr id="7" name="a1-d1-i" descr="preencoded.png">    </p:cNvPr>
          <p:cNvPicPr>
            <a:picLocks noChangeAspect="1"/>
          </p:cNvPicPr>
          <p:nvPr/>
        </p:nvPicPr>
        <p:blipFill>
          <a:blip r:embed="rId2"/>
          <a:stretch>
            <a:fillRect/>
          </a:stretch>
        </p:blipFill>
        <p:spPr>
          <a:xfrm>
            <a:off x="6389370" y="1817370"/>
            <a:ext cx="434340" cy="434340"/>
          </a:xfrm>
          <a:prstGeom prst="rect">
            <a:avLst/>
          </a:prstGeom>
        </p:spPr>
      </p:pic>
      <p:sp>
        <p:nvSpPr>
          <p:cNvPr id="8" name="a1-t1"/>
          <p:cNvSpPr txBox="1"/>
          <p:nvPr/>
        </p:nvSpPr>
        <p:spPr>
          <a:xfrm>
            <a:off x="7269480" y="1508760"/>
            <a:ext cx="4251960" cy="1097280"/>
          </a:xfrm>
          <a:prstGeom prst="rect">
            <a:avLst/>
          </a:prstGeom>
          <a:noFill/>
          <a:ln/>
        </p:spPr>
        <p:txBody>
          <a:bodyPr wrap="square" lIns="0" tIns="0" rIns="0" bIns="0" rtlCol="0" anchor="ctr"/>
          <a:lstStyle/>
          <a:p>
            <a:pPr indent="0" marL="0">
              <a:buNone/>
            </a:pPr>
            <a:r>
              <a:rPr lang="en-US" sz="2000" b="1" dirty="0">
                <a:solidFill>
                  <a:schemeClr val="tx2"/>
                </a:solidFill>
              </a:rPr>
              <a:t>Faster Turnaround</a:t>
            </a:r>
            <a:endParaRPr lang="en-US" sz="2000" dirty="0"/>
          </a:p>
          <a:p>
            <a:pPr indent="0" marL="0">
              <a:buNone/>
            </a:pPr>
            <a:r>
              <a:rPr lang="en-US" sz="1500" dirty="0">
                <a:solidFill>
                  <a:schemeClr val="tx1"/>
                </a:solidFill>
              </a:rPr>
              <a:t>Our time zone keeps work moving while your office is closed.</a:t>
            </a:r>
            <a:endParaRPr lang="en-US" sz="2000" dirty="0"/>
          </a:p>
        </p:txBody>
      </p:sp>
      <p:sp>
        <p:nvSpPr>
          <p:cNvPr id="9" name="a2-d0"/>
          <p:cNvSpPr/>
          <p:nvPr/>
        </p:nvSpPr>
        <p:spPr>
          <a:xfrm>
            <a:off x="548640" y="3200400"/>
            <a:ext cx="868680" cy="868680"/>
          </a:xfrm>
          <a:prstGeom prst="ellipse">
            <a:avLst/>
          </a:prstGeom>
          <a:solidFill>
            <a:schemeClr val="tx2"/>
          </a:solidFill>
          <a:ln/>
        </p:spPr>
      </p:sp>
      <p:pic>
        <p:nvPicPr>
          <p:cNvPr id="10" name="a2-d0-i" descr="preencoded.png">    </p:cNvPr>
          <p:cNvPicPr>
            <a:picLocks noChangeAspect="1"/>
          </p:cNvPicPr>
          <p:nvPr/>
        </p:nvPicPr>
        <p:blipFill>
          <a:blip r:embed="rId3"/>
          <a:stretch>
            <a:fillRect/>
          </a:stretch>
        </p:blipFill>
        <p:spPr>
          <a:xfrm>
            <a:off x="765810" y="3417570"/>
            <a:ext cx="434340" cy="434340"/>
          </a:xfrm>
          <a:prstGeom prst="rect">
            <a:avLst/>
          </a:prstGeom>
        </p:spPr>
      </p:pic>
      <p:sp>
        <p:nvSpPr>
          <p:cNvPr id="11" name="a2-t0"/>
          <p:cNvSpPr txBox="1"/>
          <p:nvPr/>
        </p:nvSpPr>
        <p:spPr>
          <a:xfrm>
            <a:off x="1645920" y="3108960"/>
            <a:ext cx="4251960" cy="1097280"/>
          </a:xfrm>
          <a:prstGeom prst="rect">
            <a:avLst/>
          </a:prstGeom>
          <a:noFill/>
          <a:ln/>
        </p:spPr>
        <p:txBody>
          <a:bodyPr wrap="square" lIns="0" tIns="0" rIns="0" bIns="0" rtlCol="0" anchor="ctr"/>
          <a:lstStyle/>
          <a:p>
            <a:pPr indent="0" marL="0">
              <a:buNone/>
            </a:pPr>
            <a:r>
              <a:rPr lang="en-US" sz="2000" b="1" dirty="0">
                <a:solidFill>
                  <a:schemeClr val="tx2"/>
                </a:solidFill>
              </a:rPr>
              <a:t>Platform Ready</a:t>
            </a:r>
            <a:endParaRPr lang="en-US" sz="2000" dirty="0"/>
          </a:p>
          <a:p>
            <a:pPr indent="0" marL="0">
              <a:buNone/>
            </a:pPr>
            <a:r>
              <a:rPr lang="en-US" sz="1500" dirty="0">
                <a:solidFill>
                  <a:schemeClr val="tx1"/>
                </a:solidFill>
              </a:rPr>
              <a:t>Fluent in QuickBooks, Xero, CaseWare and CCH iFirm.</a:t>
            </a:r>
            <a:endParaRPr lang="en-US" sz="2000" dirty="0"/>
          </a:p>
        </p:txBody>
      </p:sp>
      <p:sp>
        <p:nvSpPr>
          <p:cNvPr id="12" name="a2-d1"/>
          <p:cNvSpPr/>
          <p:nvPr/>
        </p:nvSpPr>
        <p:spPr>
          <a:xfrm>
            <a:off x="6172200" y="3200400"/>
            <a:ext cx="868680" cy="868680"/>
          </a:xfrm>
          <a:prstGeom prst="ellipse">
            <a:avLst/>
          </a:prstGeom>
          <a:solidFill>
            <a:schemeClr val="accent2"/>
          </a:solidFill>
          <a:ln/>
        </p:spPr>
      </p:sp>
      <p:pic>
        <p:nvPicPr>
          <p:cNvPr id="13" name="a2-d1-i" descr="preencoded.png">    </p:cNvPr>
          <p:cNvPicPr>
            <a:picLocks noChangeAspect="1"/>
          </p:cNvPicPr>
          <p:nvPr/>
        </p:nvPicPr>
        <p:blipFill>
          <a:blip r:embed="rId4"/>
          <a:stretch>
            <a:fillRect/>
          </a:stretch>
        </p:blipFill>
        <p:spPr>
          <a:xfrm>
            <a:off x="6389370" y="3417570"/>
            <a:ext cx="434340" cy="434340"/>
          </a:xfrm>
          <a:prstGeom prst="rect">
            <a:avLst/>
          </a:prstGeom>
        </p:spPr>
      </p:pic>
      <p:sp>
        <p:nvSpPr>
          <p:cNvPr id="14" name="a2-t1"/>
          <p:cNvSpPr txBox="1"/>
          <p:nvPr/>
        </p:nvSpPr>
        <p:spPr>
          <a:xfrm>
            <a:off x="7269480" y="3108960"/>
            <a:ext cx="4251960" cy="1097280"/>
          </a:xfrm>
          <a:prstGeom prst="rect">
            <a:avLst/>
          </a:prstGeom>
          <a:noFill/>
          <a:ln/>
        </p:spPr>
        <p:txBody>
          <a:bodyPr wrap="square" lIns="0" tIns="0" rIns="0" bIns="0" rtlCol="0" anchor="ctr"/>
          <a:lstStyle/>
          <a:p>
            <a:pPr indent="0" marL="0">
              <a:buNone/>
            </a:pPr>
            <a:r>
              <a:rPr lang="en-US" sz="2000" b="1" dirty="0">
                <a:solidFill>
                  <a:schemeClr val="tx2"/>
                </a:solidFill>
              </a:rPr>
              <a:t>Scale on Demand</a:t>
            </a:r>
            <a:endParaRPr lang="en-US" sz="2000" dirty="0"/>
          </a:p>
          <a:p>
            <a:pPr indent="0" marL="0">
              <a:buNone/>
            </a:pPr>
            <a:r>
              <a:rPr lang="en-US" sz="1500" dirty="0">
                <a:solidFill>
                  <a:schemeClr val="tx1"/>
                </a:solidFill>
              </a:rPr>
              <a:t>Handle busy-season peaks without adding headcount.</a:t>
            </a:r>
            <a:endParaRPr lang="en-US" sz="2000" dirty="0"/>
          </a:p>
        </p:txBody>
      </p:sp>
      <p:sp>
        <p:nvSpPr>
          <p:cNvPr id="15" name="a3-d0"/>
          <p:cNvSpPr/>
          <p:nvPr/>
        </p:nvSpPr>
        <p:spPr>
          <a:xfrm>
            <a:off x="548640" y="4800600"/>
            <a:ext cx="868680" cy="868680"/>
          </a:xfrm>
          <a:prstGeom prst="ellipse">
            <a:avLst/>
          </a:prstGeom>
          <a:solidFill>
            <a:schemeClr val="tx2"/>
          </a:solidFill>
          <a:ln/>
        </p:spPr>
      </p:sp>
      <p:pic>
        <p:nvPicPr>
          <p:cNvPr id="16" name="a3-d0-i" descr="preencoded.png">    </p:cNvPr>
          <p:cNvPicPr>
            <a:picLocks noChangeAspect="1"/>
          </p:cNvPicPr>
          <p:nvPr/>
        </p:nvPicPr>
        <p:blipFill>
          <a:blip r:embed="rId5"/>
          <a:stretch>
            <a:fillRect/>
          </a:stretch>
        </p:blipFill>
        <p:spPr>
          <a:xfrm>
            <a:off x="765810" y="5017770"/>
            <a:ext cx="434340" cy="434340"/>
          </a:xfrm>
          <a:prstGeom prst="rect">
            <a:avLst/>
          </a:prstGeom>
        </p:spPr>
      </p:pic>
      <p:sp>
        <p:nvSpPr>
          <p:cNvPr id="17" name="a3-t0"/>
          <p:cNvSpPr txBox="1"/>
          <p:nvPr/>
        </p:nvSpPr>
        <p:spPr>
          <a:xfrm>
            <a:off x="1645920" y="4709160"/>
            <a:ext cx="4251960" cy="1097280"/>
          </a:xfrm>
          <a:prstGeom prst="rect">
            <a:avLst/>
          </a:prstGeom>
          <a:noFill/>
          <a:ln/>
        </p:spPr>
        <p:txBody>
          <a:bodyPr wrap="square" lIns="0" tIns="0" rIns="0" bIns="0" rtlCol="0" anchor="ctr"/>
          <a:lstStyle/>
          <a:p>
            <a:pPr indent="0" marL="0">
              <a:buNone/>
            </a:pPr>
            <a:r>
              <a:rPr lang="en-US" sz="2000" b="1" dirty="0">
                <a:solidFill>
                  <a:schemeClr val="tx2"/>
                </a:solidFill>
              </a:rPr>
              <a:t>Confidentiality First</a:t>
            </a:r>
            <a:endParaRPr lang="en-US" sz="2000" dirty="0"/>
          </a:p>
          <a:p>
            <a:pPr indent="0" marL="0">
              <a:buNone/>
            </a:pPr>
            <a:r>
              <a:rPr lang="en-US" sz="1500" dirty="0">
                <a:solidFill>
                  <a:schemeClr val="tx1"/>
                </a:solidFill>
              </a:rPr>
              <a:t>Client data handled with care and kept private.</a:t>
            </a:r>
            <a:endParaRPr lang="en-US" sz="2000" dirty="0"/>
          </a:p>
        </p:txBody>
      </p:sp>
      <p:sp>
        <p:nvSpPr>
          <p:cNvPr id="18" name="a3-d1"/>
          <p:cNvSpPr/>
          <p:nvPr/>
        </p:nvSpPr>
        <p:spPr>
          <a:xfrm>
            <a:off x="6172200" y="4800600"/>
            <a:ext cx="868680" cy="868680"/>
          </a:xfrm>
          <a:prstGeom prst="ellipse">
            <a:avLst/>
          </a:prstGeom>
          <a:solidFill>
            <a:schemeClr val="accent2"/>
          </a:solidFill>
          <a:ln/>
        </p:spPr>
      </p:sp>
      <p:pic>
        <p:nvPicPr>
          <p:cNvPr id="19" name="a3-d1-i" descr="preencoded.png">    </p:cNvPr>
          <p:cNvPicPr>
            <a:picLocks noChangeAspect="1"/>
          </p:cNvPicPr>
          <p:nvPr/>
        </p:nvPicPr>
        <p:blipFill>
          <a:blip r:embed="rId6"/>
          <a:stretch>
            <a:fillRect/>
          </a:stretch>
        </p:blipFill>
        <p:spPr>
          <a:xfrm>
            <a:off x="6389370" y="5017770"/>
            <a:ext cx="434340" cy="434340"/>
          </a:xfrm>
          <a:prstGeom prst="rect">
            <a:avLst/>
          </a:prstGeom>
        </p:spPr>
      </p:pic>
      <p:sp>
        <p:nvSpPr>
          <p:cNvPr id="20" name="a3-t1"/>
          <p:cNvSpPr txBox="1"/>
          <p:nvPr/>
        </p:nvSpPr>
        <p:spPr>
          <a:xfrm>
            <a:off x="7269480" y="4709160"/>
            <a:ext cx="4251960" cy="1097280"/>
          </a:xfrm>
          <a:prstGeom prst="rect">
            <a:avLst/>
          </a:prstGeom>
          <a:noFill/>
          <a:ln/>
        </p:spPr>
        <p:txBody>
          <a:bodyPr wrap="square" lIns="0" tIns="0" rIns="0" bIns="0" rtlCol="0" anchor="ctr"/>
          <a:lstStyle/>
          <a:p>
            <a:pPr indent="0" marL="0">
              <a:buNone/>
            </a:pPr>
            <a:r>
              <a:rPr lang="en-US" sz="2000" b="1" dirty="0">
                <a:solidFill>
                  <a:schemeClr val="tx2"/>
                </a:solidFill>
              </a:rPr>
              <a:t>Proven in Four Markets</a:t>
            </a:r>
            <a:endParaRPr lang="en-US" sz="2000" dirty="0"/>
          </a:p>
          <a:p>
            <a:pPr indent="0" marL="0">
              <a:buNone/>
            </a:pPr>
            <a:r>
              <a:rPr lang="en-US" sz="1500" dirty="0">
                <a:solidFill>
                  <a:schemeClr val="tx1"/>
                </a:solidFill>
              </a:rPr>
              <a:t>Trusted in Canada, Australia, the US and Singapore.</a:t>
            </a:r>
            <a:endParaRPr lang="en-US" sz="20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13</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2"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par>
                          <p:cTn id="41" fill="hold">
                            <p:stCondLst>
                              <p:cond delay="750"/>
                            </p:stCondLst>
                            <p:childTnLst>
                              <p:par>
                                <p:cTn id="23" presetID="10"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par>
                          <p:cTn id="60" fill="hold">
                            <p:stCondLst>
                              <p:cond delay="1200"/>
                            </p:stCondLst>
                            <p:childTnLst>
                              <p:par>
                                <p:cTn id="42" presetID="10" presetClass="entr" presetSubtype="0"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1" grpId="0" animBg="1"/>
      <p:bldP spid="12" grpId="0" animBg="1"/>
      <p:bldP spid="14" grpId="0" animBg="1"/>
      <p:bldP spid="15" grpId="0" animBg="1"/>
      <p:bldP spid="17" grpId="0" animBg="1"/>
      <p:bldP spid="18" grpId="0"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509760" cy="777240"/>
          </a:xfrm>
          <a:prstGeom prst="rect">
            <a:avLst/>
          </a:prstGeom>
          <a:noFill/>
          <a:ln/>
        </p:spPr>
        <p:txBody>
          <a:bodyPr wrap="square" lIns="0" tIns="0" rIns="0" bIns="0" rtlCol="0" anchor="ctr"/>
          <a:lstStyle/>
          <a:p>
            <a:pPr algn="l" indent="0" marL="0">
              <a:buNone/>
            </a:pPr>
            <a:r>
              <a:rPr lang="en-US" sz="3600" b="1" dirty="0">
                <a:solidFill>
                  <a:schemeClr val="tx2"/>
                </a:solidFill>
              </a:rPr>
              <a:t>Let's Work Together</a:t>
            </a:r>
            <a:endParaRPr lang="en-US" sz="3600" dirty="0"/>
          </a:p>
        </p:txBody>
      </p:sp>
      <p:sp>
        <p:nvSpPr>
          <p:cNvPr id="3" name="a1-c"/>
          <p:cNvSpPr/>
          <p:nvPr/>
        </p:nvSpPr>
        <p:spPr>
          <a:xfrm>
            <a:off x="548640" y="1463040"/>
            <a:ext cx="3474720" cy="2880360"/>
          </a:xfrm>
          <a:prstGeom prst="roundRect">
            <a:avLst>
              <a:gd name="adj" fmla="val 3810"/>
            </a:avLst>
          </a:prstGeom>
          <a:solidFill>
            <a:schemeClr val="bg1"/>
          </a:solidFill>
          <a:ln w="12700">
            <a:solidFill>
              <a:schemeClr val="accent4"/>
            </a:solidFill>
            <a:prstDash val="solid"/>
          </a:ln>
          <a:effectLst>
            <a:outerShdw sx="100000" sy="100000" kx="0" ky="0" algn="bl" rotWithShape="0" blurRad="101600" dist="25400" dir="5400000">
              <a:srgbClr val="1F2A6B">
                <a:alpha val="12000"/>
              </a:srgbClr>
            </a:outerShdw>
          </a:effectLst>
        </p:spPr>
      </p:sp>
      <p:sp>
        <p:nvSpPr>
          <p:cNvPr id="4" name="a1-n"/>
          <p:cNvSpPr txBox="1"/>
          <p:nvPr/>
        </p:nvSpPr>
        <p:spPr>
          <a:xfrm>
            <a:off x="2926080" y="1600200"/>
            <a:ext cx="914400" cy="822960"/>
          </a:xfrm>
          <a:prstGeom prst="rect">
            <a:avLst/>
          </a:prstGeom>
          <a:noFill/>
          <a:ln/>
        </p:spPr>
        <p:txBody>
          <a:bodyPr wrap="square" lIns="0" tIns="0" rIns="0" bIns="0" rtlCol="0" anchor="ctr"/>
          <a:lstStyle/>
          <a:p>
            <a:pPr algn="r" indent="0" marL="0">
              <a:buNone/>
            </a:pPr>
            <a:r>
              <a:rPr lang="en-US" sz="4800" b="1" dirty="0">
                <a:solidFill>
                  <a:schemeClr val="accent4"/>
                </a:solidFill>
              </a:rPr>
              <a:t>1</a:t>
            </a:r>
            <a:endParaRPr lang="en-US" sz="4800" dirty="0"/>
          </a:p>
        </p:txBody>
      </p:sp>
      <p:sp>
        <p:nvSpPr>
          <p:cNvPr id="5" name="a1-d"/>
          <p:cNvSpPr/>
          <p:nvPr/>
        </p:nvSpPr>
        <p:spPr>
          <a:xfrm>
            <a:off x="868680" y="1737360"/>
            <a:ext cx="822960" cy="822960"/>
          </a:xfrm>
          <a:prstGeom prst="ellipse">
            <a:avLst/>
          </a:prstGeom>
          <a:solidFill>
            <a:schemeClr val="tx2"/>
          </a:solidFill>
          <a:ln/>
        </p:spPr>
      </p:sp>
      <p:pic>
        <p:nvPicPr>
          <p:cNvPr id="6" name="a1-d-i" descr="preencoded.png">    </p:cNvPr>
          <p:cNvPicPr>
            <a:picLocks noChangeAspect="1"/>
          </p:cNvPicPr>
          <p:nvPr/>
        </p:nvPicPr>
        <p:blipFill>
          <a:blip r:embed="rId1"/>
          <a:stretch>
            <a:fillRect/>
          </a:stretch>
        </p:blipFill>
        <p:spPr>
          <a:xfrm>
            <a:off x="1074420" y="1943100"/>
            <a:ext cx="411480" cy="411480"/>
          </a:xfrm>
          <a:prstGeom prst="rect">
            <a:avLst/>
          </a:prstGeom>
        </p:spPr>
      </p:pic>
      <p:sp>
        <p:nvSpPr>
          <p:cNvPr id="7" name="a1-h"/>
          <p:cNvSpPr txBox="1"/>
          <p:nvPr/>
        </p:nvSpPr>
        <p:spPr>
          <a:xfrm>
            <a:off x="868680" y="2743200"/>
            <a:ext cx="2834640" cy="411480"/>
          </a:xfrm>
          <a:prstGeom prst="rect">
            <a:avLst/>
          </a:prstGeom>
          <a:noFill/>
          <a:ln/>
        </p:spPr>
        <p:txBody>
          <a:bodyPr wrap="square" lIns="0" tIns="0" rIns="0" bIns="0" rtlCol="0" anchor="ctr"/>
          <a:lstStyle/>
          <a:p>
            <a:pPr indent="0" marL="0">
              <a:buNone/>
            </a:pPr>
            <a:r>
              <a:rPr lang="en-US" sz="2100" b="1" dirty="0">
                <a:solidFill>
                  <a:schemeClr val="tx2"/>
                </a:solidFill>
              </a:rPr>
              <a:t>Meet Us in Bali</a:t>
            </a:r>
            <a:endParaRPr lang="en-US" sz="2100" dirty="0"/>
          </a:p>
        </p:txBody>
      </p:sp>
      <p:sp>
        <p:nvSpPr>
          <p:cNvPr id="8" name="a1-t"/>
          <p:cNvSpPr txBox="1"/>
          <p:nvPr/>
        </p:nvSpPr>
        <p:spPr>
          <a:xfrm>
            <a:off x="868680" y="3200400"/>
            <a:ext cx="2880360" cy="1005840"/>
          </a:xfrm>
          <a:prstGeom prst="rect">
            <a:avLst/>
          </a:prstGeom>
          <a:noFill/>
          <a:ln/>
        </p:spPr>
        <p:txBody>
          <a:bodyPr wrap="square" lIns="0" tIns="0" rIns="0" bIns="0" rtlCol="0" anchor="t"/>
          <a:lstStyle/>
          <a:p>
            <a:pPr indent="0" marL="0">
              <a:buNone/>
            </a:pPr>
            <a:r>
              <a:rPr lang="en-US" sz="1500" dirty="0">
                <a:solidFill>
                  <a:schemeClr val="tx1"/>
                </a:solidFill>
              </a:rPr>
              <a:t>Let's talk over coffee during the conference breaks.</a:t>
            </a:r>
            <a:endParaRPr lang="en-US" sz="1500" dirty="0"/>
          </a:p>
        </p:txBody>
      </p:sp>
      <p:sp>
        <p:nvSpPr>
          <p:cNvPr id="9" name="a2-c"/>
          <p:cNvSpPr/>
          <p:nvPr/>
        </p:nvSpPr>
        <p:spPr>
          <a:xfrm>
            <a:off x="4297680" y="1463040"/>
            <a:ext cx="3474720" cy="2880360"/>
          </a:xfrm>
          <a:prstGeom prst="roundRect">
            <a:avLst>
              <a:gd name="adj" fmla="val 3810"/>
            </a:avLst>
          </a:prstGeom>
          <a:solidFill>
            <a:schemeClr val="bg1"/>
          </a:solidFill>
          <a:ln w="12700">
            <a:solidFill>
              <a:schemeClr val="accent4"/>
            </a:solidFill>
            <a:prstDash val="solid"/>
          </a:ln>
          <a:effectLst>
            <a:outerShdw sx="100000" sy="100000" kx="0" ky="0" algn="bl" rotWithShape="0" blurRad="101600" dist="25400" dir="5400000">
              <a:srgbClr val="1F2A6B">
                <a:alpha val="12000"/>
              </a:srgbClr>
            </a:outerShdw>
          </a:effectLst>
        </p:spPr>
      </p:sp>
      <p:sp>
        <p:nvSpPr>
          <p:cNvPr id="10" name="a2-n"/>
          <p:cNvSpPr txBox="1"/>
          <p:nvPr/>
        </p:nvSpPr>
        <p:spPr>
          <a:xfrm>
            <a:off x="6675120" y="1600200"/>
            <a:ext cx="914400" cy="822960"/>
          </a:xfrm>
          <a:prstGeom prst="rect">
            <a:avLst/>
          </a:prstGeom>
          <a:noFill/>
          <a:ln/>
        </p:spPr>
        <p:txBody>
          <a:bodyPr wrap="square" lIns="0" tIns="0" rIns="0" bIns="0" rtlCol="0" anchor="ctr"/>
          <a:lstStyle/>
          <a:p>
            <a:pPr algn="r" indent="0" marL="0">
              <a:buNone/>
            </a:pPr>
            <a:r>
              <a:rPr lang="en-US" sz="4800" b="1" dirty="0">
                <a:solidFill>
                  <a:schemeClr val="accent4"/>
                </a:solidFill>
              </a:rPr>
              <a:t>2</a:t>
            </a:r>
            <a:endParaRPr lang="en-US" sz="4800" dirty="0"/>
          </a:p>
        </p:txBody>
      </p:sp>
      <p:sp>
        <p:nvSpPr>
          <p:cNvPr id="11" name="a2-d"/>
          <p:cNvSpPr/>
          <p:nvPr/>
        </p:nvSpPr>
        <p:spPr>
          <a:xfrm>
            <a:off x="4617720" y="1737360"/>
            <a:ext cx="822960" cy="822960"/>
          </a:xfrm>
          <a:prstGeom prst="ellipse">
            <a:avLst/>
          </a:prstGeom>
          <a:solidFill>
            <a:schemeClr val="tx2"/>
          </a:solidFill>
          <a:ln/>
        </p:spPr>
      </p:sp>
      <p:pic>
        <p:nvPicPr>
          <p:cNvPr id="12" name="a2-d-i" descr="preencoded.png">    </p:cNvPr>
          <p:cNvPicPr>
            <a:picLocks noChangeAspect="1"/>
          </p:cNvPicPr>
          <p:nvPr/>
        </p:nvPicPr>
        <p:blipFill>
          <a:blip r:embed="rId2"/>
          <a:stretch>
            <a:fillRect/>
          </a:stretch>
        </p:blipFill>
        <p:spPr>
          <a:xfrm>
            <a:off x="4823460" y="1943100"/>
            <a:ext cx="411480" cy="411480"/>
          </a:xfrm>
          <a:prstGeom prst="rect">
            <a:avLst/>
          </a:prstGeom>
        </p:spPr>
      </p:pic>
      <p:sp>
        <p:nvSpPr>
          <p:cNvPr id="13" name="a2-h"/>
          <p:cNvSpPr txBox="1"/>
          <p:nvPr/>
        </p:nvSpPr>
        <p:spPr>
          <a:xfrm>
            <a:off x="4617720" y="2743200"/>
            <a:ext cx="2834640" cy="411480"/>
          </a:xfrm>
          <a:prstGeom prst="rect">
            <a:avLst/>
          </a:prstGeom>
          <a:noFill/>
          <a:ln/>
        </p:spPr>
        <p:txBody>
          <a:bodyPr wrap="square" lIns="0" tIns="0" rIns="0" bIns="0" rtlCol="0" anchor="ctr"/>
          <a:lstStyle/>
          <a:p>
            <a:pPr indent="0" marL="0">
              <a:buNone/>
            </a:pPr>
            <a:r>
              <a:rPr lang="en-US" sz="2100" b="1" dirty="0">
                <a:solidFill>
                  <a:schemeClr val="tx2"/>
                </a:solidFill>
              </a:rPr>
              <a:t>Start With a Pilot</a:t>
            </a:r>
            <a:endParaRPr lang="en-US" sz="2100" dirty="0"/>
          </a:p>
        </p:txBody>
      </p:sp>
      <p:sp>
        <p:nvSpPr>
          <p:cNvPr id="14" name="a2-t"/>
          <p:cNvSpPr txBox="1"/>
          <p:nvPr/>
        </p:nvSpPr>
        <p:spPr>
          <a:xfrm>
            <a:off x="4617720" y="3200400"/>
            <a:ext cx="2880360" cy="1005840"/>
          </a:xfrm>
          <a:prstGeom prst="rect">
            <a:avLst/>
          </a:prstGeom>
          <a:noFill/>
          <a:ln/>
        </p:spPr>
        <p:txBody>
          <a:bodyPr wrap="square" lIns="0" tIns="0" rIns="0" bIns="0" rtlCol="0" anchor="t"/>
          <a:lstStyle/>
          <a:p>
            <a:pPr indent="0" marL="0">
              <a:buNone/>
            </a:pPr>
            <a:r>
              <a:rPr lang="en-US" sz="1500" dirty="0">
                <a:solidFill>
                  <a:schemeClr val="tx1"/>
                </a:solidFill>
              </a:rPr>
              <a:t>Begin with a few client files and see our quality first-hand.</a:t>
            </a:r>
            <a:endParaRPr lang="en-US" sz="1500" dirty="0"/>
          </a:p>
        </p:txBody>
      </p:sp>
      <p:sp>
        <p:nvSpPr>
          <p:cNvPr id="15" name="a3-c"/>
          <p:cNvSpPr/>
          <p:nvPr/>
        </p:nvSpPr>
        <p:spPr>
          <a:xfrm>
            <a:off x="8046720" y="1463040"/>
            <a:ext cx="3474720" cy="2880360"/>
          </a:xfrm>
          <a:prstGeom prst="roundRect">
            <a:avLst>
              <a:gd name="adj" fmla="val 3810"/>
            </a:avLst>
          </a:prstGeom>
          <a:solidFill>
            <a:schemeClr val="bg1"/>
          </a:solidFill>
          <a:ln w="12700">
            <a:solidFill>
              <a:schemeClr val="accent4"/>
            </a:solidFill>
            <a:prstDash val="solid"/>
          </a:ln>
          <a:effectLst>
            <a:outerShdw sx="100000" sy="100000" kx="0" ky="0" algn="bl" rotWithShape="0" blurRad="101600" dist="25400" dir="5400000">
              <a:srgbClr val="1F2A6B">
                <a:alpha val="12000"/>
              </a:srgbClr>
            </a:outerShdw>
          </a:effectLst>
        </p:spPr>
      </p:sp>
      <p:sp>
        <p:nvSpPr>
          <p:cNvPr id="16" name="a3-n"/>
          <p:cNvSpPr txBox="1"/>
          <p:nvPr/>
        </p:nvSpPr>
        <p:spPr>
          <a:xfrm>
            <a:off x="10424160" y="1600200"/>
            <a:ext cx="914400" cy="822960"/>
          </a:xfrm>
          <a:prstGeom prst="rect">
            <a:avLst/>
          </a:prstGeom>
          <a:noFill/>
          <a:ln/>
        </p:spPr>
        <p:txBody>
          <a:bodyPr wrap="square" lIns="0" tIns="0" rIns="0" bIns="0" rtlCol="0" anchor="ctr"/>
          <a:lstStyle/>
          <a:p>
            <a:pPr algn="r" indent="0" marL="0">
              <a:buNone/>
            </a:pPr>
            <a:r>
              <a:rPr lang="en-US" sz="4800" b="1" dirty="0">
                <a:solidFill>
                  <a:schemeClr val="accent4"/>
                </a:solidFill>
              </a:rPr>
              <a:t>3</a:t>
            </a:r>
            <a:endParaRPr lang="en-US" sz="4800" dirty="0"/>
          </a:p>
        </p:txBody>
      </p:sp>
      <p:sp>
        <p:nvSpPr>
          <p:cNvPr id="17" name="a3-d"/>
          <p:cNvSpPr/>
          <p:nvPr/>
        </p:nvSpPr>
        <p:spPr>
          <a:xfrm>
            <a:off x="8366760" y="1737360"/>
            <a:ext cx="822960" cy="822960"/>
          </a:xfrm>
          <a:prstGeom prst="ellipse">
            <a:avLst/>
          </a:prstGeom>
          <a:solidFill>
            <a:schemeClr val="accent1"/>
          </a:solidFill>
          <a:ln/>
        </p:spPr>
      </p:sp>
      <p:pic>
        <p:nvPicPr>
          <p:cNvPr id="18" name="a3-d-i" descr="preencoded.png">    </p:cNvPr>
          <p:cNvPicPr>
            <a:picLocks noChangeAspect="1"/>
          </p:cNvPicPr>
          <p:nvPr/>
        </p:nvPicPr>
        <p:blipFill>
          <a:blip r:embed="rId3"/>
          <a:stretch>
            <a:fillRect/>
          </a:stretch>
        </p:blipFill>
        <p:spPr>
          <a:xfrm>
            <a:off x="8572500" y="1943100"/>
            <a:ext cx="411480" cy="411480"/>
          </a:xfrm>
          <a:prstGeom prst="rect">
            <a:avLst/>
          </a:prstGeom>
        </p:spPr>
      </p:pic>
      <p:sp>
        <p:nvSpPr>
          <p:cNvPr id="19" name="a3-h"/>
          <p:cNvSpPr txBox="1"/>
          <p:nvPr/>
        </p:nvSpPr>
        <p:spPr>
          <a:xfrm>
            <a:off x="8366760" y="2743200"/>
            <a:ext cx="2834640" cy="411480"/>
          </a:xfrm>
          <a:prstGeom prst="rect">
            <a:avLst/>
          </a:prstGeom>
          <a:noFill/>
          <a:ln/>
        </p:spPr>
        <p:txBody>
          <a:bodyPr wrap="square" lIns="0" tIns="0" rIns="0" bIns="0" rtlCol="0" anchor="ctr"/>
          <a:lstStyle/>
          <a:p>
            <a:pPr indent="0" marL="0">
              <a:buNone/>
            </a:pPr>
            <a:r>
              <a:rPr lang="en-US" sz="2100" b="1" dirty="0">
                <a:solidFill>
                  <a:schemeClr val="tx2"/>
                </a:solidFill>
              </a:rPr>
              <a:t>Grow Together</a:t>
            </a:r>
            <a:endParaRPr lang="en-US" sz="2100" dirty="0"/>
          </a:p>
        </p:txBody>
      </p:sp>
      <p:sp>
        <p:nvSpPr>
          <p:cNvPr id="20" name="a3-t"/>
          <p:cNvSpPr txBox="1"/>
          <p:nvPr/>
        </p:nvSpPr>
        <p:spPr>
          <a:xfrm>
            <a:off x="8366760" y="3200400"/>
            <a:ext cx="2880360" cy="1005840"/>
          </a:xfrm>
          <a:prstGeom prst="rect">
            <a:avLst/>
          </a:prstGeom>
          <a:noFill/>
          <a:ln/>
        </p:spPr>
        <p:txBody>
          <a:bodyPr wrap="square" lIns="0" tIns="0" rIns="0" bIns="0" rtlCol="0" anchor="t"/>
          <a:lstStyle/>
          <a:p>
            <a:pPr indent="0" marL="0">
              <a:buNone/>
            </a:pPr>
            <a:r>
              <a:rPr lang="en-US" sz="1500" dirty="0">
                <a:solidFill>
                  <a:schemeClr val="tx1"/>
                </a:solidFill>
              </a:rPr>
              <a:t>Expand the scope as trust and volume grow.</a:t>
            </a:r>
            <a:endParaRPr lang="en-US" sz="1500" dirty="0"/>
          </a:p>
        </p:txBody>
      </p:sp>
      <p:sp>
        <p:nvSpPr>
          <p:cNvPr id="21" name="a4-k"/>
          <p:cNvSpPr/>
          <p:nvPr/>
        </p:nvSpPr>
        <p:spPr>
          <a:xfrm>
            <a:off x="548640" y="4663440"/>
            <a:ext cx="11064240" cy="1280160"/>
          </a:xfrm>
          <a:prstGeom prst="roundRect">
            <a:avLst>
              <a:gd name="adj" fmla="val 8571"/>
            </a:avLst>
          </a:prstGeom>
          <a:solidFill>
            <a:schemeClr val="tx2"/>
          </a:solidFill>
          <a:ln/>
        </p:spPr>
      </p:sp>
      <p:sp>
        <p:nvSpPr>
          <p:cNvPr id="22" name="a4-d1"/>
          <p:cNvSpPr/>
          <p:nvPr/>
        </p:nvSpPr>
        <p:spPr>
          <a:xfrm>
            <a:off x="868680" y="4937760"/>
            <a:ext cx="731520" cy="731520"/>
          </a:xfrm>
          <a:prstGeom prst="ellipse">
            <a:avLst/>
          </a:prstGeom>
          <a:solidFill>
            <a:schemeClr val="accent1"/>
          </a:solidFill>
          <a:ln/>
        </p:spPr>
      </p:sp>
      <p:pic>
        <p:nvPicPr>
          <p:cNvPr id="23" name="a4-d1-i" descr="preencoded.png">    </p:cNvPr>
          <p:cNvPicPr>
            <a:picLocks noChangeAspect="1"/>
          </p:cNvPicPr>
          <p:nvPr/>
        </p:nvPicPr>
        <p:blipFill>
          <a:blip r:embed="rId4"/>
          <a:stretch>
            <a:fillRect/>
          </a:stretch>
        </p:blipFill>
        <p:spPr>
          <a:xfrm>
            <a:off x="1051560" y="5120640"/>
            <a:ext cx="365760" cy="365760"/>
          </a:xfrm>
          <a:prstGeom prst="rect">
            <a:avLst/>
          </a:prstGeom>
        </p:spPr>
      </p:pic>
      <p:sp>
        <p:nvSpPr>
          <p:cNvPr id="24" name="a4-t1"/>
          <p:cNvSpPr txBox="1"/>
          <p:nvPr/>
        </p:nvSpPr>
        <p:spPr>
          <a:xfrm>
            <a:off x="1783080" y="4800600"/>
            <a:ext cx="3657600" cy="1005840"/>
          </a:xfrm>
          <a:prstGeom prst="rect">
            <a:avLst/>
          </a:prstGeom>
          <a:noFill/>
          <a:ln/>
        </p:spPr>
        <p:txBody>
          <a:bodyPr wrap="square" lIns="0" tIns="0" rIns="0" bIns="0" rtlCol="0" anchor="ctr"/>
          <a:lstStyle/>
          <a:p>
            <a:pPr indent="0" marL="0">
              <a:buNone/>
            </a:pPr>
            <a:r>
              <a:rPr lang="en-US" sz="1300" b="1" dirty="0">
                <a:solidFill>
                  <a:schemeClr val="accent3"/>
                </a:solidFill>
              </a:rPr>
              <a:t>Call us</a:t>
            </a:r>
            <a:endParaRPr lang="en-US" sz="1300" dirty="0"/>
          </a:p>
          <a:p>
            <a:pPr indent="0" marL="0">
              <a:buNone/>
            </a:pPr>
            <a:r>
              <a:rPr lang="en-US" sz="2200" b="1" dirty="0">
                <a:solidFill>
                  <a:schemeClr val="bg1"/>
                </a:solidFill>
              </a:rPr>
              <a:t>+84 902 343 218</a:t>
            </a:r>
            <a:endParaRPr lang="en-US" sz="1300" dirty="0"/>
          </a:p>
        </p:txBody>
      </p:sp>
      <p:sp>
        <p:nvSpPr>
          <p:cNvPr id="25" name="a4-d2"/>
          <p:cNvSpPr/>
          <p:nvPr/>
        </p:nvSpPr>
        <p:spPr>
          <a:xfrm>
            <a:off x="6035040" y="4937760"/>
            <a:ext cx="731520" cy="731520"/>
          </a:xfrm>
          <a:prstGeom prst="ellipse">
            <a:avLst/>
          </a:prstGeom>
          <a:solidFill>
            <a:schemeClr val="accent1"/>
          </a:solidFill>
          <a:ln/>
        </p:spPr>
      </p:sp>
      <p:pic>
        <p:nvPicPr>
          <p:cNvPr id="26" name="a4-d2-i" descr="preencoded.png">    </p:cNvPr>
          <p:cNvPicPr>
            <a:picLocks noChangeAspect="1"/>
          </p:cNvPicPr>
          <p:nvPr/>
        </p:nvPicPr>
        <p:blipFill>
          <a:blip r:embed="rId5"/>
          <a:stretch>
            <a:fillRect/>
          </a:stretch>
        </p:blipFill>
        <p:spPr>
          <a:xfrm>
            <a:off x="6217920" y="5120640"/>
            <a:ext cx="365760" cy="365760"/>
          </a:xfrm>
          <a:prstGeom prst="rect">
            <a:avLst/>
          </a:prstGeom>
        </p:spPr>
      </p:pic>
      <p:sp>
        <p:nvSpPr>
          <p:cNvPr id="27" name="a4-t2"/>
          <p:cNvSpPr txBox="1"/>
          <p:nvPr/>
        </p:nvSpPr>
        <p:spPr>
          <a:xfrm>
            <a:off x="6949440" y="4800600"/>
            <a:ext cx="4480560" cy="1005840"/>
          </a:xfrm>
          <a:prstGeom prst="rect">
            <a:avLst/>
          </a:prstGeom>
          <a:noFill/>
          <a:ln/>
        </p:spPr>
        <p:txBody>
          <a:bodyPr wrap="square" lIns="0" tIns="0" rIns="0" bIns="0" rtlCol="0" anchor="ctr"/>
          <a:lstStyle/>
          <a:p>
            <a:pPr indent="0" marL="0">
              <a:buNone/>
            </a:pPr>
            <a:r>
              <a:rPr lang="en-US" sz="1300" b="1" dirty="0">
                <a:solidFill>
                  <a:schemeClr val="accent3"/>
                </a:solidFill>
              </a:rPr>
              <a:t>Visit us</a:t>
            </a:r>
            <a:endParaRPr lang="en-US" sz="1300" dirty="0"/>
          </a:p>
          <a:p>
            <a:pPr indent="0" marL="0">
              <a:buNone/>
            </a:pPr>
            <a:r>
              <a:rPr lang="en-US" sz="2200" b="1" dirty="0">
                <a:solidFill>
                  <a:schemeClr val="bg1"/>
                </a:solidFill>
              </a:rPr>
              <a:t>Ho Chi Minh City, Vietnam</a:t>
            </a:r>
            <a:endParaRPr lang="en-US" sz="1300" dirty="0"/>
          </a:p>
        </p:txBody>
      </p:sp>
      <p:sp>
        <p:nvSpPr>
          <p:cNvPr id="25" name="Slide Number Placeholder 0"/>
          <p:cNvSpPr>
            <a:spLocks noGrp="1"/>
          </p:cNvSpPr>
          <p:nvPr>
            <p:ph type="sldNum" sz="quarter" idx="4294967295"/>
          </p:nvPr>
        </p:nvSpPr>
        <p:spPr>
          <a:xfrm>
            <a:off x="548640" y="635508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l"/>
            <a:fld id="{F7021451-1387-4CA6-816F-3879F97B5CBC}" type="slidenum">
              <a:rPr b="0" lang="en-US"/>
              <a:t>14</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2"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par>
                          <p:cTn id="41" fill="hold">
                            <p:stCondLst>
                              <p:cond delay="750"/>
                            </p:stCondLst>
                            <p:childTnLst>
                              <p:par>
                                <p:cTn id="23" presetID="10"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par>
                          <p:cTn id="60" fill="hold">
                            <p:stCondLst>
                              <p:cond delay="1200"/>
                            </p:stCondLst>
                            <p:childTnLst>
                              <p:par>
                                <p:cTn id="42" presetID="10" presetClass="entr" presetSubtype="0"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par>
                          <p:cTn id="82" fill="hold">
                            <p:stCondLst>
                              <p:cond delay="1650"/>
                            </p:stCondLst>
                            <p:childTnLst>
                              <p:par>
                                <p:cTn id="61" presetID="10" presetClass="entr" presetSubtype="0"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a1-logocard"/>
          <p:cNvSpPr/>
          <p:nvPr/>
        </p:nvSpPr>
        <p:spPr>
          <a:xfrm>
            <a:off x="731520" y="685800"/>
            <a:ext cx="3291840" cy="960120"/>
          </a:xfrm>
          <a:prstGeom prst="roundRect">
            <a:avLst>
              <a:gd name="adj" fmla="val 11429"/>
            </a:avLst>
          </a:prstGeom>
          <a:solidFill>
            <a:schemeClr val="bg1"/>
          </a:solidFill>
          <a:ln/>
        </p:spPr>
      </p:sp>
      <p:pic>
        <p:nvPicPr>
          <p:cNvPr id="3" name="a1-logo" descr="/home/user/Presentation-Deck/assets/logo.png">    </p:cNvPr>
          <p:cNvPicPr>
            <a:picLocks noChangeAspect="1"/>
          </p:cNvPicPr>
          <p:nvPr/>
        </p:nvPicPr>
        <p:blipFill>
          <a:blip r:embed="rId1"/>
          <a:stretch>
            <a:fillRect/>
          </a:stretch>
        </p:blipFill>
        <p:spPr>
          <a:xfrm>
            <a:off x="960120" y="859536"/>
            <a:ext cx="2834640" cy="708660"/>
          </a:xfrm>
          <a:prstGeom prst="rect">
            <a:avLst/>
          </a:prstGeom>
        </p:spPr>
      </p:pic>
      <p:sp>
        <p:nvSpPr>
          <p:cNvPr id="4" name="Text 0"/>
          <p:cNvSpPr/>
          <p:nvPr>
            <p:ph idx="101" type="title" hasCustomPrompt="1"/>
          </p:nvPr>
        </p:nvSpPr>
        <p:spPr>
          <a:xfrm>
            <a:off x="731520" y="2331720"/>
            <a:ext cx="7863840" cy="1554480"/>
          </a:xfrm>
          <a:prstGeom prst="rect">
            <a:avLst/>
          </a:prstGeom>
          <a:noFill/>
          <a:ln/>
        </p:spPr>
        <p:txBody>
          <a:bodyPr wrap="square" lIns="0" tIns="0" rIns="0" bIns="0" rtlCol="0" anchor="t"/>
          <a:lstStyle/>
          <a:p>
            <a:pPr algn="l" indent="0" marL="0">
              <a:buNone/>
            </a:pPr>
            <a:r>
              <a:rPr lang="en-US" sz="4400" b="1" dirty="0">
                <a:solidFill>
                  <a:schemeClr val="bg1"/>
                </a:solidFill>
              </a:rPr>
              <a:t>Thank You</a:t>
            </a:r>
            <a:endParaRPr lang="en-US" sz="4400" dirty="0"/>
          </a:p>
        </p:txBody>
      </p:sp>
      <p:sp>
        <p:nvSpPr>
          <p:cNvPr id="5" name="Text 0"/>
          <p:cNvSpPr/>
          <p:nvPr>
            <p:ph idx="102" type="body" hasCustomPrompt="1"/>
          </p:nvPr>
        </p:nvSpPr>
        <p:spPr>
          <a:xfrm>
            <a:off x="731520" y="3931920"/>
            <a:ext cx="7863840" cy="914400"/>
          </a:xfrm>
          <a:prstGeom prst="rect">
            <a:avLst/>
          </a:prstGeom>
          <a:noFill/>
          <a:ln/>
        </p:spPr>
        <p:txBody>
          <a:bodyPr wrap="square" lIns="0" tIns="0" rIns="0" bIns="0" rtlCol="0" anchor="t"/>
          <a:lstStyle/>
          <a:p>
            <a:pPr algn="l" indent="0" marL="0">
              <a:buNone/>
            </a:pPr>
            <a:r>
              <a:rPr lang="en-US" sz="2000" dirty="0">
                <a:solidFill>
                  <a:schemeClr val="accent4"/>
                </a:solidFill>
              </a:rPr>
              <a:t>Lotus BPO Company Limited · Your trusted accounting &amp; tax partner</a:t>
            </a:r>
            <a:endParaRPr lang="en-US" sz="2000" dirty="0"/>
          </a:p>
        </p:txBody>
      </p:sp>
      <p:sp>
        <p:nvSpPr>
          <p:cNvPr id="6" name="a2-q"/>
          <p:cNvSpPr txBox="1"/>
          <p:nvPr/>
        </p:nvSpPr>
        <p:spPr>
          <a:xfrm>
            <a:off x="731520" y="5349240"/>
            <a:ext cx="7863840" cy="411480"/>
          </a:xfrm>
          <a:prstGeom prst="rect">
            <a:avLst/>
          </a:prstGeom>
          <a:noFill/>
          <a:ln/>
        </p:spPr>
        <p:txBody>
          <a:bodyPr wrap="square" lIns="0" tIns="0" rIns="0" bIns="0" rtlCol="0" anchor="ctr"/>
          <a:lstStyle/>
          <a:p>
            <a:pPr indent="0" marL="0">
              <a:buNone/>
            </a:pPr>
            <a:r>
              <a:rPr lang="en-US" sz="1600" b="1" dirty="0">
                <a:solidFill>
                  <a:schemeClr val="accent3"/>
                </a:solidFill>
              </a:rPr>
              <a:t>Questions? We would be glad to hear from you.</a:t>
            </a:r>
            <a:endParaRPr lang="en-US" sz="1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300"/>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500"/>
                                        <p:tgtEl>
                                          <p:spTgt spid="3"/>
                                        </p:tgtEl>
                                      </p:cBhvr>
                                    </p:animEffect>
                                  </p:childTnLst>
                                </p:cTn>
                              </p:par>
                            </p:childTnLst>
                          </p:cTn>
                        </p:par>
                        <p:par>
                          <p:cTn id="14" fill="hold">
                            <p:stCondLst>
                              <p:cond delay="750"/>
                            </p:stCondLst>
                            <p:childTnLst>
                              <p:par>
                                <p:cTn id="11" presetID="10"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theme/theme1.xml><?xml version="1.0" encoding="utf-8"?>
<a:theme xmlns:a="http://schemas.openxmlformats.org/drawingml/2006/main" name="Lotus BPO">
  <a:themeElements>
    <a:clrScheme name="Lotus BPO">
      <a:dk1>
        <a:srgbClr val="1A1F36"/>
      </a:dk1>
      <a:lt1>
        <a:srgbClr val="FFFFFF"/>
      </a:lt1>
      <a:dk2>
        <a:srgbClr val="1F2A6B"/>
      </a:dk2>
      <a:lt2>
        <a:srgbClr val="F3F5FB"/>
      </a:lt2>
      <a:accent1>
        <a:srgbClr val="C8100A"/>
      </a:accent1>
      <a:accent2>
        <a:srgbClr val="22428E"/>
      </a:accent2>
      <a:accent3>
        <a:srgbClr val="5B7BC4"/>
      </a:accent3>
      <a:accent4>
        <a:srgbClr val="E8ECF7"/>
      </a:accent4>
      <a:accent5>
        <a:srgbClr val="5F6577"/>
      </a:accent5>
      <a:accent6>
        <a:srgbClr val="0E7C66"/>
      </a:accent6>
      <a:hlink>
        <a:srgbClr val="22428E"/>
      </a:hlink>
      <a:folHlink>
        <a:srgbClr val="5B7BC4"/>
      </a:folHlink>
    </a:clrScheme>
    <a:fontScheme name="Lotus BP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Lotus BPO Company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Lotus BPO Company Limited - Introduction</dc:title>
  <dc:subject>PptxGenJS Presentation</dc:subject>
  <dc:creator>Lotus BPO Company Limited</dc:creator>
  <cp:lastModifiedBy>Lotus BPO Company Limited</cp:lastModifiedBy>
  <cp:revision>1</cp:revision>
  <dcterms:created xsi:type="dcterms:W3CDTF">2026-10-14T04:53:35Z</dcterms:created>
  <dcterms:modified xsi:type="dcterms:W3CDTF">2026-10-14T04:53:35Z</dcterms:modified>
</cp:coreProperties>
</file>