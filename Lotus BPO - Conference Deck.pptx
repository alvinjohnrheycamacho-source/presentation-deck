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c80400de-f0c1-c64b-8562-8cd0300856c6}">
          <p14:sldIdLst>
            <p14:sldId id="256"/>
          </p14:sldIdLst>
        </p14:section>
        <p14:section name="About Us" id="{2191f93a-6485-0271-285a-8796939b2433}">
          <p14:sldIdLst>
            <p14:sldId id="257"/>
          </p14:sldIdLst>
        </p14:section>
        <p14:section name="Our Services" id="{e604884c-c500-e762-75bd-fde14f01765a}">
          <p14:sldIdLst>
            <p14:sldId id="258"/>
            <p14:sldId id="259"/>
          </p14:sldIdLst>
        </p14:section>
        <p14:section name="Canada" id="{52a6bd71-0050-1b3e-11f4-376453863327}">
          <p14:sldIdLst>
            <p14:sldId id="260"/>
            <p14:sldId id="261"/>
          </p14:sldIdLst>
        </p14:section>
        <p14:section name="Australia" id="{ec79da61-fc34-a221-11c5-b51e74227ff7}">
          <p14:sldIdLst>
            <p14:sldId id="262"/>
          </p14:sldIdLst>
        </p14:section>
        <p14:section name="Working Together" id="{dbb5f8b2-f3d2-e308-649f-46378f8b55b5}">
          <p14:sldIdLst>
            <p14:sldId id="263"/>
            <p14:sldId id="264"/>
          </p14:sldIdLst>
        </p14:section>
        <p14:section name="Our Office" id="{d3f0163e-f584-4d88-dd65-c9b2c5776cda}">
          <p14:sldIdLst>
            <p14:sldId id="265"/>
          </p14:sldIdLst>
        </p14:section>
        <p14:section name="Next Steps" id="{6fc00bd8-b9ec-6682-298c-3237f8095028}">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everyone. Thank you to MRI for having us here in Bali. We are Lotus BPO, a company in Ho Chi Minh City, Vietnam. We help accounting firms in other countries with their bookkeeping and tax work. In the next few minutes we will show you who we are, what we do, and how we can work with your 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Lotus BPO started in October 2024. We are a registered company in Ho Chi Minh City. Today we serve firms in two countries, Canada and Australia. We work every day in QuickBooks, CaseWare and Xero. Our biggest job so far was rebuilding six years of books for one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do. One: bookkeeping. Two: Canadian T2 corporate tax returns. Three: Australian BAS every quarter. Four: financial rebuilds, when a client's records are missing or behind. You review and sign off. We do the heavy lifting.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is in Vietnam. Our clients are in Canada, in Alberta and Ontario, and in Australia. In Canada we work with Professional Corporations and regular corporations. In Australia our clients are doctors and medical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Canada, we do bookkeeping in QuickBooks and CaseWare. We prepare T2 corporate tax returns each year. We also rebuild financial records when needed. We work through two Canadian partners: Opty Business Solutions and Harry Chang, Chartered Accountant. New clients come to us through them all the time, both Professional Corporations and regular corporations.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recent example. A dentistry Professional Corporation in Canada needed six years of books rebuilt, from 2021 to 2026. We collected the records, rebuilt each year, and matched every account. The client now has clean, complete records, ready for the accountant and for tax filing. If your firm has clients who are behind, we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Australia, we keep the books in Xero and prepare the BAS every quarter. Our Australian clients are doctors and medical practices, so we understand how their income and costs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with us is simple. First, we talk and learn your needs. Second, you give us access to the files and software. Third, we do the work. Fourth, your team reviews and signs off. Fifth, you deliver to your client. This fits the theme of this conference, Humans in the Lead: real people do the work, your team makes the final call, and your clients stay your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work with us? Lower costs. Work done overnight thanks to the time difference. We already use your software every day. You can grow in busy season without hiring. We take care with client data. And firms in Canada and Australia already trust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new office in Ho Chi Minh City. We signed and moved in on August 10, 2026. It gives our team more space to grow as we take on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next? Come and meet us here in Bali, at any coffee break. Start small with a few client files and see how we work. Then grow with us as trust builds. You can call us anytime at +84 902 343 218.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We are happy to answer any questions, here or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otus Dark">
    <p:bg>
      <p:bgPr>
        <a:solidFill>
          <a:schemeClr val="tx2"/>
        </a:solidFill>
      </p:bgPr>
    </p:bg>
    <p:spTree>
      <p:nvGrpSpPr>
        <p:cNvPr id="1" name=""/>
        <p:cNvGrpSpPr/>
        <p:nvPr/>
      </p:nvGrpSpPr>
      <p:grpSpPr>
        <a:xfrm>
          <a:off x="0" y="0"/>
          <a:ext cx="0" cy="0"/>
          <a:chOff x="0" y="0"/>
          <a:chExt cx="0" cy="0"/>
        </a:xfrm>
      </p:grpSpPr>
      <p:pic>
        <p:nvPicPr>
          <p:cNvPr id="2" name="Image 0" descr="/home/user/Presentation-Deck/assets/lotus-mark-white.png">    </p:cNvPr>
          <p:cNvPicPr>
            <a:picLocks noChangeAspect="1"/>
          </p:cNvPicPr>
          <p:nvPr/>
        </p:nvPicPr>
        <p:blipFill>
          <a:blip r:embed="rId1">
            <a:alphaModFix amt="12000"/>
          </a:blip>
          <a:stretch>
            <a:fillRect/>
          </a:stretch>
        </p:blipFill>
        <p:spPr>
          <a:xfrm>
            <a:off x="7589520" y="2011680"/>
            <a:ext cx="5852160" cy="3611880"/>
          </a:xfrm>
          <a:prstGeom prst="rect">
            <a:avLst/>
          </a:prstGeom>
        </p:spPr>
      </p:pic>
      <p:sp>
        <p:nvSpPr>
          <p:cNvPr id="3" name="Text 0"/>
          <p:cNvSpPr/>
          <p:nvPr>
            <p:ph idx="101" type="title" hasCustomPrompt="1"/>
          </p:nvPr>
        </p:nvSpPr>
        <p:spPr>
          <a:xfrm>
            <a:off x="731520" y="2331720"/>
            <a:ext cx="786384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931920"/>
            <a:ext cx="7863840" cy="914400"/>
          </a:xfrm>
          <a:prstGeom prst="rect">
            <a:avLst/>
          </a:prstGeom>
          <a:noFill/>
          <a:ln/>
        </p:spPr>
        <p:txBody>
          <a:bodyPr wrap="square" rtlCol="0"/>
          <a:lstStyle>
            <a:lvl1pPr algn="l" indent="0" marL="0">
              <a:buNone/>
              <a:defRPr lang="en-US" sz="2000" dirty="0">
                <a:solidFill>
                  <a:schemeClr val="accent4"/>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otus Content">
    <p:bg>
      <p:bgPr>
        <a:solidFill>
          <a:schemeClr val="bg1"/>
        </a:solidFill>
      </p:bgPr>
    </p:bg>
    <p:spTree>
      <p:nvGrpSpPr>
        <p:cNvPr id="1" name=""/>
        <p:cNvGrpSpPr/>
        <p:nvPr/>
      </p:nvGrpSpPr>
      <p:grpSpPr>
        <a:xfrm>
          <a:off x="0" y="0"/>
          <a:ext cx="0" cy="0"/>
          <a:chOff x="0" y="0"/>
          <a:chExt cx="0" cy="0"/>
        </a:xfrm>
      </p:grpSpPr>
      <p:pic>
        <p:nvPicPr>
          <p:cNvPr id="2" name="Image 0" descr="/home/user/Presentation-Deck/assets/logo.png">    </p:cNvPr>
          <p:cNvPicPr>
            <a:picLocks noChangeAspect="1"/>
          </p:cNvPicPr>
          <p:nvPr/>
        </p:nvPicPr>
        <p:blipFill>
          <a:blip r:embed="rId1"/>
          <a:stretch>
            <a:fillRect/>
          </a:stretch>
        </p:blipFill>
        <p:spPr>
          <a:xfrm>
            <a:off x="10241280" y="6327648"/>
            <a:ext cx="1417320" cy="356616"/>
          </a:xfrm>
          <a:prstGeom prst="rect">
            <a:avLst/>
          </a:prstGeom>
        </p:spPr>
      </p:pic>
      <p:sp>
        <p:nvSpPr>
          <p:cNvPr id="3" name="Text 0"/>
          <p:cNvSpPr/>
          <p:nvPr>
            <p:ph idx="101" type="title" hasCustomPrompt="1"/>
          </p:nvPr>
        </p:nvSpPr>
        <p:spPr>
          <a:xfrm>
            <a:off x="548640" y="365760"/>
            <a:ext cx="9509760"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Your Accounting &amp; Tax Team in Vietnam</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Introducing Lotus BPO Company Limited</a:t>
            </a:r>
            <a:endParaRPr lang="en-US" sz="2000" dirty="0"/>
          </a:p>
        </p:txBody>
      </p:sp>
      <p:sp>
        <p:nvSpPr>
          <p:cNvPr id="6" name="a2-for"/>
          <p:cNvSpPr txBox="1"/>
          <p:nvPr/>
        </p:nvSpPr>
        <p:spPr>
          <a:xfrm>
            <a:off x="731520" y="5166360"/>
            <a:ext cx="8686800" cy="777240"/>
          </a:xfrm>
          <a:prstGeom prst="rect">
            <a:avLst/>
          </a:prstGeom>
          <a:noFill/>
          <a:ln/>
        </p:spPr>
        <p:txBody>
          <a:bodyPr wrap="square" lIns="0" tIns="0" rIns="0" bIns="0" rtlCol="0" anchor="t"/>
          <a:lstStyle/>
          <a:p>
            <a:pPr indent="0" marL="0">
              <a:spcAft>
                <a:spcPts val="400"/>
              </a:spcAft>
              <a:buNone/>
            </a:pPr>
            <a:r>
              <a:rPr lang="en-US" sz="1600" b="1" dirty="0">
                <a:solidFill>
                  <a:schemeClr val="accent3"/>
                </a:solidFill>
              </a:rPr>
              <a:t>Presented to Moores Rowland International &amp; Partner Firms</a:t>
            </a:r>
            <a:endParaRPr lang="en-US" sz="1600" dirty="0"/>
          </a:p>
          <a:p>
            <a:pPr indent="0" marL="0">
              <a:spcAft>
                <a:spcPts val="400"/>
              </a:spcAft>
              <a:buNone/>
            </a:pPr>
            <a:r>
              <a:rPr lang="en-US" sz="1400" dirty="0">
                <a:solidFill>
                  <a:schemeClr val="accent4"/>
                </a:solidFill>
              </a:rPr>
              <a:t>MRI Conference &amp; AGM · Mövenpick Resort &amp; Spa, Jimbaran, Bali · 23–25 October 2026</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Who We Are</a:t>
            </a:r>
            <a:endParaRPr lang="en-US" sz="3600" dirty="0"/>
          </a:p>
        </p:txBody>
      </p:sp>
      <p:sp>
        <p:nvSpPr>
          <p:cNvPr id="3" name="a1-intro"/>
          <p:cNvSpPr txBox="1"/>
          <p:nvPr/>
        </p:nvSpPr>
        <p:spPr>
          <a:xfrm>
            <a:off x="548640" y="1417320"/>
            <a:ext cx="4937760" cy="2103120"/>
          </a:xfrm>
          <a:prstGeom prst="rect">
            <a:avLst/>
          </a:prstGeom>
          <a:noFill/>
          <a:ln/>
        </p:spPr>
        <p:txBody>
          <a:bodyPr wrap="square" lIns="0" tIns="0" rIns="0" bIns="0" rtlCol="0" anchor="t"/>
          <a:lstStyle/>
          <a:p>
            <a:pPr indent="0" marL="0">
              <a:buNone/>
            </a:pPr>
            <a:r>
              <a:rPr lang="en-US" sz="1800" dirty="0">
                <a:solidFill>
                  <a:schemeClr val="tx1"/>
                </a:solidFill>
              </a:rPr>
              <a:t>Lotus BPO is an accounting support company based in Ho Chi Minh City, Vietnam.</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We work behind the scenes for accounting firms abroad. We do the bookkeeping and tax prep, so your team has more time for clients.</a:t>
            </a:r>
            <a:endParaRPr lang="en-US" sz="1800" dirty="0"/>
          </a:p>
        </p:txBody>
      </p:sp>
      <p:sp>
        <p:nvSpPr>
          <p:cNvPr id="4" name="a2-lh"/>
          <p:cNvSpPr txBox="1"/>
          <p:nvPr/>
        </p:nvSpPr>
        <p:spPr>
          <a:xfrm>
            <a:off x="548640" y="3794760"/>
            <a:ext cx="49377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OUR LEADERS</a:t>
            </a:r>
            <a:endParaRPr lang="en-US" sz="1200" dirty="0"/>
          </a:p>
        </p:txBody>
      </p:sp>
      <p:sp>
        <p:nvSpPr>
          <p:cNvPr id="5" name="a2-ld0"/>
          <p:cNvSpPr/>
          <p:nvPr/>
        </p:nvSpPr>
        <p:spPr>
          <a:xfrm>
            <a:off x="548640" y="4206240"/>
            <a:ext cx="594360" cy="594360"/>
          </a:xfrm>
          <a:prstGeom prst="ellipse">
            <a:avLst/>
          </a:prstGeom>
          <a:solidFill>
            <a:schemeClr val="accent2"/>
          </a:solidFill>
          <a:ln/>
        </p:spPr>
      </p:sp>
      <p:pic>
        <p:nvPicPr>
          <p:cNvPr id="6" name="a2-ld0-i" descr="preencoded.png">    </p:cNvPr>
          <p:cNvPicPr>
            <a:picLocks noChangeAspect="1"/>
          </p:cNvPicPr>
          <p:nvPr/>
        </p:nvPicPr>
        <p:blipFill>
          <a:blip r:embed="rId1"/>
          <a:stretch>
            <a:fillRect/>
          </a:stretch>
        </p:blipFill>
        <p:spPr>
          <a:xfrm>
            <a:off x="697230" y="4354830"/>
            <a:ext cx="297180" cy="297180"/>
          </a:xfrm>
          <a:prstGeom prst="rect">
            <a:avLst/>
          </a:prstGeom>
        </p:spPr>
      </p:pic>
      <p:sp>
        <p:nvSpPr>
          <p:cNvPr id="7" name="a2-ldt0"/>
          <p:cNvSpPr txBox="1"/>
          <p:nvPr/>
        </p:nvSpPr>
        <p:spPr>
          <a:xfrm>
            <a:off x="1325880" y="420624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Nguyen Thi Phuong Hien</a:t>
            </a:r>
            <a:endParaRPr lang="en-US" sz="1600" dirty="0"/>
          </a:p>
          <a:p>
            <a:pPr indent="0" marL="0">
              <a:buNone/>
            </a:pPr>
            <a:r>
              <a:rPr lang="en-US" sz="1400" dirty="0">
                <a:solidFill>
                  <a:schemeClr val="accent5"/>
                </a:solidFill>
              </a:rPr>
              <a:t>General Director</a:t>
            </a:r>
            <a:endParaRPr lang="en-US" sz="1600" dirty="0"/>
          </a:p>
        </p:txBody>
      </p:sp>
      <p:sp>
        <p:nvSpPr>
          <p:cNvPr id="8" name="a2-ld1"/>
          <p:cNvSpPr/>
          <p:nvPr/>
        </p:nvSpPr>
        <p:spPr>
          <a:xfrm>
            <a:off x="548640" y="4983480"/>
            <a:ext cx="594360" cy="594360"/>
          </a:xfrm>
          <a:prstGeom prst="ellipse">
            <a:avLst/>
          </a:prstGeom>
          <a:solidFill>
            <a:schemeClr val="accent2"/>
          </a:solidFill>
          <a:ln/>
        </p:spPr>
      </p:sp>
      <p:pic>
        <p:nvPicPr>
          <p:cNvPr id="9" name="a2-ld1-i" descr="preencoded.png">    </p:cNvPr>
          <p:cNvPicPr>
            <a:picLocks noChangeAspect="1"/>
          </p:cNvPicPr>
          <p:nvPr/>
        </p:nvPicPr>
        <p:blipFill>
          <a:blip r:embed="rId2"/>
          <a:stretch>
            <a:fillRect/>
          </a:stretch>
        </p:blipFill>
        <p:spPr>
          <a:xfrm>
            <a:off x="697230" y="5132070"/>
            <a:ext cx="297180" cy="297180"/>
          </a:xfrm>
          <a:prstGeom prst="rect">
            <a:avLst/>
          </a:prstGeom>
        </p:spPr>
      </p:pic>
      <p:sp>
        <p:nvSpPr>
          <p:cNvPr id="10" name="a2-ldt1"/>
          <p:cNvSpPr txBox="1"/>
          <p:nvPr/>
        </p:nvSpPr>
        <p:spPr>
          <a:xfrm>
            <a:off x="1325880" y="498348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Anthony John Galliano</a:t>
            </a:r>
            <a:endParaRPr lang="en-US" sz="1600" dirty="0"/>
          </a:p>
          <a:p>
            <a:pPr indent="0" marL="0">
              <a:buNone/>
            </a:pPr>
            <a:r>
              <a:rPr lang="en-US" sz="1400" dirty="0">
                <a:solidFill>
                  <a:schemeClr val="accent5"/>
                </a:solidFill>
              </a:rPr>
              <a:t>Director</a:t>
            </a:r>
            <a:endParaRPr lang="en-US" sz="1600" dirty="0"/>
          </a:p>
        </p:txBody>
      </p:sp>
      <p:sp>
        <p:nvSpPr>
          <p:cNvPr id="11" name="a3-st0"/>
          <p:cNvSpPr/>
          <p:nvPr/>
        </p:nvSpPr>
        <p:spPr>
          <a:xfrm>
            <a:off x="6172200" y="1417320"/>
            <a:ext cx="2514600" cy="2057400"/>
          </a:xfrm>
          <a:prstGeom prst="roundRect">
            <a:avLst>
              <a:gd name="adj" fmla="val 5333"/>
            </a:avLst>
          </a:prstGeom>
          <a:solidFill>
            <a:schemeClr val="tx2"/>
          </a:solidFill>
          <a:ln/>
        </p:spPr>
      </p:sp>
      <p:sp>
        <p:nvSpPr>
          <p:cNvPr id="12" name="a3-sn0"/>
          <p:cNvSpPr txBox="1"/>
          <p:nvPr/>
        </p:nvSpPr>
        <p:spPr>
          <a:xfrm>
            <a:off x="6446520" y="1645920"/>
            <a:ext cx="2011680" cy="822960"/>
          </a:xfrm>
          <a:prstGeom prst="rect">
            <a:avLst/>
          </a:prstGeom>
          <a:noFill/>
          <a:ln/>
        </p:spPr>
        <p:txBody>
          <a:bodyPr wrap="square" lIns="0" tIns="0" rIns="0" bIns="0" rtlCol="0" anchor="ctr"/>
          <a:lstStyle/>
          <a:p>
            <a:pPr indent="0" marL="0">
              <a:buNone/>
            </a:pPr>
            <a:r>
              <a:rPr lang="en-US" sz="4800" b="1" dirty="0">
                <a:solidFill>
                  <a:schemeClr val="bg1"/>
                </a:solidFill>
              </a:rPr>
              <a:t>2024</a:t>
            </a:r>
            <a:endParaRPr lang="en-US" sz="4800" dirty="0"/>
          </a:p>
        </p:txBody>
      </p:sp>
      <p:sp>
        <p:nvSpPr>
          <p:cNvPr id="13" name="a3-sl0"/>
          <p:cNvSpPr txBox="1"/>
          <p:nvPr/>
        </p:nvSpPr>
        <p:spPr>
          <a:xfrm>
            <a:off x="6446520" y="2468880"/>
            <a:ext cx="2011680" cy="365760"/>
          </a:xfrm>
          <a:prstGeom prst="rect">
            <a:avLst/>
          </a:prstGeom>
          <a:noFill/>
          <a:ln/>
        </p:spPr>
        <p:txBody>
          <a:bodyPr wrap="square" lIns="0" tIns="0" rIns="0" bIns="0" rtlCol="0" anchor="ctr"/>
          <a:lstStyle/>
          <a:p>
            <a:pPr indent="0" marL="0">
              <a:buNone/>
            </a:pPr>
            <a:r>
              <a:rPr lang="en-US" sz="1600" b="1" dirty="0">
                <a:solidFill>
                  <a:schemeClr val="bg1"/>
                </a:solidFill>
              </a:rPr>
              <a:t>Year we started</a:t>
            </a:r>
            <a:endParaRPr lang="en-US" sz="1600" dirty="0"/>
          </a:p>
        </p:txBody>
      </p:sp>
      <p:sp>
        <p:nvSpPr>
          <p:cNvPr id="14" name="a3-sd0"/>
          <p:cNvSpPr txBox="1"/>
          <p:nvPr/>
        </p:nvSpPr>
        <p:spPr>
          <a:xfrm>
            <a:off x="6446520" y="2807208"/>
            <a:ext cx="2057400" cy="548640"/>
          </a:xfrm>
          <a:prstGeom prst="rect">
            <a:avLst/>
          </a:prstGeom>
          <a:noFill/>
          <a:ln/>
        </p:spPr>
        <p:txBody>
          <a:bodyPr wrap="square" lIns="0" tIns="0" rIns="0" bIns="0" rtlCol="0" anchor="t"/>
          <a:lstStyle/>
          <a:p>
            <a:pPr indent="0" marL="0">
              <a:buNone/>
            </a:pPr>
            <a:r>
              <a:rPr lang="en-US" sz="1200" dirty="0">
                <a:solidFill>
                  <a:schemeClr val="accent4"/>
                </a:solidFill>
              </a:rPr>
              <a:t>Registered in Vietnam on 15 October 2024</a:t>
            </a:r>
            <a:endParaRPr lang="en-US" sz="1200" dirty="0"/>
          </a:p>
        </p:txBody>
      </p:sp>
      <p:sp>
        <p:nvSpPr>
          <p:cNvPr id="15" name="a3-st1"/>
          <p:cNvSpPr/>
          <p:nvPr/>
        </p:nvSpPr>
        <p:spPr>
          <a:xfrm>
            <a:off x="8961120" y="1417320"/>
            <a:ext cx="2514600" cy="2057400"/>
          </a:xfrm>
          <a:prstGeom prst="roundRect">
            <a:avLst>
              <a:gd name="adj" fmla="val 5333"/>
            </a:avLst>
          </a:prstGeom>
          <a:solidFill>
            <a:schemeClr val="bg2"/>
          </a:solidFill>
          <a:ln/>
        </p:spPr>
      </p:sp>
      <p:sp>
        <p:nvSpPr>
          <p:cNvPr id="16" name="a3-sn1"/>
          <p:cNvSpPr txBox="1"/>
          <p:nvPr/>
        </p:nvSpPr>
        <p:spPr>
          <a:xfrm>
            <a:off x="9235440" y="164592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2</a:t>
            </a:r>
            <a:endParaRPr lang="en-US" sz="4800" dirty="0"/>
          </a:p>
        </p:txBody>
      </p:sp>
      <p:sp>
        <p:nvSpPr>
          <p:cNvPr id="17" name="a3-sl1"/>
          <p:cNvSpPr txBox="1"/>
          <p:nvPr/>
        </p:nvSpPr>
        <p:spPr>
          <a:xfrm>
            <a:off x="9235440" y="246888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Countries we serve</a:t>
            </a:r>
            <a:endParaRPr lang="en-US" sz="1600" dirty="0"/>
          </a:p>
        </p:txBody>
      </p:sp>
      <p:sp>
        <p:nvSpPr>
          <p:cNvPr id="18" name="a3-sd1"/>
          <p:cNvSpPr txBox="1"/>
          <p:nvPr/>
        </p:nvSpPr>
        <p:spPr>
          <a:xfrm>
            <a:off x="9235440" y="280720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Canada and Australia</a:t>
            </a:r>
            <a:endParaRPr lang="en-US" sz="1200" dirty="0"/>
          </a:p>
        </p:txBody>
      </p:sp>
      <p:sp>
        <p:nvSpPr>
          <p:cNvPr id="19" name="a3-st2"/>
          <p:cNvSpPr/>
          <p:nvPr/>
        </p:nvSpPr>
        <p:spPr>
          <a:xfrm>
            <a:off x="6172200" y="3749040"/>
            <a:ext cx="2514600" cy="2057400"/>
          </a:xfrm>
          <a:prstGeom prst="roundRect">
            <a:avLst>
              <a:gd name="adj" fmla="val 5333"/>
            </a:avLst>
          </a:prstGeom>
          <a:solidFill>
            <a:schemeClr val="bg2"/>
          </a:solidFill>
          <a:ln/>
        </p:spPr>
      </p:sp>
      <p:sp>
        <p:nvSpPr>
          <p:cNvPr id="20" name="a3-sn2"/>
          <p:cNvSpPr txBox="1"/>
          <p:nvPr/>
        </p:nvSpPr>
        <p:spPr>
          <a:xfrm>
            <a:off x="644652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3</a:t>
            </a:r>
            <a:endParaRPr lang="en-US" sz="4800" dirty="0"/>
          </a:p>
        </p:txBody>
      </p:sp>
      <p:sp>
        <p:nvSpPr>
          <p:cNvPr id="21" name="a3-sl2"/>
          <p:cNvSpPr txBox="1"/>
          <p:nvPr/>
        </p:nvSpPr>
        <p:spPr>
          <a:xfrm>
            <a:off x="644652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Accounting systems</a:t>
            </a:r>
            <a:endParaRPr lang="en-US" sz="1600" dirty="0"/>
          </a:p>
        </p:txBody>
      </p:sp>
      <p:sp>
        <p:nvSpPr>
          <p:cNvPr id="22" name="a3-sd2"/>
          <p:cNvSpPr txBox="1"/>
          <p:nvPr/>
        </p:nvSpPr>
        <p:spPr>
          <a:xfrm>
            <a:off x="644652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QuickBooks, CaseWare and Xero</a:t>
            </a:r>
            <a:endParaRPr lang="en-US" sz="1200" dirty="0"/>
          </a:p>
        </p:txBody>
      </p:sp>
      <p:sp>
        <p:nvSpPr>
          <p:cNvPr id="23" name="a3-st3"/>
          <p:cNvSpPr/>
          <p:nvPr/>
        </p:nvSpPr>
        <p:spPr>
          <a:xfrm>
            <a:off x="8961120" y="3749040"/>
            <a:ext cx="2514600" cy="2057400"/>
          </a:xfrm>
          <a:prstGeom prst="roundRect">
            <a:avLst>
              <a:gd name="adj" fmla="val 5333"/>
            </a:avLst>
          </a:prstGeom>
          <a:solidFill>
            <a:schemeClr val="bg2"/>
          </a:solidFill>
          <a:ln/>
        </p:spPr>
      </p:sp>
      <p:sp>
        <p:nvSpPr>
          <p:cNvPr id="24" name="a3-sn3"/>
          <p:cNvSpPr txBox="1"/>
          <p:nvPr/>
        </p:nvSpPr>
        <p:spPr>
          <a:xfrm>
            <a:off x="923544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6 yrs</a:t>
            </a:r>
            <a:endParaRPr lang="en-US" sz="4800" dirty="0"/>
          </a:p>
        </p:txBody>
      </p:sp>
      <p:sp>
        <p:nvSpPr>
          <p:cNvPr id="25" name="a3-sl3"/>
          <p:cNvSpPr txBox="1"/>
          <p:nvPr/>
        </p:nvSpPr>
        <p:spPr>
          <a:xfrm>
            <a:off x="923544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Longest file rebuilt</a:t>
            </a:r>
            <a:endParaRPr lang="en-US" sz="1600" dirty="0"/>
          </a:p>
        </p:txBody>
      </p:sp>
      <p:sp>
        <p:nvSpPr>
          <p:cNvPr id="26" name="a3-sd3"/>
          <p:cNvSpPr txBox="1"/>
          <p:nvPr/>
        </p:nvSpPr>
        <p:spPr>
          <a:xfrm>
            <a:off x="923544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A full rebuild, 2021 to 2026</a:t>
            </a:r>
            <a:endParaRPr lang="en-US" sz="1200" dirty="0"/>
          </a:p>
        </p:txBody>
      </p:sp>
      <p:sp>
        <p:nvSpPr>
          <p:cNvPr id="27" name="a4-reg"/>
          <p:cNvSpPr txBox="1"/>
          <p:nvPr/>
        </p:nvSpPr>
        <p:spPr>
          <a:xfrm>
            <a:off x="548640" y="59436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Enterprise No. 0318715056 · Ho Chi Minh City Business Registration Office</a:t>
            </a:r>
            <a:endParaRPr lang="en-US" sz="1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2</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9"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78"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childTnLst>
                          </p:cTn>
                        </p:par>
                        <p:par>
                          <p:cTn id="82" fill="hold">
                            <p:stCondLst>
                              <p:cond delay="165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What We Do</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Four simple services. One team you can count on.</a:t>
            </a:r>
            <a:endParaRPr lang="en-US" sz="1800" dirty="0"/>
          </a:p>
        </p:txBody>
      </p:sp>
      <p:sp>
        <p:nvSpPr>
          <p:cNvPr id="4" name="a2-c"/>
          <p:cNvSpPr/>
          <p:nvPr/>
        </p:nvSpPr>
        <p:spPr>
          <a:xfrm>
            <a:off x="548640"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5" name="a2-d"/>
          <p:cNvSpPr/>
          <p:nvPr/>
        </p:nvSpPr>
        <p:spPr>
          <a:xfrm>
            <a:off x="868680" y="2286000"/>
            <a:ext cx="914400" cy="914400"/>
          </a:xfrm>
          <a:prstGeom prst="ellipse">
            <a:avLst/>
          </a:prstGeom>
          <a:solidFill>
            <a:schemeClr val="tx2"/>
          </a:solidFill>
          <a:ln/>
        </p:spPr>
      </p:sp>
      <p:pic>
        <p:nvPicPr>
          <p:cNvPr id="6" name="a2-d-i" descr="preencoded.png">    </p:cNvPr>
          <p:cNvPicPr>
            <a:picLocks noChangeAspect="1"/>
          </p:cNvPicPr>
          <p:nvPr/>
        </p:nvPicPr>
        <p:blipFill>
          <a:blip r:embed="rId1"/>
          <a:stretch>
            <a:fillRect/>
          </a:stretch>
        </p:blipFill>
        <p:spPr>
          <a:xfrm>
            <a:off x="1097280" y="2514600"/>
            <a:ext cx="457200" cy="457200"/>
          </a:xfrm>
          <a:prstGeom prst="rect">
            <a:avLst/>
          </a:prstGeom>
        </p:spPr>
      </p:pic>
      <p:sp>
        <p:nvSpPr>
          <p:cNvPr id="7" name="a2-h"/>
          <p:cNvSpPr txBox="1"/>
          <p:nvPr/>
        </p:nvSpPr>
        <p:spPr>
          <a:xfrm>
            <a:off x="868680"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Bookkeeping</a:t>
            </a:r>
            <a:endParaRPr lang="en-US" sz="2000" dirty="0"/>
          </a:p>
        </p:txBody>
      </p:sp>
      <p:sp>
        <p:nvSpPr>
          <p:cNvPr id="8" name="a2-t"/>
          <p:cNvSpPr txBox="1"/>
          <p:nvPr/>
        </p:nvSpPr>
        <p:spPr>
          <a:xfrm>
            <a:off x="868680"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keep your clients' books clean and up to date every month.</a:t>
            </a:r>
            <a:endParaRPr lang="en-US" sz="1500" dirty="0"/>
          </a:p>
        </p:txBody>
      </p:sp>
      <p:sp>
        <p:nvSpPr>
          <p:cNvPr id="9" name="a3-c"/>
          <p:cNvSpPr/>
          <p:nvPr/>
        </p:nvSpPr>
        <p:spPr>
          <a:xfrm>
            <a:off x="3364992"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3-d"/>
          <p:cNvSpPr/>
          <p:nvPr/>
        </p:nvSpPr>
        <p:spPr>
          <a:xfrm>
            <a:off x="3685032" y="2286000"/>
            <a:ext cx="914400" cy="914400"/>
          </a:xfrm>
          <a:prstGeom prst="ellipse">
            <a:avLst/>
          </a:prstGeom>
          <a:solidFill>
            <a:schemeClr val="accent2"/>
          </a:solidFill>
          <a:ln/>
        </p:spPr>
      </p:sp>
      <p:pic>
        <p:nvPicPr>
          <p:cNvPr id="11" name="a3-d-i" descr="preencoded.png">    </p:cNvPr>
          <p:cNvPicPr>
            <a:picLocks noChangeAspect="1"/>
          </p:cNvPicPr>
          <p:nvPr/>
        </p:nvPicPr>
        <p:blipFill>
          <a:blip r:embed="rId2"/>
          <a:stretch>
            <a:fillRect/>
          </a:stretch>
        </p:blipFill>
        <p:spPr>
          <a:xfrm>
            <a:off x="3913632" y="2514600"/>
            <a:ext cx="457200" cy="457200"/>
          </a:xfrm>
          <a:prstGeom prst="rect">
            <a:avLst/>
          </a:prstGeom>
        </p:spPr>
      </p:pic>
      <p:sp>
        <p:nvSpPr>
          <p:cNvPr id="12" name="a3-h"/>
          <p:cNvSpPr txBox="1"/>
          <p:nvPr/>
        </p:nvSpPr>
        <p:spPr>
          <a:xfrm>
            <a:off x="3685032"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Tax Returns</a:t>
            </a:r>
            <a:endParaRPr lang="en-US" sz="2000" dirty="0"/>
          </a:p>
        </p:txBody>
      </p:sp>
      <p:sp>
        <p:nvSpPr>
          <p:cNvPr id="13" name="a3-t"/>
          <p:cNvSpPr txBox="1"/>
          <p:nvPr/>
        </p:nvSpPr>
        <p:spPr>
          <a:xfrm>
            <a:off x="3685032"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prepare Canadian T2 corporate tax returns, ready for your review.</a:t>
            </a:r>
            <a:endParaRPr lang="en-US" sz="1500" dirty="0"/>
          </a:p>
        </p:txBody>
      </p:sp>
      <p:sp>
        <p:nvSpPr>
          <p:cNvPr id="14" name="a4-c"/>
          <p:cNvSpPr/>
          <p:nvPr/>
        </p:nvSpPr>
        <p:spPr>
          <a:xfrm>
            <a:off x="6181344"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5" name="a4-d"/>
          <p:cNvSpPr/>
          <p:nvPr/>
        </p:nvSpPr>
        <p:spPr>
          <a:xfrm>
            <a:off x="6501384" y="2286000"/>
            <a:ext cx="914400" cy="914400"/>
          </a:xfrm>
          <a:prstGeom prst="ellipse">
            <a:avLst/>
          </a:prstGeom>
          <a:solidFill>
            <a:schemeClr val="tx2"/>
          </a:solidFill>
          <a:ln/>
        </p:spPr>
      </p:sp>
      <p:pic>
        <p:nvPicPr>
          <p:cNvPr id="16" name="a4-d-i" descr="preencoded.png">    </p:cNvPr>
          <p:cNvPicPr>
            <a:picLocks noChangeAspect="1"/>
          </p:cNvPicPr>
          <p:nvPr/>
        </p:nvPicPr>
        <p:blipFill>
          <a:blip r:embed="rId3"/>
          <a:stretch>
            <a:fillRect/>
          </a:stretch>
        </p:blipFill>
        <p:spPr>
          <a:xfrm>
            <a:off x="6729984" y="2514600"/>
            <a:ext cx="457200" cy="457200"/>
          </a:xfrm>
          <a:prstGeom prst="rect">
            <a:avLst/>
          </a:prstGeom>
        </p:spPr>
      </p:pic>
      <p:sp>
        <p:nvSpPr>
          <p:cNvPr id="17" name="a4-h"/>
          <p:cNvSpPr txBox="1"/>
          <p:nvPr/>
        </p:nvSpPr>
        <p:spPr>
          <a:xfrm>
            <a:off x="6501384"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BAS Reports</a:t>
            </a:r>
            <a:endParaRPr lang="en-US" sz="2000" dirty="0"/>
          </a:p>
        </p:txBody>
      </p:sp>
      <p:sp>
        <p:nvSpPr>
          <p:cNvPr id="18" name="a4-t"/>
          <p:cNvSpPr txBox="1"/>
          <p:nvPr/>
        </p:nvSpPr>
        <p:spPr>
          <a:xfrm>
            <a:off x="6501384"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prepare quarterly BAS for Australian clients, on time.</a:t>
            </a:r>
            <a:endParaRPr lang="en-US" sz="1500" dirty="0"/>
          </a:p>
        </p:txBody>
      </p:sp>
      <p:sp>
        <p:nvSpPr>
          <p:cNvPr id="19" name="a5-c"/>
          <p:cNvSpPr/>
          <p:nvPr/>
        </p:nvSpPr>
        <p:spPr>
          <a:xfrm>
            <a:off x="8997696"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0" name="a5-d"/>
          <p:cNvSpPr/>
          <p:nvPr/>
        </p:nvSpPr>
        <p:spPr>
          <a:xfrm>
            <a:off x="9317736" y="2286000"/>
            <a:ext cx="914400" cy="914400"/>
          </a:xfrm>
          <a:prstGeom prst="ellipse">
            <a:avLst/>
          </a:prstGeom>
          <a:solidFill>
            <a:schemeClr val="accent2"/>
          </a:solidFill>
          <a:ln/>
        </p:spPr>
      </p:sp>
      <p:pic>
        <p:nvPicPr>
          <p:cNvPr id="21" name="a5-d-i" descr="preencoded.png">    </p:cNvPr>
          <p:cNvPicPr>
            <a:picLocks noChangeAspect="1"/>
          </p:cNvPicPr>
          <p:nvPr/>
        </p:nvPicPr>
        <p:blipFill>
          <a:blip r:embed="rId4"/>
          <a:stretch>
            <a:fillRect/>
          </a:stretch>
        </p:blipFill>
        <p:spPr>
          <a:xfrm>
            <a:off x="9546336" y="2514600"/>
            <a:ext cx="457200" cy="457200"/>
          </a:xfrm>
          <a:prstGeom prst="rect">
            <a:avLst/>
          </a:prstGeom>
        </p:spPr>
      </p:pic>
      <p:sp>
        <p:nvSpPr>
          <p:cNvPr id="22" name="a5-h"/>
          <p:cNvSpPr txBox="1"/>
          <p:nvPr/>
        </p:nvSpPr>
        <p:spPr>
          <a:xfrm>
            <a:off x="9317736"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Financial Rebuilds</a:t>
            </a:r>
            <a:endParaRPr lang="en-US" sz="2000" dirty="0"/>
          </a:p>
        </p:txBody>
      </p:sp>
      <p:sp>
        <p:nvSpPr>
          <p:cNvPr id="23" name="a5-t"/>
          <p:cNvSpPr txBox="1"/>
          <p:nvPr/>
        </p:nvSpPr>
        <p:spPr>
          <a:xfrm>
            <a:off x="9317736"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Missing or messy records? We rebuild the books, even years back.</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3</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3"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9"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5"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childTnLst>
                          </p:cTn>
                        </p:par>
                        <p:par>
                          <p:cTn id="71" fill="hold">
                            <p:stCondLst>
                              <p:cond delay="2100"/>
                            </p:stCondLst>
                            <p:childTnLst>
                              <p:par>
                                <p:cTn id="56" presetID="10" presetClass="entr" presetSubtype="0" fill="hold" grpId="0" nodeType="after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Where Our Clients Are</a:t>
            </a:r>
            <a:endParaRPr lang="en-US" sz="3600" dirty="0"/>
          </a:p>
        </p:txBody>
      </p:sp>
      <p:sp>
        <p:nvSpPr>
          <p:cNvPr id="3" name="a1-hub"/>
          <p:cNvSpPr/>
          <p:nvPr/>
        </p:nvSpPr>
        <p:spPr>
          <a:xfrm>
            <a:off x="822960" y="2240280"/>
            <a:ext cx="2377440" cy="2377440"/>
          </a:xfrm>
          <a:prstGeom prst="ellipse">
            <a:avLst/>
          </a:prstGeom>
          <a:solidFill>
            <a:schemeClr val="tx2"/>
          </a:solidFill>
          <a:ln/>
        </p:spPr>
      </p:sp>
      <p:pic>
        <p:nvPicPr>
          <p:cNvPr id="4" name="a1-hubi" descr="/home/user/Presentation-Deck/assets/lotus-mark-white.png">    </p:cNvPr>
          <p:cNvPicPr>
            <a:picLocks noChangeAspect="1"/>
          </p:cNvPicPr>
          <p:nvPr/>
        </p:nvPicPr>
        <p:blipFill>
          <a:blip r:embed="rId1"/>
          <a:stretch>
            <a:fillRect/>
          </a:stretch>
        </p:blipFill>
        <p:spPr>
          <a:xfrm>
            <a:off x="1325880" y="2697480"/>
            <a:ext cx="1371600" cy="850392"/>
          </a:xfrm>
          <a:prstGeom prst="rect">
            <a:avLst/>
          </a:prstGeom>
        </p:spPr>
      </p:pic>
      <p:sp>
        <p:nvSpPr>
          <p:cNvPr id="5" name="a1-hubt"/>
          <p:cNvSpPr txBox="1"/>
          <p:nvPr/>
        </p:nvSpPr>
        <p:spPr>
          <a:xfrm>
            <a:off x="822960" y="361188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Our team</a:t>
            </a:r>
            <a:endParaRPr lang="en-US" sz="1400" dirty="0"/>
          </a:p>
          <a:p>
            <a:pPr algn="ctr" indent="0" marL="0">
              <a:buNone/>
            </a:pPr>
            <a:r>
              <a:rPr lang="en-US" sz="2200" b="1" dirty="0">
                <a:solidFill>
                  <a:schemeClr val="bg1"/>
                </a:solidFill>
              </a:rPr>
              <a:t>Vietnam</a:t>
            </a:r>
            <a:endParaRPr lang="en-US" sz="1400" dirty="0"/>
          </a:p>
        </p:txBody>
      </p:sp>
      <p:sp>
        <p:nvSpPr>
          <p:cNvPr id="6" name="a2-l1"/>
          <p:cNvSpPr/>
          <p:nvPr/>
        </p:nvSpPr>
        <p:spPr>
          <a:xfrm flipV="1">
            <a:off x="3291840" y="2514600"/>
            <a:ext cx="1371600" cy="685800"/>
          </a:xfrm>
          <a:prstGeom prst="line">
            <a:avLst/>
          </a:prstGeom>
          <a:noFill/>
          <a:ln w="31750">
            <a:solidFill>
              <a:schemeClr val="accent3"/>
            </a:solidFill>
            <a:prstDash val="dash"/>
            <a:tailEnd type="triangle"/>
          </a:ln>
        </p:spPr>
      </p:sp>
      <p:sp>
        <p:nvSpPr>
          <p:cNvPr id="7" name="a2-l2"/>
          <p:cNvSpPr/>
          <p:nvPr/>
        </p:nvSpPr>
        <p:spPr>
          <a:xfrm>
            <a:off x="3291840" y="3840480"/>
            <a:ext cx="1371600" cy="685800"/>
          </a:xfrm>
          <a:prstGeom prst="line">
            <a:avLst/>
          </a:prstGeom>
          <a:noFill/>
          <a:ln w="31750">
            <a:solidFill>
              <a:schemeClr val="accent3"/>
            </a:solidFill>
            <a:prstDash val="dash"/>
            <a:tailEnd type="triangle"/>
          </a:ln>
        </p:spPr>
      </p:sp>
      <p:sp>
        <p:nvSpPr>
          <p:cNvPr id="8" name="a3-c"/>
          <p:cNvSpPr/>
          <p:nvPr/>
        </p:nvSpPr>
        <p:spPr>
          <a:xfrm>
            <a:off x="4846320" y="1417320"/>
            <a:ext cx="6766560" cy="2148840"/>
          </a:xfrm>
          <a:prstGeom prst="roundRect">
            <a:avLst>
              <a:gd name="adj" fmla="val 5106"/>
            </a:avLst>
          </a:prstGeom>
          <a:solidFill>
            <a:schemeClr val="bg2"/>
          </a:solidFill>
          <a:ln/>
        </p:spPr>
      </p:sp>
      <p:sp>
        <p:nvSpPr>
          <p:cNvPr id="9" name="a3-d"/>
          <p:cNvSpPr/>
          <p:nvPr/>
        </p:nvSpPr>
        <p:spPr>
          <a:xfrm>
            <a:off x="5166360" y="1737360"/>
            <a:ext cx="685800" cy="685800"/>
          </a:xfrm>
          <a:prstGeom prst="ellipse">
            <a:avLst/>
          </a:prstGeom>
          <a:solidFill>
            <a:schemeClr val="accent1"/>
          </a:solidFill>
          <a:ln/>
        </p:spPr>
      </p:sp>
      <p:pic>
        <p:nvPicPr>
          <p:cNvPr id="10" name="a3-d-i" descr="preencoded.png">    </p:cNvPr>
          <p:cNvPicPr>
            <a:picLocks noChangeAspect="1"/>
          </p:cNvPicPr>
          <p:nvPr/>
        </p:nvPicPr>
        <p:blipFill>
          <a:blip r:embed="rId2"/>
          <a:stretch>
            <a:fillRect/>
          </a:stretch>
        </p:blipFill>
        <p:spPr>
          <a:xfrm>
            <a:off x="5337810" y="1908810"/>
            <a:ext cx="342900" cy="342900"/>
          </a:xfrm>
          <a:prstGeom prst="rect">
            <a:avLst/>
          </a:prstGeom>
        </p:spPr>
      </p:pic>
      <p:sp>
        <p:nvSpPr>
          <p:cNvPr id="11" name="a3-h"/>
          <p:cNvSpPr txBox="1"/>
          <p:nvPr/>
        </p:nvSpPr>
        <p:spPr>
          <a:xfrm>
            <a:off x="6035040" y="1737360"/>
            <a:ext cx="2743200" cy="411480"/>
          </a:xfrm>
          <a:prstGeom prst="rect">
            <a:avLst/>
          </a:prstGeom>
          <a:noFill/>
          <a:ln/>
        </p:spPr>
        <p:txBody>
          <a:bodyPr wrap="square" lIns="0" tIns="0" rIns="0" bIns="0" rtlCol="0" anchor="ctr"/>
          <a:lstStyle/>
          <a:p>
            <a:pPr indent="0" marL="0">
              <a:buNone/>
            </a:pPr>
            <a:r>
              <a:rPr lang="en-US" sz="2400" b="1" spc="100" kern="0" dirty="0">
                <a:solidFill>
                  <a:schemeClr val="tx2"/>
                </a:solidFill>
              </a:rPr>
              <a:t>CANADA</a:t>
            </a:r>
            <a:endParaRPr lang="en-US" sz="2400" dirty="0"/>
          </a:p>
        </p:txBody>
      </p:sp>
      <p:sp>
        <p:nvSpPr>
          <p:cNvPr id="12" name="a3-s"/>
          <p:cNvSpPr txBox="1"/>
          <p:nvPr/>
        </p:nvSpPr>
        <p:spPr>
          <a:xfrm>
            <a:off x="6035040" y="2148840"/>
            <a:ext cx="5303520" cy="320040"/>
          </a:xfrm>
          <a:prstGeom prst="rect">
            <a:avLst/>
          </a:prstGeom>
          <a:noFill/>
          <a:ln/>
        </p:spPr>
        <p:txBody>
          <a:bodyPr wrap="square" lIns="0" tIns="0" rIns="0" bIns="0" rtlCol="0" anchor="ctr"/>
          <a:lstStyle/>
          <a:p>
            <a:pPr indent="0" marL="0">
              <a:buNone/>
            </a:pPr>
            <a:r>
              <a:rPr lang="en-US" sz="1500" b="1" dirty="0">
                <a:solidFill>
                  <a:schemeClr val="accent1"/>
                </a:solidFill>
              </a:rPr>
              <a:t>Alberta &amp; Ontario</a:t>
            </a:r>
            <a:endParaRPr lang="en-US" sz="1500" dirty="0"/>
          </a:p>
        </p:txBody>
      </p:sp>
      <p:sp>
        <p:nvSpPr>
          <p:cNvPr id="13" name="a3-t"/>
          <p:cNvSpPr txBox="1"/>
          <p:nvPr/>
        </p:nvSpPr>
        <p:spPr>
          <a:xfrm>
            <a:off x="6035040" y="2560320"/>
            <a:ext cx="530352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do: </a:t>
            </a:r>
            <a:pPr indent="0" marL="0">
              <a:spcAft>
                <a:spcPts val="400"/>
              </a:spcAft>
              <a:buNone/>
            </a:pPr>
            <a:r>
              <a:rPr lang="en-US" sz="1500" dirty="0">
                <a:solidFill>
                  <a:schemeClr val="tx1"/>
                </a:solidFill>
              </a:rPr>
              <a:t>Bookkeeping, T2 tax returns and financial rebuilds</a:t>
            </a:r>
            <a:endParaRPr lang="en-US" sz="1500" dirty="0"/>
          </a:p>
          <a:p>
            <a:pPr indent="0" marL="0">
              <a:spcAft>
                <a:spcPts val="400"/>
              </a:spcAft>
              <a:buNone/>
            </a:pPr>
            <a:r>
              <a:rPr lang="en-US" sz="1500" b="1" dirty="0">
                <a:solidFill>
                  <a:schemeClr val="tx2"/>
                </a:solidFill>
              </a:rPr>
              <a:t>Who we serve: </a:t>
            </a:r>
            <a:pPr indent="0" marL="0">
              <a:spcAft>
                <a:spcPts val="400"/>
              </a:spcAft>
              <a:buNone/>
            </a:pPr>
            <a:r>
              <a:rPr lang="en-US" sz="1500" dirty="0">
                <a:solidFill>
                  <a:schemeClr val="tx1"/>
                </a:solidFill>
              </a:rPr>
              <a:t>Professional Corporations and Corporations</a:t>
            </a:r>
            <a:endParaRPr lang="en-US" sz="1500" dirty="0"/>
          </a:p>
        </p:txBody>
      </p:sp>
      <p:sp>
        <p:nvSpPr>
          <p:cNvPr id="14" name="a4-c"/>
          <p:cNvSpPr/>
          <p:nvPr/>
        </p:nvSpPr>
        <p:spPr>
          <a:xfrm>
            <a:off x="4846320" y="3840480"/>
            <a:ext cx="6766560" cy="2148840"/>
          </a:xfrm>
          <a:prstGeom prst="roundRect">
            <a:avLst>
              <a:gd name="adj" fmla="val 5106"/>
            </a:avLst>
          </a:prstGeom>
          <a:solidFill>
            <a:schemeClr val="bg2"/>
          </a:solidFill>
          <a:ln/>
        </p:spPr>
      </p:sp>
      <p:sp>
        <p:nvSpPr>
          <p:cNvPr id="15" name="a4-d"/>
          <p:cNvSpPr/>
          <p:nvPr/>
        </p:nvSpPr>
        <p:spPr>
          <a:xfrm>
            <a:off x="5166360" y="4160520"/>
            <a:ext cx="685800" cy="685800"/>
          </a:xfrm>
          <a:prstGeom prst="ellipse">
            <a:avLst/>
          </a:prstGeom>
          <a:solidFill>
            <a:schemeClr val="accent1"/>
          </a:solidFill>
          <a:ln/>
        </p:spPr>
      </p:sp>
      <p:pic>
        <p:nvPicPr>
          <p:cNvPr id="16" name="a4-d-i" descr="preencoded.png">    </p:cNvPr>
          <p:cNvPicPr>
            <a:picLocks noChangeAspect="1"/>
          </p:cNvPicPr>
          <p:nvPr/>
        </p:nvPicPr>
        <p:blipFill>
          <a:blip r:embed="rId3"/>
          <a:stretch>
            <a:fillRect/>
          </a:stretch>
        </p:blipFill>
        <p:spPr>
          <a:xfrm>
            <a:off x="5337810" y="4331970"/>
            <a:ext cx="342900" cy="342900"/>
          </a:xfrm>
          <a:prstGeom prst="rect">
            <a:avLst/>
          </a:prstGeom>
        </p:spPr>
      </p:pic>
      <p:sp>
        <p:nvSpPr>
          <p:cNvPr id="17" name="a4-h"/>
          <p:cNvSpPr txBox="1"/>
          <p:nvPr/>
        </p:nvSpPr>
        <p:spPr>
          <a:xfrm>
            <a:off x="6035040" y="4160520"/>
            <a:ext cx="2743200" cy="411480"/>
          </a:xfrm>
          <a:prstGeom prst="rect">
            <a:avLst/>
          </a:prstGeom>
          <a:noFill/>
          <a:ln/>
        </p:spPr>
        <p:txBody>
          <a:bodyPr wrap="square" lIns="0" tIns="0" rIns="0" bIns="0" rtlCol="0" anchor="ctr"/>
          <a:lstStyle/>
          <a:p>
            <a:pPr indent="0" marL="0">
              <a:buNone/>
            </a:pPr>
            <a:r>
              <a:rPr lang="en-US" sz="2400" b="1" spc="100" kern="0" dirty="0">
                <a:solidFill>
                  <a:schemeClr val="tx2"/>
                </a:solidFill>
              </a:rPr>
              <a:t>AUSTRALIA</a:t>
            </a:r>
            <a:endParaRPr lang="en-US" sz="2400" dirty="0"/>
          </a:p>
        </p:txBody>
      </p:sp>
      <p:sp>
        <p:nvSpPr>
          <p:cNvPr id="18" name="a4-s"/>
          <p:cNvSpPr txBox="1"/>
          <p:nvPr/>
        </p:nvSpPr>
        <p:spPr>
          <a:xfrm>
            <a:off x="6035040" y="4572000"/>
            <a:ext cx="5303520" cy="320040"/>
          </a:xfrm>
          <a:prstGeom prst="rect">
            <a:avLst/>
          </a:prstGeom>
          <a:noFill/>
          <a:ln/>
        </p:spPr>
        <p:txBody>
          <a:bodyPr wrap="square" lIns="0" tIns="0" rIns="0" bIns="0" rtlCol="0" anchor="ctr"/>
          <a:lstStyle/>
          <a:p>
            <a:pPr indent="0" marL="0">
              <a:buNone/>
            </a:pPr>
            <a:r>
              <a:rPr lang="en-US" sz="1500" b="1" dirty="0">
                <a:solidFill>
                  <a:schemeClr val="accent1"/>
                </a:solidFill>
              </a:rPr>
              <a:t>Medical field</a:t>
            </a:r>
            <a:endParaRPr lang="en-US" sz="1500" dirty="0"/>
          </a:p>
        </p:txBody>
      </p:sp>
      <p:sp>
        <p:nvSpPr>
          <p:cNvPr id="19" name="a4-t"/>
          <p:cNvSpPr txBox="1"/>
          <p:nvPr/>
        </p:nvSpPr>
        <p:spPr>
          <a:xfrm>
            <a:off x="6035040" y="4983480"/>
            <a:ext cx="530352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do: </a:t>
            </a:r>
            <a:pPr indent="0" marL="0">
              <a:spcAft>
                <a:spcPts val="400"/>
              </a:spcAft>
              <a:buNone/>
            </a:pPr>
            <a:r>
              <a:rPr lang="en-US" sz="1500" dirty="0">
                <a:solidFill>
                  <a:schemeClr val="tx1"/>
                </a:solidFill>
              </a:rPr>
              <a:t>Bookkeeping in Xero and quarterly BAS</a:t>
            </a:r>
            <a:endParaRPr lang="en-US" sz="1500" dirty="0"/>
          </a:p>
          <a:p>
            <a:pPr indent="0" marL="0">
              <a:spcAft>
                <a:spcPts val="400"/>
              </a:spcAft>
              <a:buNone/>
            </a:pPr>
            <a:r>
              <a:rPr lang="en-US" sz="1500" b="1" dirty="0">
                <a:solidFill>
                  <a:schemeClr val="tx2"/>
                </a:solidFill>
              </a:rPr>
              <a:t>Who we serve: </a:t>
            </a:r>
            <a:pPr indent="0" marL="0">
              <a:spcAft>
                <a:spcPts val="400"/>
              </a:spcAft>
              <a:buNone/>
            </a:pPr>
            <a:r>
              <a:rPr lang="en-US" sz="1500" dirty="0">
                <a:solidFill>
                  <a:schemeClr val="tx1"/>
                </a:solidFill>
              </a:rPr>
              <a:t>Doctors and medical practices</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4</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0"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39" fill="hold">
                            <p:stCondLst>
                              <p:cond delay="12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8"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Canada: Our Work</a:t>
            </a:r>
            <a:endParaRPr lang="en-US" sz="3600" dirty="0"/>
          </a:p>
        </p:txBody>
      </p:sp>
      <p:sp>
        <p:nvSpPr>
          <p:cNvPr id="3" name="a1-d"/>
          <p:cNvSpPr/>
          <p:nvPr/>
        </p:nvSpPr>
        <p:spPr>
          <a:xfrm>
            <a:off x="548640" y="1463040"/>
            <a:ext cx="868680" cy="868680"/>
          </a:xfrm>
          <a:prstGeom prst="ellipse">
            <a:avLst/>
          </a:prstGeom>
          <a:solidFill>
            <a:schemeClr val="tx2"/>
          </a:solidFill>
          <a:ln/>
        </p:spPr>
      </p:sp>
      <p:pic>
        <p:nvPicPr>
          <p:cNvPr id="4" name="a1-d-i" descr="preencoded.png">    </p:cNvPr>
          <p:cNvPicPr>
            <a:picLocks noChangeAspect="1"/>
          </p:cNvPicPr>
          <p:nvPr/>
        </p:nvPicPr>
        <p:blipFill>
          <a:blip r:embed="rId1"/>
          <a:stretch>
            <a:fillRect/>
          </a:stretch>
        </p:blipFill>
        <p:spPr>
          <a:xfrm>
            <a:off x="765810" y="1680210"/>
            <a:ext cx="434340" cy="434340"/>
          </a:xfrm>
          <a:prstGeom prst="rect">
            <a:avLst/>
          </a:prstGeom>
        </p:spPr>
      </p:pic>
      <p:sp>
        <p:nvSpPr>
          <p:cNvPr id="5" name="a1-t"/>
          <p:cNvSpPr txBox="1"/>
          <p:nvPr/>
        </p:nvSpPr>
        <p:spPr>
          <a:xfrm>
            <a:off x="1645920" y="14173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Bookkeeping</a:t>
            </a:r>
            <a:endParaRPr lang="en-US" sz="2000" dirty="0"/>
          </a:p>
          <a:p>
            <a:pPr indent="0" marL="0">
              <a:buNone/>
            </a:pPr>
            <a:r>
              <a:rPr lang="en-US" sz="1500" dirty="0">
                <a:solidFill>
                  <a:schemeClr val="accent5"/>
                </a:solidFill>
              </a:rPr>
              <a:t>In QuickBooks and CaseWare</a:t>
            </a:r>
            <a:endParaRPr lang="en-US" sz="2000" dirty="0"/>
          </a:p>
        </p:txBody>
      </p:sp>
      <p:sp>
        <p:nvSpPr>
          <p:cNvPr id="6" name="a2-d"/>
          <p:cNvSpPr/>
          <p:nvPr/>
        </p:nvSpPr>
        <p:spPr>
          <a:xfrm>
            <a:off x="548640" y="2834640"/>
            <a:ext cx="868680" cy="868680"/>
          </a:xfrm>
          <a:prstGeom prst="ellipse">
            <a:avLst/>
          </a:prstGeom>
          <a:solidFill>
            <a:schemeClr val="tx2"/>
          </a:solidFill>
          <a:ln/>
        </p:spPr>
      </p:sp>
      <p:pic>
        <p:nvPicPr>
          <p:cNvPr id="7" name="a2-d-i" descr="preencoded.png">    </p:cNvPr>
          <p:cNvPicPr>
            <a:picLocks noChangeAspect="1"/>
          </p:cNvPicPr>
          <p:nvPr/>
        </p:nvPicPr>
        <p:blipFill>
          <a:blip r:embed="rId2"/>
          <a:stretch>
            <a:fillRect/>
          </a:stretch>
        </p:blipFill>
        <p:spPr>
          <a:xfrm>
            <a:off x="765810" y="3051810"/>
            <a:ext cx="434340" cy="434340"/>
          </a:xfrm>
          <a:prstGeom prst="rect">
            <a:avLst/>
          </a:prstGeom>
        </p:spPr>
      </p:pic>
      <p:sp>
        <p:nvSpPr>
          <p:cNvPr id="8" name="a2-t"/>
          <p:cNvSpPr txBox="1"/>
          <p:nvPr/>
        </p:nvSpPr>
        <p:spPr>
          <a:xfrm>
            <a:off x="1645920" y="27889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T2 Corporate Tax Returns</a:t>
            </a:r>
            <a:endParaRPr lang="en-US" sz="2000" dirty="0"/>
          </a:p>
          <a:p>
            <a:pPr indent="0" marL="0">
              <a:buNone/>
            </a:pPr>
            <a:r>
              <a:rPr lang="en-US" sz="1500" dirty="0">
                <a:solidFill>
                  <a:schemeClr val="accent5"/>
                </a:solidFill>
              </a:rPr>
              <a:t>Prepared every year, ready for your review</a:t>
            </a:r>
            <a:endParaRPr lang="en-US" sz="2000" dirty="0"/>
          </a:p>
        </p:txBody>
      </p:sp>
      <p:sp>
        <p:nvSpPr>
          <p:cNvPr id="9" name="a3-d"/>
          <p:cNvSpPr/>
          <p:nvPr/>
        </p:nvSpPr>
        <p:spPr>
          <a:xfrm>
            <a:off x="548640" y="4206240"/>
            <a:ext cx="868680" cy="868680"/>
          </a:xfrm>
          <a:prstGeom prst="ellipse">
            <a:avLst/>
          </a:prstGeom>
          <a:solidFill>
            <a:schemeClr val="accent1"/>
          </a:solidFill>
          <a:ln/>
        </p:spPr>
      </p:sp>
      <p:pic>
        <p:nvPicPr>
          <p:cNvPr id="10" name="a3-d-i" descr="preencoded.png">    </p:cNvPr>
          <p:cNvPicPr>
            <a:picLocks noChangeAspect="1"/>
          </p:cNvPicPr>
          <p:nvPr/>
        </p:nvPicPr>
        <p:blipFill>
          <a:blip r:embed="rId3"/>
          <a:stretch>
            <a:fillRect/>
          </a:stretch>
        </p:blipFill>
        <p:spPr>
          <a:xfrm>
            <a:off x="765810" y="4423410"/>
            <a:ext cx="434340" cy="434340"/>
          </a:xfrm>
          <a:prstGeom prst="rect">
            <a:avLst/>
          </a:prstGeom>
        </p:spPr>
      </p:pic>
      <p:sp>
        <p:nvSpPr>
          <p:cNvPr id="11" name="a3-t"/>
          <p:cNvSpPr txBox="1"/>
          <p:nvPr/>
        </p:nvSpPr>
        <p:spPr>
          <a:xfrm>
            <a:off x="1645920" y="41605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Financial Rebuilds</a:t>
            </a:r>
            <a:endParaRPr lang="en-US" sz="2000" dirty="0"/>
          </a:p>
          <a:p>
            <a:pPr indent="0" marL="0">
              <a:buNone/>
            </a:pPr>
            <a:r>
              <a:rPr lang="en-US" sz="1500" dirty="0">
                <a:solidFill>
                  <a:schemeClr val="accent5"/>
                </a:solidFill>
              </a:rPr>
              <a:t>When records are missing or years behind</a:t>
            </a:r>
            <a:endParaRPr lang="en-US" sz="2000" dirty="0"/>
          </a:p>
        </p:txBody>
      </p:sp>
      <p:sp>
        <p:nvSpPr>
          <p:cNvPr id="12" name="a4-p"/>
          <p:cNvSpPr/>
          <p:nvPr/>
        </p:nvSpPr>
        <p:spPr>
          <a:xfrm>
            <a:off x="6583680" y="1417320"/>
            <a:ext cx="5029200" cy="4526280"/>
          </a:xfrm>
          <a:prstGeom prst="roundRect">
            <a:avLst>
              <a:gd name="adj" fmla="val 2424"/>
            </a:avLst>
          </a:prstGeom>
          <a:solidFill>
            <a:schemeClr val="tx2"/>
          </a:solidFill>
          <a:ln/>
        </p:spPr>
      </p:sp>
      <p:sp>
        <p:nvSpPr>
          <p:cNvPr id="13" name="a4-h"/>
          <p:cNvSpPr txBox="1"/>
          <p:nvPr/>
        </p:nvSpPr>
        <p:spPr>
          <a:xfrm>
            <a:off x="6949440" y="173736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WHO WE SERVE</a:t>
            </a:r>
            <a:endParaRPr lang="en-US" sz="1300" dirty="0"/>
          </a:p>
        </p:txBody>
      </p:sp>
      <p:sp>
        <p:nvSpPr>
          <p:cNvPr id="14" name="a4-t"/>
          <p:cNvSpPr txBox="1"/>
          <p:nvPr/>
        </p:nvSpPr>
        <p:spPr>
          <a:xfrm>
            <a:off x="6949440" y="2103120"/>
            <a:ext cx="4389120" cy="868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bg1"/>
                </a:solidFill>
              </a:rPr>
              <a:t>Professional Corporations</a:t>
            </a:r>
            <a:endParaRPr lang="en-US" sz="1700" dirty="0"/>
          </a:p>
          <a:p>
            <a:pPr marL="342900" indent="-342900">
              <a:spcAft>
                <a:spcPts val="600"/>
              </a:spcAft>
              <a:buSzPct val="100000"/>
              <a:buChar char="•"/>
            </a:pPr>
            <a:r>
              <a:rPr lang="en-US" sz="1700" dirty="0">
                <a:solidFill>
                  <a:schemeClr val="bg1"/>
                </a:solidFill>
              </a:rPr>
              <a:t>Corporations (legal companies)</a:t>
            </a:r>
            <a:endParaRPr lang="en-US" sz="1700" dirty="0"/>
          </a:p>
        </p:txBody>
      </p:sp>
      <p:sp>
        <p:nvSpPr>
          <p:cNvPr id="15" name="a5-h"/>
          <p:cNvSpPr txBox="1"/>
          <p:nvPr/>
        </p:nvSpPr>
        <p:spPr>
          <a:xfrm>
            <a:off x="6949440" y="329184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OUR CANADIAN PARTNERS</a:t>
            </a:r>
            <a:endParaRPr lang="en-US" sz="1300" dirty="0"/>
          </a:p>
        </p:txBody>
      </p:sp>
      <p:sp>
        <p:nvSpPr>
          <p:cNvPr id="16" name="a5-pc0"/>
          <p:cNvSpPr/>
          <p:nvPr/>
        </p:nvSpPr>
        <p:spPr>
          <a:xfrm>
            <a:off x="6949440" y="3703320"/>
            <a:ext cx="4297680" cy="640080"/>
          </a:xfrm>
          <a:prstGeom prst="roundRect">
            <a:avLst>
              <a:gd name="adj" fmla="val 17143"/>
            </a:avLst>
          </a:prstGeom>
          <a:solidFill>
            <a:schemeClr val="bg1"/>
          </a:solidFill>
          <a:ln/>
        </p:spPr>
      </p:sp>
      <p:sp>
        <p:nvSpPr>
          <p:cNvPr id="17" name="a5-pt0"/>
          <p:cNvSpPr txBox="1"/>
          <p:nvPr/>
        </p:nvSpPr>
        <p:spPr>
          <a:xfrm>
            <a:off x="7178040" y="3703320"/>
            <a:ext cx="3931920" cy="640080"/>
          </a:xfrm>
          <a:prstGeom prst="rect">
            <a:avLst/>
          </a:prstGeom>
          <a:noFill/>
          <a:ln/>
        </p:spPr>
        <p:txBody>
          <a:bodyPr wrap="square" lIns="0" tIns="0" rIns="0" bIns="0" rtlCol="0" anchor="ctr"/>
          <a:lstStyle/>
          <a:p>
            <a:pPr indent="0" marL="0">
              <a:buNone/>
            </a:pPr>
            <a:r>
              <a:rPr lang="en-US" sz="1700" b="1" dirty="0">
                <a:solidFill>
                  <a:schemeClr val="tx2"/>
                </a:solidFill>
              </a:rPr>
              <a:t>Opty Business Solutions Inc.</a:t>
            </a:r>
            <a:endParaRPr lang="en-US" sz="1700" dirty="0"/>
          </a:p>
        </p:txBody>
      </p:sp>
      <p:sp>
        <p:nvSpPr>
          <p:cNvPr id="18" name="a5-pc1"/>
          <p:cNvSpPr/>
          <p:nvPr/>
        </p:nvSpPr>
        <p:spPr>
          <a:xfrm>
            <a:off x="6949440" y="4480560"/>
            <a:ext cx="4297680" cy="640080"/>
          </a:xfrm>
          <a:prstGeom prst="roundRect">
            <a:avLst>
              <a:gd name="adj" fmla="val 17143"/>
            </a:avLst>
          </a:prstGeom>
          <a:solidFill>
            <a:schemeClr val="bg1"/>
          </a:solidFill>
          <a:ln/>
        </p:spPr>
      </p:sp>
      <p:sp>
        <p:nvSpPr>
          <p:cNvPr id="19" name="a5-pt1"/>
          <p:cNvSpPr txBox="1"/>
          <p:nvPr/>
        </p:nvSpPr>
        <p:spPr>
          <a:xfrm>
            <a:off x="7178040" y="4480560"/>
            <a:ext cx="3931920" cy="640080"/>
          </a:xfrm>
          <a:prstGeom prst="rect">
            <a:avLst/>
          </a:prstGeom>
          <a:noFill/>
          <a:ln/>
        </p:spPr>
        <p:txBody>
          <a:bodyPr wrap="square" lIns="0" tIns="0" rIns="0" bIns="0" rtlCol="0" anchor="ctr"/>
          <a:lstStyle/>
          <a:p>
            <a:pPr indent="0" marL="0">
              <a:buNone/>
            </a:pPr>
            <a:r>
              <a:rPr lang="en-US" sz="1700" b="1" dirty="0">
                <a:solidFill>
                  <a:schemeClr val="tx2"/>
                </a:solidFill>
              </a:rPr>
              <a:t>Harry Chang, CA</a:t>
            </a:r>
            <a:endParaRPr lang="en-US" sz="1700" dirty="0"/>
          </a:p>
        </p:txBody>
      </p:sp>
      <p:sp>
        <p:nvSpPr>
          <p:cNvPr id="20" name="a5-n"/>
          <p:cNvSpPr txBox="1"/>
          <p:nvPr/>
        </p:nvSpPr>
        <p:spPr>
          <a:xfrm>
            <a:off x="6949440" y="5349240"/>
            <a:ext cx="4389120" cy="365760"/>
          </a:xfrm>
          <a:prstGeom prst="rect">
            <a:avLst/>
          </a:prstGeom>
          <a:noFill/>
          <a:ln/>
        </p:spPr>
        <p:txBody>
          <a:bodyPr wrap="square" lIns="0" tIns="0" rIns="0" bIns="0" rtlCol="0" anchor="ctr"/>
          <a:lstStyle/>
          <a:p>
            <a:pPr indent="0" marL="0">
              <a:buNone/>
            </a:pPr>
            <a:r>
              <a:rPr lang="en-US" sz="1400" i="1" dirty="0">
                <a:solidFill>
                  <a:schemeClr val="accent4"/>
                </a:solidFill>
              </a:rPr>
              <a:t>New clients keep coming through these firms.</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5</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3"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3"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43" fill="hold">
                            <p:stCondLst>
                              <p:cond delay="165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par>
                          <p:cTn id="62" fill="hold">
                            <p:stCondLst>
                              <p:cond delay="2100"/>
                            </p:stCondLst>
                            <p:childTnLst>
                              <p:par>
                                <p:cTn id="44" presetID="10" presetClass="entr" presetSubtype="0"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Case Story: 6 Years Rebuilt</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Client: A Dentistry Professional Corporation in Canada</a:t>
            </a:r>
            <a:endParaRPr lang="en-US" sz="1800" dirty="0"/>
          </a:p>
        </p:txBody>
      </p:sp>
      <p:sp>
        <p:nvSpPr>
          <p:cNvPr id="4" name="a2-tl"/>
          <p:cNvSpPr/>
          <p:nvPr/>
        </p:nvSpPr>
        <p:spPr>
          <a:xfrm>
            <a:off x="1097280" y="2331720"/>
            <a:ext cx="9966960" cy="0"/>
          </a:xfrm>
          <a:prstGeom prst="line">
            <a:avLst/>
          </a:prstGeom>
          <a:noFill/>
          <a:ln w="50800">
            <a:solidFill>
              <a:schemeClr val="accent4"/>
            </a:solidFill>
            <a:prstDash val="solid"/>
          </a:ln>
        </p:spPr>
      </p:sp>
      <p:sp>
        <p:nvSpPr>
          <p:cNvPr id="5" name="a2-y0"/>
          <p:cNvSpPr/>
          <p:nvPr/>
        </p:nvSpPr>
        <p:spPr>
          <a:xfrm>
            <a:off x="932688" y="2011680"/>
            <a:ext cx="640080" cy="640080"/>
          </a:xfrm>
          <a:prstGeom prst="ellipse">
            <a:avLst/>
          </a:prstGeom>
          <a:solidFill>
            <a:schemeClr val="tx2"/>
          </a:solidFill>
          <a:ln/>
        </p:spPr>
      </p:sp>
      <p:sp>
        <p:nvSpPr>
          <p:cNvPr id="6" name="a2-yc0"/>
          <p:cNvSpPr txBox="1"/>
          <p:nvPr/>
        </p:nvSpPr>
        <p:spPr>
          <a:xfrm>
            <a:off x="93268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7" name="a2-yt0"/>
          <p:cNvSpPr txBox="1"/>
          <p:nvPr/>
        </p:nvSpPr>
        <p:spPr>
          <a:xfrm>
            <a:off x="59436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2021</a:t>
            </a:r>
            <a:endParaRPr lang="en-US" sz="1800" dirty="0"/>
          </a:p>
        </p:txBody>
      </p:sp>
      <p:sp>
        <p:nvSpPr>
          <p:cNvPr id="8" name="a2-y1"/>
          <p:cNvSpPr/>
          <p:nvPr/>
        </p:nvSpPr>
        <p:spPr>
          <a:xfrm>
            <a:off x="2926080" y="2011680"/>
            <a:ext cx="640080" cy="640080"/>
          </a:xfrm>
          <a:prstGeom prst="ellipse">
            <a:avLst/>
          </a:prstGeom>
          <a:solidFill>
            <a:schemeClr val="tx2"/>
          </a:solidFill>
          <a:ln/>
        </p:spPr>
      </p:sp>
      <p:sp>
        <p:nvSpPr>
          <p:cNvPr id="9" name="a2-yc1"/>
          <p:cNvSpPr txBox="1"/>
          <p:nvPr/>
        </p:nvSpPr>
        <p:spPr>
          <a:xfrm>
            <a:off x="29260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0" name="a2-yt1"/>
          <p:cNvSpPr txBox="1"/>
          <p:nvPr/>
        </p:nvSpPr>
        <p:spPr>
          <a:xfrm>
            <a:off x="2587752"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2022</a:t>
            </a:r>
            <a:endParaRPr lang="en-US" sz="1800" dirty="0"/>
          </a:p>
        </p:txBody>
      </p:sp>
      <p:sp>
        <p:nvSpPr>
          <p:cNvPr id="11" name="a2-y2"/>
          <p:cNvSpPr/>
          <p:nvPr/>
        </p:nvSpPr>
        <p:spPr>
          <a:xfrm>
            <a:off x="4919472" y="2011680"/>
            <a:ext cx="640080" cy="640080"/>
          </a:xfrm>
          <a:prstGeom prst="ellipse">
            <a:avLst/>
          </a:prstGeom>
          <a:solidFill>
            <a:schemeClr val="tx2"/>
          </a:solidFill>
          <a:ln/>
        </p:spPr>
      </p:sp>
      <p:sp>
        <p:nvSpPr>
          <p:cNvPr id="12" name="a2-yc2"/>
          <p:cNvSpPr txBox="1"/>
          <p:nvPr/>
        </p:nvSpPr>
        <p:spPr>
          <a:xfrm>
            <a:off x="4919472"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a2-yt2"/>
          <p:cNvSpPr txBox="1"/>
          <p:nvPr/>
        </p:nvSpPr>
        <p:spPr>
          <a:xfrm>
            <a:off x="4581144"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2023</a:t>
            </a:r>
            <a:endParaRPr lang="en-US" sz="1800" dirty="0"/>
          </a:p>
        </p:txBody>
      </p:sp>
      <p:sp>
        <p:nvSpPr>
          <p:cNvPr id="14" name="a2-y3"/>
          <p:cNvSpPr/>
          <p:nvPr/>
        </p:nvSpPr>
        <p:spPr>
          <a:xfrm>
            <a:off x="6912864" y="2011680"/>
            <a:ext cx="640080" cy="640080"/>
          </a:xfrm>
          <a:prstGeom prst="ellipse">
            <a:avLst/>
          </a:prstGeom>
          <a:solidFill>
            <a:schemeClr val="tx2"/>
          </a:solidFill>
          <a:ln/>
        </p:spPr>
      </p:sp>
      <p:sp>
        <p:nvSpPr>
          <p:cNvPr id="15" name="a2-yc3"/>
          <p:cNvSpPr txBox="1"/>
          <p:nvPr/>
        </p:nvSpPr>
        <p:spPr>
          <a:xfrm>
            <a:off x="6912864"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6" name="a2-yt3"/>
          <p:cNvSpPr txBox="1"/>
          <p:nvPr/>
        </p:nvSpPr>
        <p:spPr>
          <a:xfrm>
            <a:off x="6574536"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2024</a:t>
            </a:r>
            <a:endParaRPr lang="en-US" sz="1800" dirty="0"/>
          </a:p>
        </p:txBody>
      </p:sp>
      <p:sp>
        <p:nvSpPr>
          <p:cNvPr id="17" name="a2-y4"/>
          <p:cNvSpPr/>
          <p:nvPr/>
        </p:nvSpPr>
        <p:spPr>
          <a:xfrm>
            <a:off x="8906256" y="2011680"/>
            <a:ext cx="640080" cy="640080"/>
          </a:xfrm>
          <a:prstGeom prst="ellipse">
            <a:avLst/>
          </a:prstGeom>
          <a:solidFill>
            <a:schemeClr val="tx2"/>
          </a:solidFill>
          <a:ln/>
        </p:spPr>
      </p:sp>
      <p:sp>
        <p:nvSpPr>
          <p:cNvPr id="18" name="a2-yc4"/>
          <p:cNvSpPr txBox="1"/>
          <p:nvPr/>
        </p:nvSpPr>
        <p:spPr>
          <a:xfrm>
            <a:off x="8906256"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9" name="a2-yt4"/>
          <p:cNvSpPr txBox="1"/>
          <p:nvPr/>
        </p:nvSpPr>
        <p:spPr>
          <a:xfrm>
            <a:off x="8567928"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2025</a:t>
            </a:r>
            <a:endParaRPr lang="en-US" sz="1800" dirty="0"/>
          </a:p>
        </p:txBody>
      </p:sp>
      <p:sp>
        <p:nvSpPr>
          <p:cNvPr id="20" name="a2-y5"/>
          <p:cNvSpPr/>
          <p:nvPr/>
        </p:nvSpPr>
        <p:spPr>
          <a:xfrm>
            <a:off x="10899648" y="2011680"/>
            <a:ext cx="640080" cy="640080"/>
          </a:xfrm>
          <a:prstGeom prst="ellipse">
            <a:avLst/>
          </a:prstGeom>
          <a:solidFill>
            <a:schemeClr val="accent1"/>
          </a:solidFill>
          <a:ln/>
        </p:spPr>
      </p:sp>
      <p:sp>
        <p:nvSpPr>
          <p:cNvPr id="21" name="a2-yc5"/>
          <p:cNvSpPr txBox="1"/>
          <p:nvPr/>
        </p:nvSpPr>
        <p:spPr>
          <a:xfrm>
            <a:off x="1089964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a2-yt5"/>
          <p:cNvSpPr txBox="1"/>
          <p:nvPr/>
        </p:nvSpPr>
        <p:spPr>
          <a:xfrm>
            <a:off x="1056132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2026</a:t>
            </a:r>
            <a:endParaRPr lang="en-US" sz="1800" dirty="0"/>
          </a:p>
        </p:txBody>
      </p:sp>
      <p:sp>
        <p:nvSpPr>
          <p:cNvPr id="23" name="a3-c"/>
          <p:cNvSpPr/>
          <p:nvPr/>
        </p:nvSpPr>
        <p:spPr>
          <a:xfrm>
            <a:off x="548640" y="3520440"/>
            <a:ext cx="3474720" cy="2103120"/>
          </a:xfrm>
          <a:prstGeom prst="roundRect">
            <a:avLst>
              <a:gd name="adj" fmla="val 5217"/>
            </a:avLst>
          </a:prstGeom>
          <a:solidFill>
            <a:schemeClr val="bg2"/>
          </a:solidFill>
          <a:ln/>
        </p:spPr>
      </p:sp>
      <p:sp>
        <p:nvSpPr>
          <p:cNvPr id="24" name="a3-h"/>
          <p:cNvSpPr txBox="1"/>
          <p:nvPr/>
        </p:nvSpPr>
        <p:spPr>
          <a:xfrm>
            <a:off x="82296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The Need</a:t>
            </a:r>
            <a:endParaRPr lang="en-US" sz="2000" dirty="0"/>
          </a:p>
        </p:txBody>
      </p:sp>
      <p:sp>
        <p:nvSpPr>
          <p:cNvPr id="25" name="a3-t"/>
          <p:cNvSpPr txBox="1"/>
          <p:nvPr/>
        </p:nvSpPr>
        <p:spPr>
          <a:xfrm>
            <a:off x="822960" y="4206240"/>
            <a:ext cx="2926080" cy="1554480"/>
          </a:xfrm>
          <a:prstGeom prst="rect">
            <a:avLst/>
          </a:prstGeom>
          <a:noFill/>
          <a:ln/>
        </p:spPr>
        <p:txBody>
          <a:bodyPr wrap="square" lIns="0" tIns="0" rIns="0" bIns="0" rtlCol="0" anchor="t"/>
          <a:lstStyle/>
          <a:p>
            <a:pPr indent="0" marL="0">
              <a:buNone/>
            </a:pPr>
            <a:r>
              <a:rPr lang="en-US" sz="1500" dirty="0">
                <a:solidFill>
                  <a:schemeClr val="tx1"/>
                </a:solidFill>
              </a:rPr>
              <a:t>Six years of books, from 2021 to 2026, had to be rebuilt from the start.</a:t>
            </a:r>
            <a:endParaRPr lang="en-US" sz="1500" dirty="0"/>
          </a:p>
        </p:txBody>
      </p:sp>
      <p:sp>
        <p:nvSpPr>
          <p:cNvPr id="26" name="a4-c"/>
          <p:cNvSpPr/>
          <p:nvPr/>
        </p:nvSpPr>
        <p:spPr>
          <a:xfrm>
            <a:off x="4297680" y="3520440"/>
            <a:ext cx="3474720" cy="2103120"/>
          </a:xfrm>
          <a:prstGeom prst="roundRect">
            <a:avLst>
              <a:gd name="adj" fmla="val 5217"/>
            </a:avLst>
          </a:prstGeom>
          <a:solidFill>
            <a:schemeClr val="bg2"/>
          </a:solidFill>
          <a:ln/>
        </p:spPr>
      </p:sp>
      <p:sp>
        <p:nvSpPr>
          <p:cNvPr id="27" name="a4-h"/>
          <p:cNvSpPr txBox="1"/>
          <p:nvPr/>
        </p:nvSpPr>
        <p:spPr>
          <a:xfrm>
            <a:off x="457200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What We Did</a:t>
            </a:r>
            <a:endParaRPr lang="en-US" sz="2000" dirty="0"/>
          </a:p>
        </p:txBody>
      </p:sp>
      <p:sp>
        <p:nvSpPr>
          <p:cNvPr id="28" name="a4-t"/>
          <p:cNvSpPr txBox="1"/>
          <p:nvPr/>
        </p:nvSpPr>
        <p:spPr>
          <a:xfrm>
            <a:off x="4572000" y="4206240"/>
            <a:ext cx="2926080" cy="1554480"/>
          </a:xfrm>
          <a:prstGeom prst="rect">
            <a:avLst/>
          </a:prstGeom>
          <a:noFill/>
          <a:ln/>
        </p:spPr>
        <p:txBody>
          <a:bodyPr wrap="square" lIns="0" tIns="0" rIns="0" bIns="0" rtlCol="0" anchor="t"/>
          <a:lstStyle/>
          <a:p>
            <a:pPr indent="0" marL="0">
              <a:buNone/>
            </a:pPr>
            <a:r>
              <a:rPr lang="en-US" sz="1500" dirty="0">
                <a:solidFill>
                  <a:schemeClr val="tx1"/>
                </a:solidFill>
              </a:rPr>
              <a:t>We gathered the records, rebuilt the books year by year and matched every account.</a:t>
            </a:r>
            <a:endParaRPr lang="en-US" sz="1500" dirty="0"/>
          </a:p>
        </p:txBody>
      </p:sp>
      <p:sp>
        <p:nvSpPr>
          <p:cNvPr id="29" name="a5-c"/>
          <p:cNvSpPr/>
          <p:nvPr/>
        </p:nvSpPr>
        <p:spPr>
          <a:xfrm>
            <a:off x="8046720" y="3520440"/>
            <a:ext cx="3474720" cy="2103120"/>
          </a:xfrm>
          <a:prstGeom prst="roundRect">
            <a:avLst>
              <a:gd name="adj" fmla="val 5217"/>
            </a:avLst>
          </a:prstGeom>
          <a:solidFill>
            <a:schemeClr val="tx2"/>
          </a:solidFill>
          <a:ln/>
        </p:spPr>
      </p:sp>
      <p:sp>
        <p:nvSpPr>
          <p:cNvPr id="30" name="a5-h"/>
          <p:cNvSpPr txBox="1"/>
          <p:nvPr/>
        </p:nvSpPr>
        <p:spPr>
          <a:xfrm>
            <a:off x="8321040" y="3749040"/>
            <a:ext cx="2926080" cy="411480"/>
          </a:xfrm>
          <a:prstGeom prst="rect">
            <a:avLst/>
          </a:prstGeom>
          <a:noFill/>
          <a:ln/>
        </p:spPr>
        <p:txBody>
          <a:bodyPr wrap="square" lIns="0" tIns="0" rIns="0" bIns="0" rtlCol="0" anchor="ctr"/>
          <a:lstStyle/>
          <a:p>
            <a:pPr indent="0" marL="0">
              <a:buNone/>
            </a:pPr>
            <a:r>
              <a:rPr lang="en-US" sz="2000" b="1" dirty="0">
                <a:solidFill>
                  <a:schemeClr val="bg1"/>
                </a:solidFill>
              </a:rPr>
              <a:t>The Result</a:t>
            </a:r>
            <a:endParaRPr lang="en-US" sz="2000" dirty="0"/>
          </a:p>
        </p:txBody>
      </p:sp>
      <p:sp>
        <p:nvSpPr>
          <p:cNvPr id="31" name="a5-t"/>
          <p:cNvSpPr txBox="1"/>
          <p:nvPr/>
        </p:nvSpPr>
        <p:spPr>
          <a:xfrm>
            <a:off x="8321040" y="4206240"/>
            <a:ext cx="2926080" cy="1554480"/>
          </a:xfrm>
          <a:prstGeom prst="rect">
            <a:avLst/>
          </a:prstGeom>
          <a:noFill/>
          <a:ln/>
        </p:spPr>
        <p:txBody>
          <a:bodyPr wrap="square" lIns="0" tIns="0" rIns="0" bIns="0" rtlCol="0" anchor="t"/>
          <a:lstStyle/>
          <a:p>
            <a:pPr indent="0" marL="0">
              <a:buNone/>
            </a:pPr>
            <a:r>
              <a:rPr lang="en-US" sz="1500" dirty="0">
                <a:solidFill>
                  <a:schemeClr val="bg1"/>
                </a:solidFill>
              </a:rPr>
              <a:t>Complete, clean records for every year, ready for the accountant and the tax filings.</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6</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65"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childTnLst>
                          </p:cTn>
                        </p:par>
                        <p:par>
                          <p:cTn id="75" fill="hold">
                            <p:stCondLst>
                              <p:cond delay="1200"/>
                            </p:stCondLst>
                            <p:childTnLst>
                              <p:par>
                                <p:cTn id="66" presetID="10" presetClass="entr" presetSubtype="0" fill="hold" grpId="0" nodeType="after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childTnLst>
                          </p:cTn>
                        </p:par>
                        <p:par>
                          <p:cTn id="85" fill="hold">
                            <p:stCondLst>
                              <p:cond delay="1650"/>
                            </p:stCondLst>
                            <p:childTnLst>
                              <p:par>
                                <p:cTn id="76" presetID="10" presetClass="entr" presetSubtype="0" fill="hold" grpId="0" nodeType="after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childTnLst>
                          </p:cTn>
                        </p:par>
                        <p:par>
                          <p:cTn id="95" fill="hold">
                            <p:stCondLst>
                              <p:cond delay="2100"/>
                            </p:stCondLst>
                            <p:childTnLst>
                              <p:par>
                                <p:cTn id="86" presetID="10" presetClass="entr" presetSubtype="0" fill="hold" grpId="0" nodeType="after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Australia: Our Work</a:t>
            </a:r>
            <a:endParaRPr lang="en-US" sz="3600" dirty="0"/>
          </a:p>
        </p:txBody>
      </p:sp>
      <p:sp>
        <p:nvSpPr>
          <p:cNvPr id="3" name="a1-ring"/>
          <p:cNvSpPr/>
          <p:nvPr/>
        </p:nvSpPr>
        <p:spPr>
          <a:xfrm>
            <a:off x="1554480" y="2468880"/>
            <a:ext cx="2468880" cy="2468880"/>
          </a:xfrm>
          <a:prstGeom prst="ellipse">
            <a:avLst/>
          </a:prstGeom>
          <a:solidFill>
            <a:schemeClr val="bg2"/>
          </a:solidFill>
          <a:ln/>
        </p:spPr>
      </p:sp>
      <p:sp>
        <p:nvSpPr>
          <p:cNvPr id="4" name="a1-c"/>
          <p:cNvSpPr txBox="1"/>
          <p:nvPr/>
        </p:nvSpPr>
        <p:spPr>
          <a:xfrm>
            <a:off x="1874520" y="3200400"/>
            <a:ext cx="1828800" cy="1005840"/>
          </a:xfrm>
          <a:prstGeom prst="rect">
            <a:avLst/>
          </a:prstGeom>
          <a:noFill/>
          <a:ln/>
        </p:spPr>
        <p:txBody>
          <a:bodyPr wrap="square" lIns="0" tIns="0" rIns="0" bIns="0" rtlCol="0" anchor="ctr"/>
          <a:lstStyle/>
          <a:p>
            <a:pPr algn="ctr" indent="0" marL="0">
              <a:buNone/>
            </a:pPr>
            <a:r>
              <a:rPr lang="en-US" sz="3000" b="1" dirty="0">
                <a:solidFill>
                  <a:schemeClr val="tx2"/>
                </a:solidFill>
              </a:rPr>
              <a:t>BAS</a:t>
            </a:r>
            <a:endParaRPr lang="en-US" sz="3000" dirty="0"/>
          </a:p>
          <a:p>
            <a:pPr algn="ctr" indent="0" marL="0">
              <a:buNone/>
            </a:pPr>
            <a:r>
              <a:rPr lang="en-US" sz="1400" dirty="0">
                <a:solidFill>
                  <a:schemeClr val="accent5"/>
                </a:solidFill>
              </a:rPr>
              <a:t>every quarter</a:t>
            </a:r>
            <a:endParaRPr lang="en-US" sz="3000" dirty="0"/>
          </a:p>
        </p:txBody>
      </p:sp>
      <p:sp>
        <p:nvSpPr>
          <p:cNvPr id="5" name="a2-q0"/>
          <p:cNvSpPr/>
          <p:nvPr/>
        </p:nvSpPr>
        <p:spPr>
          <a:xfrm>
            <a:off x="2331720" y="2011680"/>
            <a:ext cx="914400" cy="914400"/>
          </a:xfrm>
          <a:prstGeom prst="ellipse">
            <a:avLst/>
          </a:prstGeom>
          <a:solidFill>
            <a:schemeClr val="accent1"/>
          </a:solidFill>
          <a:ln/>
        </p:spPr>
      </p:sp>
      <p:sp>
        <p:nvSpPr>
          <p:cNvPr id="6" name="a2-qt0"/>
          <p:cNvSpPr txBox="1"/>
          <p:nvPr/>
        </p:nvSpPr>
        <p:spPr>
          <a:xfrm>
            <a:off x="2331720" y="2011680"/>
            <a:ext cx="914400" cy="914400"/>
          </a:xfrm>
          <a:prstGeom prst="rect">
            <a:avLst/>
          </a:prstGeom>
          <a:noFill/>
          <a:ln/>
        </p:spPr>
        <p:txBody>
          <a:bodyPr wrap="square" lIns="0" tIns="0" rIns="0" bIns="0" rtlCol="0" anchor="ctr"/>
          <a:lstStyle/>
          <a:p>
            <a:pPr algn="ctr" indent="0" marL="0">
              <a:buNone/>
            </a:pPr>
            <a:r>
              <a:rPr lang="en-US" sz="2200" b="1" dirty="0">
                <a:solidFill>
                  <a:schemeClr val="bg1"/>
                </a:solidFill>
              </a:rPr>
              <a:t>Q1</a:t>
            </a:r>
            <a:endParaRPr lang="en-US" sz="2200" dirty="0"/>
          </a:p>
        </p:txBody>
      </p:sp>
      <p:sp>
        <p:nvSpPr>
          <p:cNvPr id="7" name="a2-q1"/>
          <p:cNvSpPr/>
          <p:nvPr/>
        </p:nvSpPr>
        <p:spPr>
          <a:xfrm>
            <a:off x="3566160" y="3246120"/>
            <a:ext cx="914400" cy="914400"/>
          </a:xfrm>
          <a:prstGeom prst="ellipse">
            <a:avLst/>
          </a:prstGeom>
          <a:solidFill>
            <a:schemeClr val="accent2"/>
          </a:solidFill>
          <a:ln/>
        </p:spPr>
      </p:sp>
      <p:sp>
        <p:nvSpPr>
          <p:cNvPr id="8" name="a2-qt1"/>
          <p:cNvSpPr txBox="1"/>
          <p:nvPr/>
        </p:nvSpPr>
        <p:spPr>
          <a:xfrm>
            <a:off x="3566160" y="3246120"/>
            <a:ext cx="914400" cy="914400"/>
          </a:xfrm>
          <a:prstGeom prst="rect">
            <a:avLst/>
          </a:prstGeom>
          <a:noFill/>
          <a:ln/>
        </p:spPr>
        <p:txBody>
          <a:bodyPr wrap="square" lIns="0" tIns="0" rIns="0" bIns="0" rtlCol="0" anchor="ctr"/>
          <a:lstStyle/>
          <a:p>
            <a:pPr algn="ctr" indent="0" marL="0">
              <a:buNone/>
            </a:pPr>
            <a:r>
              <a:rPr lang="en-US" sz="2200" b="1" dirty="0">
                <a:solidFill>
                  <a:schemeClr val="bg1"/>
                </a:solidFill>
              </a:rPr>
              <a:t>Q2</a:t>
            </a:r>
            <a:endParaRPr lang="en-US" sz="2200" dirty="0"/>
          </a:p>
        </p:txBody>
      </p:sp>
      <p:sp>
        <p:nvSpPr>
          <p:cNvPr id="9" name="a2-q2"/>
          <p:cNvSpPr/>
          <p:nvPr/>
        </p:nvSpPr>
        <p:spPr>
          <a:xfrm>
            <a:off x="2331720" y="4480560"/>
            <a:ext cx="914400" cy="914400"/>
          </a:xfrm>
          <a:prstGeom prst="ellipse">
            <a:avLst/>
          </a:prstGeom>
          <a:solidFill>
            <a:schemeClr val="accent1"/>
          </a:solidFill>
          <a:ln/>
        </p:spPr>
      </p:sp>
      <p:sp>
        <p:nvSpPr>
          <p:cNvPr id="10" name="a2-qt2"/>
          <p:cNvSpPr txBox="1"/>
          <p:nvPr/>
        </p:nvSpPr>
        <p:spPr>
          <a:xfrm>
            <a:off x="2331720" y="4480560"/>
            <a:ext cx="914400" cy="914400"/>
          </a:xfrm>
          <a:prstGeom prst="rect">
            <a:avLst/>
          </a:prstGeom>
          <a:noFill/>
          <a:ln/>
        </p:spPr>
        <p:txBody>
          <a:bodyPr wrap="square" lIns="0" tIns="0" rIns="0" bIns="0" rtlCol="0" anchor="ctr"/>
          <a:lstStyle/>
          <a:p>
            <a:pPr algn="ctr" indent="0" marL="0">
              <a:buNone/>
            </a:pPr>
            <a:r>
              <a:rPr lang="en-US" sz="2200" b="1" dirty="0">
                <a:solidFill>
                  <a:schemeClr val="bg1"/>
                </a:solidFill>
              </a:rPr>
              <a:t>Q3</a:t>
            </a:r>
            <a:endParaRPr lang="en-US" sz="2200" dirty="0"/>
          </a:p>
        </p:txBody>
      </p:sp>
      <p:sp>
        <p:nvSpPr>
          <p:cNvPr id="11" name="a2-q3"/>
          <p:cNvSpPr/>
          <p:nvPr/>
        </p:nvSpPr>
        <p:spPr>
          <a:xfrm>
            <a:off x="1097280" y="3246120"/>
            <a:ext cx="914400" cy="914400"/>
          </a:xfrm>
          <a:prstGeom prst="ellipse">
            <a:avLst/>
          </a:prstGeom>
          <a:solidFill>
            <a:schemeClr val="accent2"/>
          </a:solidFill>
          <a:ln/>
        </p:spPr>
      </p:sp>
      <p:sp>
        <p:nvSpPr>
          <p:cNvPr id="12" name="a2-qt3"/>
          <p:cNvSpPr txBox="1"/>
          <p:nvPr/>
        </p:nvSpPr>
        <p:spPr>
          <a:xfrm>
            <a:off x="1097280" y="3246120"/>
            <a:ext cx="914400" cy="914400"/>
          </a:xfrm>
          <a:prstGeom prst="rect">
            <a:avLst/>
          </a:prstGeom>
          <a:noFill/>
          <a:ln/>
        </p:spPr>
        <p:txBody>
          <a:bodyPr wrap="square" lIns="0" tIns="0" rIns="0" bIns="0" rtlCol="0" anchor="ctr"/>
          <a:lstStyle/>
          <a:p>
            <a:pPr algn="ctr" indent="0" marL="0">
              <a:buNone/>
            </a:pPr>
            <a:r>
              <a:rPr lang="en-US" sz="2200" b="1" dirty="0">
                <a:solidFill>
                  <a:schemeClr val="bg1"/>
                </a:solidFill>
              </a:rPr>
              <a:t>Q4</a:t>
            </a:r>
            <a:endParaRPr lang="en-US" sz="2200" dirty="0"/>
          </a:p>
        </p:txBody>
      </p:sp>
      <p:sp>
        <p:nvSpPr>
          <p:cNvPr id="13" name="a3-c"/>
          <p:cNvSpPr/>
          <p:nvPr/>
        </p:nvSpPr>
        <p:spPr>
          <a:xfrm>
            <a:off x="5669280" y="1508760"/>
            <a:ext cx="5943600" cy="1188720"/>
          </a:xfrm>
          <a:prstGeom prst="roundRect">
            <a:avLst>
              <a:gd name="adj" fmla="val 9231"/>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4" name="a3-d"/>
          <p:cNvSpPr/>
          <p:nvPr/>
        </p:nvSpPr>
        <p:spPr>
          <a:xfrm>
            <a:off x="5897880" y="1737360"/>
            <a:ext cx="731520" cy="731520"/>
          </a:xfrm>
          <a:prstGeom prst="ellipse">
            <a:avLst/>
          </a:prstGeom>
          <a:solidFill>
            <a:schemeClr val="tx2"/>
          </a:solidFill>
          <a:ln/>
        </p:spPr>
      </p:sp>
      <p:pic>
        <p:nvPicPr>
          <p:cNvPr id="15" name="a3-d-i" descr="preencoded.png">    </p:cNvPr>
          <p:cNvPicPr>
            <a:picLocks noChangeAspect="1"/>
          </p:cNvPicPr>
          <p:nvPr/>
        </p:nvPicPr>
        <p:blipFill>
          <a:blip r:embed="rId1"/>
          <a:stretch>
            <a:fillRect/>
          </a:stretch>
        </p:blipFill>
        <p:spPr>
          <a:xfrm>
            <a:off x="6080760" y="1920240"/>
            <a:ext cx="365760" cy="365760"/>
          </a:xfrm>
          <a:prstGeom prst="rect">
            <a:avLst/>
          </a:prstGeom>
        </p:spPr>
      </p:pic>
      <p:sp>
        <p:nvSpPr>
          <p:cNvPr id="16" name="a3-t"/>
          <p:cNvSpPr txBox="1"/>
          <p:nvPr/>
        </p:nvSpPr>
        <p:spPr>
          <a:xfrm>
            <a:off x="6858000" y="1645920"/>
            <a:ext cx="4572000" cy="914400"/>
          </a:xfrm>
          <a:prstGeom prst="rect">
            <a:avLst/>
          </a:prstGeom>
          <a:noFill/>
          <a:ln/>
        </p:spPr>
        <p:txBody>
          <a:bodyPr wrap="square" lIns="0" tIns="0" rIns="0" bIns="0" rtlCol="0" anchor="ctr"/>
          <a:lstStyle/>
          <a:p>
            <a:pPr indent="0" marL="0">
              <a:buNone/>
            </a:pPr>
            <a:r>
              <a:rPr lang="en-US" sz="2000" b="1" dirty="0">
                <a:solidFill>
                  <a:schemeClr val="tx2"/>
                </a:solidFill>
              </a:rPr>
              <a:t>Bookkeeping in Xero</a:t>
            </a:r>
            <a:endParaRPr lang="en-US" sz="2000" dirty="0"/>
          </a:p>
          <a:p>
            <a:pPr indent="0" marL="0">
              <a:buNone/>
            </a:pPr>
            <a:r>
              <a:rPr lang="en-US" sz="1500" dirty="0">
                <a:solidFill>
                  <a:schemeClr val="accent5"/>
                </a:solidFill>
              </a:rPr>
              <a:t>Books kept up to date, all year round</a:t>
            </a:r>
            <a:endParaRPr lang="en-US" sz="2000" dirty="0"/>
          </a:p>
        </p:txBody>
      </p:sp>
      <p:sp>
        <p:nvSpPr>
          <p:cNvPr id="17" name="a4-c"/>
          <p:cNvSpPr/>
          <p:nvPr/>
        </p:nvSpPr>
        <p:spPr>
          <a:xfrm>
            <a:off x="5669280" y="2971800"/>
            <a:ext cx="5943600" cy="1188720"/>
          </a:xfrm>
          <a:prstGeom prst="roundRect">
            <a:avLst>
              <a:gd name="adj" fmla="val 9231"/>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8" name="a4-d"/>
          <p:cNvSpPr/>
          <p:nvPr/>
        </p:nvSpPr>
        <p:spPr>
          <a:xfrm>
            <a:off x="5897880" y="3200400"/>
            <a:ext cx="731520" cy="731520"/>
          </a:xfrm>
          <a:prstGeom prst="ellipse">
            <a:avLst/>
          </a:prstGeom>
          <a:solidFill>
            <a:schemeClr val="tx2"/>
          </a:solidFill>
          <a:ln/>
        </p:spPr>
      </p:sp>
      <p:pic>
        <p:nvPicPr>
          <p:cNvPr id="19" name="a4-d-i" descr="preencoded.png">    </p:cNvPr>
          <p:cNvPicPr>
            <a:picLocks noChangeAspect="1"/>
          </p:cNvPicPr>
          <p:nvPr/>
        </p:nvPicPr>
        <p:blipFill>
          <a:blip r:embed="rId2"/>
          <a:stretch>
            <a:fillRect/>
          </a:stretch>
        </p:blipFill>
        <p:spPr>
          <a:xfrm>
            <a:off x="6080760" y="3383280"/>
            <a:ext cx="365760" cy="365760"/>
          </a:xfrm>
          <a:prstGeom prst="rect">
            <a:avLst/>
          </a:prstGeom>
        </p:spPr>
      </p:pic>
      <p:sp>
        <p:nvSpPr>
          <p:cNvPr id="20" name="a4-t"/>
          <p:cNvSpPr txBox="1"/>
          <p:nvPr/>
        </p:nvSpPr>
        <p:spPr>
          <a:xfrm>
            <a:off x="6858000" y="3108960"/>
            <a:ext cx="4572000" cy="914400"/>
          </a:xfrm>
          <a:prstGeom prst="rect">
            <a:avLst/>
          </a:prstGeom>
          <a:noFill/>
          <a:ln/>
        </p:spPr>
        <p:txBody>
          <a:bodyPr wrap="square" lIns="0" tIns="0" rIns="0" bIns="0" rtlCol="0" anchor="ctr"/>
          <a:lstStyle/>
          <a:p>
            <a:pPr indent="0" marL="0">
              <a:buNone/>
            </a:pPr>
            <a:r>
              <a:rPr lang="en-US" sz="2000" b="1" dirty="0">
                <a:solidFill>
                  <a:schemeClr val="tx2"/>
                </a:solidFill>
              </a:rPr>
              <a:t>Quarterly BAS</a:t>
            </a:r>
            <a:endParaRPr lang="en-US" sz="2000" dirty="0"/>
          </a:p>
          <a:p>
            <a:pPr indent="0" marL="0">
              <a:buNone/>
            </a:pPr>
            <a:r>
              <a:rPr lang="en-US" sz="1500" dirty="0">
                <a:solidFill>
                  <a:schemeClr val="accent5"/>
                </a:solidFill>
              </a:rPr>
              <a:t>Prepared on time, every quarter</a:t>
            </a:r>
            <a:endParaRPr lang="en-US" sz="2000" dirty="0"/>
          </a:p>
        </p:txBody>
      </p:sp>
      <p:sp>
        <p:nvSpPr>
          <p:cNvPr id="21" name="a5-c"/>
          <p:cNvSpPr/>
          <p:nvPr/>
        </p:nvSpPr>
        <p:spPr>
          <a:xfrm>
            <a:off x="5669280" y="4434840"/>
            <a:ext cx="5943600" cy="1188720"/>
          </a:xfrm>
          <a:prstGeom prst="roundRect">
            <a:avLst>
              <a:gd name="adj" fmla="val 9231"/>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2" name="a5-d"/>
          <p:cNvSpPr/>
          <p:nvPr/>
        </p:nvSpPr>
        <p:spPr>
          <a:xfrm>
            <a:off x="5897880" y="4663440"/>
            <a:ext cx="731520" cy="731520"/>
          </a:xfrm>
          <a:prstGeom prst="ellipse">
            <a:avLst/>
          </a:prstGeom>
          <a:solidFill>
            <a:schemeClr val="tx2"/>
          </a:solidFill>
          <a:ln/>
        </p:spPr>
      </p:sp>
      <p:pic>
        <p:nvPicPr>
          <p:cNvPr id="23" name="a5-d-i" descr="preencoded.png">    </p:cNvPr>
          <p:cNvPicPr>
            <a:picLocks noChangeAspect="1"/>
          </p:cNvPicPr>
          <p:nvPr/>
        </p:nvPicPr>
        <p:blipFill>
          <a:blip r:embed="rId3"/>
          <a:stretch>
            <a:fillRect/>
          </a:stretch>
        </p:blipFill>
        <p:spPr>
          <a:xfrm>
            <a:off x="6080760" y="4846320"/>
            <a:ext cx="365760" cy="365760"/>
          </a:xfrm>
          <a:prstGeom prst="rect">
            <a:avLst/>
          </a:prstGeom>
        </p:spPr>
      </p:pic>
      <p:sp>
        <p:nvSpPr>
          <p:cNvPr id="24" name="a5-t"/>
          <p:cNvSpPr txBox="1"/>
          <p:nvPr/>
        </p:nvSpPr>
        <p:spPr>
          <a:xfrm>
            <a:off x="6858000" y="4572000"/>
            <a:ext cx="4572000" cy="914400"/>
          </a:xfrm>
          <a:prstGeom prst="rect">
            <a:avLst/>
          </a:prstGeom>
          <a:noFill/>
          <a:ln/>
        </p:spPr>
        <p:txBody>
          <a:bodyPr wrap="square" lIns="0" tIns="0" rIns="0" bIns="0" rtlCol="0" anchor="ctr"/>
          <a:lstStyle/>
          <a:p>
            <a:pPr indent="0" marL="0">
              <a:buNone/>
            </a:pPr>
            <a:r>
              <a:rPr lang="en-US" sz="2000" b="1" dirty="0">
                <a:solidFill>
                  <a:schemeClr val="tx2"/>
                </a:solidFill>
              </a:rPr>
              <a:t>Our Clients: Doctors</a:t>
            </a:r>
            <a:endParaRPr lang="en-US" sz="2000" dirty="0"/>
          </a:p>
          <a:p>
            <a:pPr indent="0" marL="0">
              <a:buNone/>
            </a:pPr>
            <a:r>
              <a:rPr lang="en-US" sz="1500" dirty="0">
                <a:solidFill>
                  <a:schemeClr val="accent5"/>
                </a:solidFill>
              </a:rPr>
              <a:t>We know how medical practices run</a:t>
            </a:r>
            <a:endParaRPr lang="en-US" sz="2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7</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par>
                          <p:cTn id="35"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childTnLst>
                          </p:cTn>
                        </p:par>
                        <p:par>
                          <p:cTn id="48" fill="hold">
                            <p:stCondLst>
                              <p:cond delay="1200"/>
                            </p:stCondLst>
                            <p:childTnLst>
                              <p:par>
                                <p:cTn id="36" presetID="10" presetClass="entr" presetSubtype="0" fill="hold" grpId="0" nodeType="after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par>
                          <p:cTn id="61" fill="hold">
                            <p:stCondLst>
                              <p:cond delay="1650"/>
                            </p:stCondLst>
                            <p:childTnLst>
                              <p:par>
                                <p:cTn id="49" presetID="10" presetClass="entr" presetSubtype="0" fill="hold" grpId="0" nodeType="after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childTnLst>
                          </p:cTn>
                        </p:par>
                        <p:par>
                          <p:cTn id="74" fill="hold">
                            <p:stCondLst>
                              <p:cond delay="2100"/>
                            </p:stCondLst>
                            <p:childTnLst>
                              <p:par>
                                <p:cTn id="62" presetID="10" presetClass="entr" presetSubtype="0" fill="hold" grpId="0" nodeType="after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How We Work With Your Firm</a:t>
            </a:r>
            <a:endParaRPr lang="en-US" sz="3600" dirty="0"/>
          </a:p>
        </p:txBody>
      </p:sp>
      <p:sp>
        <p:nvSpPr>
          <p:cNvPr id="3" name="a1-ln"/>
          <p:cNvSpPr/>
          <p:nvPr/>
        </p:nvSpPr>
        <p:spPr>
          <a:xfrm>
            <a:off x="1874520" y="2057400"/>
            <a:ext cx="1371600" cy="0"/>
          </a:xfrm>
          <a:prstGeom prst="line">
            <a:avLst/>
          </a:prstGeom>
          <a:noFill/>
          <a:ln w="25400">
            <a:solidFill>
              <a:schemeClr val="accent3"/>
            </a:solidFill>
            <a:prstDash val="dash"/>
          </a:ln>
        </p:spPr>
      </p:sp>
      <p:sp>
        <p:nvSpPr>
          <p:cNvPr id="4" name="a1-d"/>
          <p:cNvSpPr/>
          <p:nvPr/>
        </p:nvSpPr>
        <p:spPr>
          <a:xfrm>
            <a:off x="1005840" y="1508760"/>
            <a:ext cx="1097280" cy="1097280"/>
          </a:xfrm>
          <a:prstGeom prst="ellipse">
            <a:avLst/>
          </a:prstGeom>
          <a:solidFill>
            <a:schemeClr val="tx2"/>
          </a:solidFill>
          <a:ln/>
        </p:spPr>
      </p:sp>
      <p:pic>
        <p:nvPicPr>
          <p:cNvPr id="5" name="a1-d-i" descr="preencoded.png">    </p:cNvPr>
          <p:cNvPicPr>
            <a:picLocks noChangeAspect="1"/>
          </p:cNvPicPr>
          <p:nvPr/>
        </p:nvPicPr>
        <p:blipFill>
          <a:blip r:embed="rId1"/>
          <a:stretch>
            <a:fillRect/>
          </a:stretch>
        </p:blipFill>
        <p:spPr>
          <a:xfrm>
            <a:off x="1280160" y="1783080"/>
            <a:ext cx="548640" cy="548640"/>
          </a:xfrm>
          <a:prstGeom prst="rect">
            <a:avLst/>
          </a:prstGeom>
        </p:spPr>
      </p:pic>
      <p:sp>
        <p:nvSpPr>
          <p:cNvPr id="6" name="a1-n"/>
          <p:cNvSpPr txBox="1"/>
          <p:nvPr/>
        </p:nvSpPr>
        <p:spPr>
          <a:xfrm>
            <a:off x="548640"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1</a:t>
            </a:r>
            <a:endParaRPr lang="en-US" sz="1200" dirty="0"/>
          </a:p>
        </p:txBody>
      </p:sp>
      <p:sp>
        <p:nvSpPr>
          <p:cNvPr id="7" name="a1-h"/>
          <p:cNvSpPr txBox="1"/>
          <p:nvPr/>
        </p:nvSpPr>
        <p:spPr>
          <a:xfrm>
            <a:off x="548640"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Talk</a:t>
            </a:r>
            <a:endParaRPr lang="en-US" sz="1900" dirty="0"/>
          </a:p>
        </p:txBody>
      </p:sp>
      <p:sp>
        <p:nvSpPr>
          <p:cNvPr id="8" name="a1-t"/>
          <p:cNvSpPr txBox="1"/>
          <p:nvPr/>
        </p:nvSpPr>
        <p:spPr>
          <a:xfrm>
            <a:off x="594360"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We learn what you and your clients need.</a:t>
            </a:r>
            <a:endParaRPr lang="en-US" sz="1400" dirty="0"/>
          </a:p>
        </p:txBody>
      </p:sp>
      <p:sp>
        <p:nvSpPr>
          <p:cNvPr id="9" name="a2-ln"/>
          <p:cNvSpPr/>
          <p:nvPr/>
        </p:nvSpPr>
        <p:spPr>
          <a:xfrm>
            <a:off x="4142232" y="2057400"/>
            <a:ext cx="1371600" cy="0"/>
          </a:xfrm>
          <a:prstGeom prst="line">
            <a:avLst/>
          </a:prstGeom>
          <a:noFill/>
          <a:ln w="25400">
            <a:solidFill>
              <a:schemeClr val="accent3"/>
            </a:solidFill>
            <a:prstDash val="dash"/>
          </a:ln>
        </p:spPr>
      </p:sp>
      <p:sp>
        <p:nvSpPr>
          <p:cNvPr id="10" name="a2-d"/>
          <p:cNvSpPr/>
          <p:nvPr/>
        </p:nvSpPr>
        <p:spPr>
          <a:xfrm>
            <a:off x="3273552" y="1508760"/>
            <a:ext cx="1097280" cy="1097280"/>
          </a:xfrm>
          <a:prstGeom prst="ellipse">
            <a:avLst/>
          </a:prstGeom>
          <a:solidFill>
            <a:schemeClr val="tx2"/>
          </a:solidFill>
          <a:ln/>
        </p:spPr>
      </p:sp>
      <p:pic>
        <p:nvPicPr>
          <p:cNvPr id="11" name="a2-d-i" descr="preencoded.png">    </p:cNvPr>
          <p:cNvPicPr>
            <a:picLocks noChangeAspect="1"/>
          </p:cNvPicPr>
          <p:nvPr/>
        </p:nvPicPr>
        <p:blipFill>
          <a:blip r:embed="rId2"/>
          <a:stretch>
            <a:fillRect/>
          </a:stretch>
        </p:blipFill>
        <p:spPr>
          <a:xfrm>
            <a:off x="3547872" y="1783080"/>
            <a:ext cx="548640" cy="548640"/>
          </a:xfrm>
          <a:prstGeom prst="rect">
            <a:avLst/>
          </a:prstGeom>
        </p:spPr>
      </p:pic>
      <p:sp>
        <p:nvSpPr>
          <p:cNvPr id="12" name="a2-n"/>
          <p:cNvSpPr txBox="1"/>
          <p:nvPr/>
        </p:nvSpPr>
        <p:spPr>
          <a:xfrm>
            <a:off x="2816352"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2</a:t>
            </a:r>
            <a:endParaRPr lang="en-US" sz="1200" dirty="0"/>
          </a:p>
        </p:txBody>
      </p:sp>
      <p:sp>
        <p:nvSpPr>
          <p:cNvPr id="13" name="a2-h"/>
          <p:cNvSpPr txBox="1"/>
          <p:nvPr/>
        </p:nvSpPr>
        <p:spPr>
          <a:xfrm>
            <a:off x="2816352"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Set Up</a:t>
            </a:r>
            <a:endParaRPr lang="en-US" sz="1900" dirty="0"/>
          </a:p>
        </p:txBody>
      </p:sp>
      <p:sp>
        <p:nvSpPr>
          <p:cNvPr id="14" name="a2-t"/>
          <p:cNvSpPr txBox="1"/>
          <p:nvPr/>
        </p:nvSpPr>
        <p:spPr>
          <a:xfrm>
            <a:off x="2862072"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 give us access to the files and software.</a:t>
            </a:r>
            <a:endParaRPr lang="en-US" sz="1400" dirty="0"/>
          </a:p>
        </p:txBody>
      </p:sp>
      <p:sp>
        <p:nvSpPr>
          <p:cNvPr id="15" name="a3-ln"/>
          <p:cNvSpPr/>
          <p:nvPr/>
        </p:nvSpPr>
        <p:spPr>
          <a:xfrm>
            <a:off x="6409944" y="2057400"/>
            <a:ext cx="1371600" cy="0"/>
          </a:xfrm>
          <a:prstGeom prst="line">
            <a:avLst/>
          </a:prstGeom>
          <a:noFill/>
          <a:ln w="25400">
            <a:solidFill>
              <a:schemeClr val="accent3"/>
            </a:solidFill>
            <a:prstDash val="dash"/>
          </a:ln>
        </p:spPr>
      </p:sp>
      <p:sp>
        <p:nvSpPr>
          <p:cNvPr id="16" name="a3-d"/>
          <p:cNvSpPr/>
          <p:nvPr/>
        </p:nvSpPr>
        <p:spPr>
          <a:xfrm>
            <a:off x="5541264" y="1508760"/>
            <a:ext cx="1097280" cy="1097280"/>
          </a:xfrm>
          <a:prstGeom prst="ellipse">
            <a:avLst/>
          </a:prstGeom>
          <a:solidFill>
            <a:schemeClr val="accent1"/>
          </a:solidFill>
          <a:ln/>
        </p:spPr>
      </p:sp>
      <p:pic>
        <p:nvPicPr>
          <p:cNvPr id="17" name="a3-d-i" descr="preencoded.png">    </p:cNvPr>
          <p:cNvPicPr>
            <a:picLocks noChangeAspect="1"/>
          </p:cNvPicPr>
          <p:nvPr/>
        </p:nvPicPr>
        <p:blipFill>
          <a:blip r:embed="rId3"/>
          <a:stretch>
            <a:fillRect/>
          </a:stretch>
        </p:blipFill>
        <p:spPr>
          <a:xfrm>
            <a:off x="5815584" y="1783080"/>
            <a:ext cx="548640" cy="548640"/>
          </a:xfrm>
          <a:prstGeom prst="rect">
            <a:avLst/>
          </a:prstGeom>
        </p:spPr>
      </p:pic>
      <p:sp>
        <p:nvSpPr>
          <p:cNvPr id="18" name="a3-n"/>
          <p:cNvSpPr txBox="1"/>
          <p:nvPr/>
        </p:nvSpPr>
        <p:spPr>
          <a:xfrm>
            <a:off x="5084064"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3</a:t>
            </a:r>
            <a:endParaRPr lang="en-US" sz="1200" dirty="0"/>
          </a:p>
        </p:txBody>
      </p:sp>
      <p:sp>
        <p:nvSpPr>
          <p:cNvPr id="19" name="a3-h"/>
          <p:cNvSpPr txBox="1"/>
          <p:nvPr/>
        </p:nvSpPr>
        <p:spPr>
          <a:xfrm>
            <a:off x="5084064"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We Do the Work</a:t>
            </a:r>
            <a:endParaRPr lang="en-US" sz="1900" dirty="0"/>
          </a:p>
        </p:txBody>
      </p:sp>
      <p:sp>
        <p:nvSpPr>
          <p:cNvPr id="20" name="a3-t"/>
          <p:cNvSpPr txBox="1"/>
          <p:nvPr/>
        </p:nvSpPr>
        <p:spPr>
          <a:xfrm>
            <a:off x="5129784"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Our team prepares the books and returns.</a:t>
            </a:r>
            <a:endParaRPr lang="en-US" sz="1400" dirty="0"/>
          </a:p>
        </p:txBody>
      </p:sp>
      <p:sp>
        <p:nvSpPr>
          <p:cNvPr id="21" name="a4-ln"/>
          <p:cNvSpPr/>
          <p:nvPr/>
        </p:nvSpPr>
        <p:spPr>
          <a:xfrm>
            <a:off x="8677656" y="2057400"/>
            <a:ext cx="1371600" cy="0"/>
          </a:xfrm>
          <a:prstGeom prst="line">
            <a:avLst/>
          </a:prstGeom>
          <a:noFill/>
          <a:ln w="25400">
            <a:solidFill>
              <a:schemeClr val="accent3"/>
            </a:solidFill>
            <a:prstDash val="dash"/>
          </a:ln>
        </p:spPr>
      </p:sp>
      <p:sp>
        <p:nvSpPr>
          <p:cNvPr id="22" name="a4-d"/>
          <p:cNvSpPr/>
          <p:nvPr/>
        </p:nvSpPr>
        <p:spPr>
          <a:xfrm>
            <a:off x="7808976" y="1508760"/>
            <a:ext cx="1097280" cy="1097280"/>
          </a:xfrm>
          <a:prstGeom prst="ellipse">
            <a:avLst/>
          </a:prstGeom>
          <a:solidFill>
            <a:schemeClr val="tx2"/>
          </a:solidFill>
          <a:ln/>
        </p:spPr>
      </p:sp>
      <p:pic>
        <p:nvPicPr>
          <p:cNvPr id="23" name="a4-d-i" descr="preencoded.png">    </p:cNvPr>
          <p:cNvPicPr>
            <a:picLocks noChangeAspect="1"/>
          </p:cNvPicPr>
          <p:nvPr/>
        </p:nvPicPr>
        <p:blipFill>
          <a:blip r:embed="rId4"/>
          <a:stretch>
            <a:fillRect/>
          </a:stretch>
        </p:blipFill>
        <p:spPr>
          <a:xfrm>
            <a:off x="8083296" y="1783080"/>
            <a:ext cx="548640" cy="548640"/>
          </a:xfrm>
          <a:prstGeom prst="rect">
            <a:avLst/>
          </a:prstGeom>
        </p:spPr>
      </p:pic>
      <p:sp>
        <p:nvSpPr>
          <p:cNvPr id="24" name="a4-n"/>
          <p:cNvSpPr txBox="1"/>
          <p:nvPr/>
        </p:nvSpPr>
        <p:spPr>
          <a:xfrm>
            <a:off x="7351776"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4</a:t>
            </a:r>
            <a:endParaRPr lang="en-US" sz="1200" dirty="0"/>
          </a:p>
        </p:txBody>
      </p:sp>
      <p:sp>
        <p:nvSpPr>
          <p:cNvPr id="25" name="a4-h"/>
          <p:cNvSpPr txBox="1"/>
          <p:nvPr/>
        </p:nvSpPr>
        <p:spPr>
          <a:xfrm>
            <a:off x="7351776"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You Review</a:t>
            </a:r>
            <a:endParaRPr lang="en-US" sz="1900" dirty="0"/>
          </a:p>
        </p:txBody>
      </p:sp>
      <p:sp>
        <p:nvSpPr>
          <p:cNvPr id="26" name="a4-t"/>
          <p:cNvSpPr txBox="1"/>
          <p:nvPr/>
        </p:nvSpPr>
        <p:spPr>
          <a:xfrm>
            <a:off x="7397496"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Your team checks and signs off.</a:t>
            </a:r>
            <a:endParaRPr lang="en-US" sz="1400" dirty="0"/>
          </a:p>
        </p:txBody>
      </p:sp>
      <p:sp>
        <p:nvSpPr>
          <p:cNvPr id="27" name="a5-d"/>
          <p:cNvSpPr/>
          <p:nvPr/>
        </p:nvSpPr>
        <p:spPr>
          <a:xfrm>
            <a:off x="10076688" y="1508760"/>
            <a:ext cx="1097280" cy="1097280"/>
          </a:xfrm>
          <a:prstGeom prst="ellipse">
            <a:avLst/>
          </a:prstGeom>
          <a:solidFill>
            <a:schemeClr val="tx2"/>
          </a:solidFill>
          <a:ln/>
        </p:spPr>
      </p:sp>
      <p:pic>
        <p:nvPicPr>
          <p:cNvPr id="28" name="a5-d-i" descr="preencoded.png">    </p:cNvPr>
          <p:cNvPicPr>
            <a:picLocks noChangeAspect="1"/>
          </p:cNvPicPr>
          <p:nvPr/>
        </p:nvPicPr>
        <p:blipFill>
          <a:blip r:embed="rId5"/>
          <a:stretch>
            <a:fillRect/>
          </a:stretch>
        </p:blipFill>
        <p:spPr>
          <a:xfrm>
            <a:off x="10351008" y="1783080"/>
            <a:ext cx="548640" cy="548640"/>
          </a:xfrm>
          <a:prstGeom prst="rect">
            <a:avLst/>
          </a:prstGeom>
        </p:spPr>
      </p:pic>
      <p:sp>
        <p:nvSpPr>
          <p:cNvPr id="29" name="a5-n"/>
          <p:cNvSpPr txBox="1"/>
          <p:nvPr/>
        </p:nvSpPr>
        <p:spPr>
          <a:xfrm>
            <a:off x="9619488"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5</a:t>
            </a:r>
            <a:endParaRPr lang="en-US" sz="1200" dirty="0"/>
          </a:p>
        </p:txBody>
      </p:sp>
      <p:sp>
        <p:nvSpPr>
          <p:cNvPr id="30" name="a5-h"/>
          <p:cNvSpPr txBox="1"/>
          <p:nvPr/>
        </p:nvSpPr>
        <p:spPr>
          <a:xfrm>
            <a:off x="9619488"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You Deliver</a:t>
            </a:r>
            <a:endParaRPr lang="en-US" sz="1900" dirty="0"/>
          </a:p>
        </p:txBody>
      </p:sp>
      <p:sp>
        <p:nvSpPr>
          <p:cNvPr id="31" name="a5-t"/>
          <p:cNvSpPr txBox="1"/>
          <p:nvPr/>
        </p:nvSpPr>
        <p:spPr>
          <a:xfrm>
            <a:off x="9665208"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 file and keep the client relationship.</a:t>
            </a:r>
            <a:endParaRPr lang="en-US" sz="1400" dirty="0"/>
          </a:p>
        </p:txBody>
      </p:sp>
      <p:sp>
        <p:nvSpPr>
          <p:cNvPr id="32" name="a6-k"/>
          <p:cNvSpPr/>
          <p:nvPr/>
        </p:nvSpPr>
        <p:spPr>
          <a:xfrm>
            <a:off x="548640" y="4892040"/>
            <a:ext cx="11064240" cy="1051560"/>
          </a:xfrm>
          <a:prstGeom prst="roundRect">
            <a:avLst>
              <a:gd name="adj" fmla="val 10435"/>
            </a:avLst>
          </a:prstGeom>
          <a:solidFill>
            <a:schemeClr val="bg2"/>
          </a:solidFill>
          <a:ln/>
        </p:spPr>
      </p:sp>
      <p:sp>
        <p:nvSpPr>
          <p:cNvPr id="33" name="a6-d"/>
          <p:cNvSpPr/>
          <p:nvPr/>
        </p:nvSpPr>
        <p:spPr>
          <a:xfrm>
            <a:off x="822960" y="5047488"/>
            <a:ext cx="731520" cy="731520"/>
          </a:xfrm>
          <a:prstGeom prst="ellipse">
            <a:avLst/>
          </a:prstGeom>
          <a:solidFill>
            <a:schemeClr val="accent1"/>
          </a:solidFill>
          <a:ln/>
        </p:spPr>
      </p:sp>
      <p:pic>
        <p:nvPicPr>
          <p:cNvPr id="34" name="a6-d-i" descr="preencoded.png">    </p:cNvPr>
          <p:cNvPicPr>
            <a:picLocks noChangeAspect="1"/>
          </p:cNvPicPr>
          <p:nvPr/>
        </p:nvPicPr>
        <p:blipFill>
          <a:blip r:embed="rId6"/>
          <a:stretch>
            <a:fillRect/>
          </a:stretch>
        </p:blipFill>
        <p:spPr>
          <a:xfrm>
            <a:off x="1005840" y="5230368"/>
            <a:ext cx="365760" cy="365760"/>
          </a:xfrm>
          <a:prstGeom prst="rect">
            <a:avLst/>
          </a:prstGeom>
        </p:spPr>
      </p:pic>
      <p:sp>
        <p:nvSpPr>
          <p:cNvPr id="35" name="a6-t"/>
          <p:cNvSpPr txBox="1"/>
          <p:nvPr/>
        </p:nvSpPr>
        <p:spPr>
          <a:xfrm>
            <a:off x="1783080" y="4892040"/>
            <a:ext cx="9601200" cy="1051560"/>
          </a:xfrm>
          <a:prstGeom prst="rect">
            <a:avLst/>
          </a:prstGeom>
          <a:noFill/>
          <a:ln/>
        </p:spPr>
        <p:txBody>
          <a:bodyPr wrap="square" lIns="0" tIns="0" rIns="0" bIns="0" rtlCol="0" anchor="ctr"/>
          <a:lstStyle/>
          <a:p>
            <a:pPr indent="0" marL="0">
              <a:buNone/>
            </a:pPr>
            <a:r>
              <a:rPr lang="en-US" sz="1700" b="1" dirty="0">
                <a:solidFill>
                  <a:schemeClr val="tx2"/>
                </a:solidFill>
              </a:rPr>
              <a:t>Humans in the lead. </a:t>
            </a:r>
            <a:pPr indent="0" marL="0">
              <a:buNone/>
            </a:pPr>
            <a:r>
              <a:rPr lang="en-US" sz="1700" dirty="0">
                <a:solidFill>
                  <a:schemeClr val="tx1"/>
                </a:solidFill>
              </a:rPr>
              <a:t>Real accountants do the work, your team makes the final call, and your clients stay your clients.</a:t>
            </a:r>
            <a:endParaRPr lang="en-US" sz="17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8</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79"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childTnLst>
                          </p:cTn>
                        </p:par>
                        <p:par>
                          <p:cTn id="95" fill="hold">
                            <p:stCondLst>
                              <p:cond delay="2100"/>
                            </p:stCondLst>
                            <p:childTnLst>
                              <p:par>
                                <p:cTn id="80" presetID="10" presetClass="entr" presetSubtype="0" fill="hold" grpId="0" nodeType="after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par>
                          <p:cTn id="108" fill="hold">
                            <p:stCondLst>
                              <p:cond delay="2550"/>
                            </p:stCondLst>
                            <p:childTnLst>
                              <p:par>
                                <p:cTn id="96" presetID="10" presetClass="entr" presetSubtype="0"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Why Partner With Lotus BPO</a:t>
            </a:r>
            <a:endParaRPr lang="en-US" sz="3600" dirty="0"/>
          </a:p>
        </p:txBody>
      </p:sp>
      <p:sp>
        <p:nvSpPr>
          <p:cNvPr id="3" name="a1-d0"/>
          <p:cNvSpPr/>
          <p:nvPr/>
        </p:nvSpPr>
        <p:spPr>
          <a:xfrm>
            <a:off x="548640" y="1600200"/>
            <a:ext cx="868680" cy="868680"/>
          </a:xfrm>
          <a:prstGeom prst="ellipse">
            <a:avLst/>
          </a:prstGeom>
          <a:solidFill>
            <a:schemeClr val="tx2"/>
          </a:solidFill>
          <a:ln/>
        </p:spPr>
      </p:sp>
      <p:pic>
        <p:nvPicPr>
          <p:cNvPr id="4" name="a1-d0-i" descr="preencoded.png">    </p:cNvPr>
          <p:cNvPicPr>
            <a:picLocks noChangeAspect="1"/>
          </p:cNvPicPr>
          <p:nvPr/>
        </p:nvPicPr>
        <p:blipFill>
          <a:blip r:embed="rId1"/>
          <a:stretch>
            <a:fillRect/>
          </a:stretch>
        </p:blipFill>
        <p:spPr>
          <a:xfrm>
            <a:off x="765810" y="1817370"/>
            <a:ext cx="434340" cy="434340"/>
          </a:xfrm>
          <a:prstGeom prst="rect">
            <a:avLst/>
          </a:prstGeom>
        </p:spPr>
      </p:pic>
      <p:sp>
        <p:nvSpPr>
          <p:cNvPr id="5" name="a1-t0"/>
          <p:cNvSpPr txBox="1"/>
          <p:nvPr/>
        </p:nvSpPr>
        <p:spPr>
          <a:xfrm>
            <a:off x="164592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Lower Costs</a:t>
            </a:r>
            <a:endParaRPr lang="en-US" sz="2000" dirty="0"/>
          </a:p>
          <a:p>
            <a:pPr indent="0" marL="0">
              <a:buNone/>
            </a:pPr>
            <a:r>
              <a:rPr lang="en-US" sz="1500" dirty="0">
                <a:solidFill>
                  <a:schemeClr val="tx1"/>
                </a:solidFill>
              </a:rPr>
              <a:t>Get quality work at a lower cost than hiring locally.</a:t>
            </a:r>
            <a:endParaRPr lang="en-US" sz="2000" dirty="0"/>
          </a:p>
        </p:txBody>
      </p:sp>
      <p:sp>
        <p:nvSpPr>
          <p:cNvPr id="6" name="a1-d1"/>
          <p:cNvSpPr/>
          <p:nvPr/>
        </p:nvSpPr>
        <p:spPr>
          <a:xfrm>
            <a:off x="6172200" y="1600200"/>
            <a:ext cx="868680" cy="868680"/>
          </a:xfrm>
          <a:prstGeom prst="ellipse">
            <a:avLst/>
          </a:prstGeom>
          <a:solidFill>
            <a:schemeClr val="accent2"/>
          </a:solidFill>
          <a:ln/>
        </p:spPr>
      </p:sp>
      <p:pic>
        <p:nvPicPr>
          <p:cNvPr id="7" name="a1-d1-i" descr="preencoded.png">    </p:cNvPr>
          <p:cNvPicPr>
            <a:picLocks noChangeAspect="1"/>
          </p:cNvPicPr>
          <p:nvPr/>
        </p:nvPicPr>
        <p:blipFill>
          <a:blip r:embed="rId2"/>
          <a:stretch>
            <a:fillRect/>
          </a:stretch>
        </p:blipFill>
        <p:spPr>
          <a:xfrm>
            <a:off x="6389370" y="1817370"/>
            <a:ext cx="434340" cy="434340"/>
          </a:xfrm>
          <a:prstGeom prst="rect">
            <a:avLst/>
          </a:prstGeom>
        </p:spPr>
      </p:pic>
      <p:sp>
        <p:nvSpPr>
          <p:cNvPr id="8" name="a1-t1"/>
          <p:cNvSpPr txBox="1"/>
          <p:nvPr/>
        </p:nvSpPr>
        <p:spPr>
          <a:xfrm>
            <a:off x="726948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Work Done Overnight</a:t>
            </a:r>
            <a:endParaRPr lang="en-US" sz="2000" dirty="0"/>
          </a:p>
          <a:p>
            <a:pPr indent="0" marL="0">
              <a:buNone/>
            </a:pPr>
            <a:r>
              <a:rPr lang="en-US" sz="1500" dirty="0">
                <a:solidFill>
                  <a:schemeClr val="tx1"/>
                </a:solidFill>
              </a:rPr>
              <a:t>Vietnam's time zone means work moves while you sleep.</a:t>
            </a:r>
            <a:endParaRPr lang="en-US" sz="2000" dirty="0"/>
          </a:p>
        </p:txBody>
      </p:sp>
      <p:sp>
        <p:nvSpPr>
          <p:cNvPr id="9" name="a2-d0"/>
          <p:cNvSpPr/>
          <p:nvPr/>
        </p:nvSpPr>
        <p:spPr>
          <a:xfrm>
            <a:off x="548640" y="3200400"/>
            <a:ext cx="868680" cy="868680"/>
          </a:xfrm>
          <a:prstGeom prst="ellipse">
            <a:avLst/>
          </a:prstGeom>
          <a:solidFill>
            <a:schemeClr val="tx2"/>
          </a:solidFill>
          <a:ln/>
        </p:spPr>
      </p:sp>
      <p:pic>
        <p:nvPicPr>
          <p:cNvPr id="10" name="a2-d0-i" descr="preencoded.png">    </p:cNvPr>
          <p:cNvPicPr>
            <a:picLocks noChangeAspect="1"/>
          </p:cNvPicPr>
          <p:nvPr/>
        </p:nvPicPr>
        <p:blipFill>
          <a:blip r:embed="rId3"/>
          <a:stretch>
            <a:fillRect/>
          </a:stretch>
        </p:blipFill>
        <p:spPr>
          <a:xfrm>
            <a:off x="765810" y="3417570"/>
            <a:ext cx="434340" cy="434340"/>
          </a:xfrm>
          <a:prstGeom prst="rect">
            <a:avLst/>
          </a:prstGeom>
        </p:spPr>
      </p:pic>
      <p:sp>
        <p:nvSpPr>
          <p:cNvPr id="11" name="a2-t0"/>
          <p:cNvSpPr txBox="1"/>
          <p:nvPr/>
        </p:nvSpPr>
        <p:spPr>
          <a:xfrm>
            <a:off x="164592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We Know Your Software</a:t>
            </a:r>
            <a:endParaRPr lang="en-US" sz="2000" dirty="0"/>
          </a:p>
          <a:p>
            <a:pPr indent="0" marL="0">
              <a:buNone/>
            </a:pPr>
            <a:r>
              <a:rPr lang="en-US" sz="1500" dirty="0">
                <a:solidFill>
                  <a:schemeClr val="tx1"/>
                </a:solidFill>
              </a:rPr>
              <a:t>QuickBooks, CaseWare and Xero, used every day.</a:t>
            </a:r>
            <a:endParaRPr lang="en-US" sz="2000" dirty="0"/>
          </a:p>
        </p:txBody>
      </p:sp>
      <p:sp>
        <p:nvSpPr>
          <p:cNvPr id="12" name="a2-d1"/>
          <p:cNvSpPr/>
          <p:nvPr/>
        </p:nvSpPr>
        <p:spPr>
          <a:xfrm>
            <a:off x="6172200" y="3200400"/>
            <a:ext cx="868680" cy="868680"/>
          </a:xfrm>
          <a:prstGeom prst="ellipse">
            <a:avLst/>
          </a:prstGeom>
          <a:solidFill>
            <a:schemeClr val="accent2"/>
          </a:solidFill>
          <a:ln/>
        </p:spPr>
      </p:sp>
      <p:pic>
        <p:nvPicPr>
          <p:cNvPr id="13" name="a2-d1-i" descr="preencoded.png">    </p:cNvPr>
          <p:cNvPicPr>
            <a:picLocks noChangeAspect="1"/>
          </p:cNvPicPr>
          <p:nvPr/>
        </p:nvPicPr>
        <p:blipFill>
          <a:blip r:embed="rId4"/>
          <a:stretch>
            <a:fillRect/>
          </a:stretch>
        </p:blipFill>
        <p:spPr>
          <a:xfrm>
            <a:off x="6389370" y="3417570"/>
            <a:ext cx="434340" cy="434340"/>
          </a:xfrm>
          <a:prstGeom prst="rect">
            <a:avLst/>
          </a:prstGeom>
        </p:spPr>
      </p:pic>
      <p:sp>
        <p:nvSpPr>
          <p:cNvPr id="14" name="a2-t1"/>
          <p:cNvSpPr txBox="1"/>
          <p:nvPr/>
        </p:nvSpPr>
        <p:spPr>
          <a:xfrm>
            <a:off x="726948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Grow Without Hiring</a:t>
            </a:r>
            <a:endParaRPr lang="en-US" sz="2000" dirty="0"/>
          </a:p>
          <a:p>
            <a:pPr indent="0" marL="0">
              <a:buNone/>
            </a:pPr>
            <a:r>
              <a:rPr lang="en-US" sz="1500" dirty="0">
                <a:solidFill>
                  <a:schemeClr val="tx1"/>
                </a:solidFill>
              </a:rPr>
              <a:t>Take on more clients in busy season with no new staff.</a:t>
            </a:r>
            <a:endParaRPr lang="en-US" sz="2000" dirty="0"/>
          </a:p>
        </p:txBody>
      </p:sp>
      <p:sp>
        <p:nvSpPr>
          <p:cNvPr id="15" name="a3-d0"/>
          <p:cNvSpPr/>
          <p:nvPr/>
        </p:nvSpPr>
        <p:spPr>
          <a:xfrm>
            <a:off x="548640" y="4800600"/>
            <a:ext cx="868680" cy="868680"/>
          </a:xfrm>
          <a:prstGeom prst="ellipse">
            <a:avLst/>
          </a:prstGeom>
          <a:solidFill>
            <a:schemeClr val="tx2"/>
          </a:solidFill>
          <a:ln/>
        </p:spPr>
      </p:sp>
      <p:pic>
        <p:nvPicPr>
          <p:cNvPr id="16" name="a3-d0-i" descr="preencoded.png">    </p:cNvPr>
          <p:cNvPicPr>
            <a:picLocks noChangeAspect="1"/>
          </p:cNvPicPr>
          <p:nvPr/>
        </p:nvPicPr>
        <p:blipFill>
          <a:blip r:embed="rId5"/>
          <a:stretch>
            <a:fillRect/>
          </a:stretch>
        </p:blipFill>
        <p:spPr>
          <a:xfrm>
            <a:off x="765810" y="5017770"/>
            <a:ext cx="434340" cy="434340"/>
          </a:xfrm>
          <a:prstGeom prst="rect">
            <a:avLst/>
          </a:prstGeom>
        </p:spPr>
      </p:pic>
      <p:sp>
        <p:nvSpPr>
          <p:cNvPr id="17" name="a3-t0"/>
          <p:cNvSpPr txBox="1"/>
          <p:nvPr/>
        </p:nvSpPr>
        <p:spPr>
          <a:xfrm>
            <a:off x="164592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Care With Your Data</a:t>
            </a:r>
            <a:endParaRPr lang="en-US" sz="2000" dirty="0"/>
          </a:p>
          <a:p>
            <a:pPr indent="0" marL="0">
              <a:buNone/>
            </a:pPr>
            <a:r>
              <a:rPr lang="en-US" sz="1500" dirty="0">
                <a:solidFill>
                  <a:schemeClr val="tx1"/>
                </a:solidFill>
              </a:rPr>
              <a:t>Client files are handled with care and kept private.</a:t>
            </a:r>
            <a:endParaRPr lang="en-US" sz="2000" dirty="0"/>
          </a:p>
        </p:txBody>
      </p:sp>
      <p:sp>
        <p:nvSpPr>
          <p:cNvPr id="18" name="a3-d1"/>
          <p:cNvSpPr/>
          <p:nvPr/>
        </p:nvSpPr>
        <p:spPr>
          <a:xfrm>
            <a:off x="6172200" y="4800600"/>
            <a:ext cx="868680" cy="868680"/>
          </a:xfrm>
          <a:prstGeom prst="ellipse">
            <a:avLst/>
          </a:prstGeom>
          <a:solidFill>
            <a:schemeClr val="accent2"/>
          </a:solidFill>
          <a:ln/>
        </p:spPr>
      </p:sp>
      <p:pic>
        <p:nvPicPr>
          <p:cNvPr id="19" name="a3-d1-i" descr="preencoded.png">    </p:cNvPr>
          <p:cNvPicPr>
            <a:picLocks noChangeAspect="1"/>
          </p:cNvPicPr>
          <p:nvPr/>
        </p:nvPicPr>
        <p:blipFill>
          <a:blip r:embed="rId6"/>
          <a:stretch>
            <a:fillRect/>
          </a:stretch>
        </p:blipFill>
        <p:spPr>
          <a:xfrm>
            <a:off x="6389370" y="5017770"/>
            <a:ext cx="434340" cy="434340"/>
          </a:xfrm>
          <a:prstGeom prst="rect">
            <a:avLst/>
          </a:prstGeom>
        </p:spPr>
      </p:pic>
      <p:sp>
        <p:nvSpPr>
          <p:cNvPr id="20" name="a3-t1"/>
          <p:cNvSpPr txBox="1"/>
          <p:nvPr/>
        </p:nvSpPr>
        <p:spPr>
          <a:xfrm>
            <a:off x="726948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Proven Partnerships</a:t>
            </a:r>
            <a:endParaRPr lang="en-US" sz="2000" dirty="0"/>
          </a:p>
          <a:p>
            <a:pPr indent="0" marL="0">
              <a:buNone/>
            </a:pPr>
            <a:r>
              <a:rPr lang="en-US" sz="1500" dirty="0">
                <a:solidFill>
                  <a:schemeClr val="tx1"/>
                </a:solidFill>
              </a:rPr>
              <a:t>Trusted today by firms in Canada and Australia.</a:t>
            </a:r>
            <a:endParaRPr lang="en-US" sz="2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9</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Our New Office</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Opened on August 10, 2026 in Ho Chi Minh City, with room for our growing team.</a:t>
            </a:r>
            <a:endParaRPr lang="en-US" sz="1800" dirty="0"/>
          </a:p>
        </p:txBody>
      </p:sp>
      <p:pic>
        <p:nvPicPr>
          <p:cNvPr id="4" name="a2-p1" descr="/home/user/Presentation-Deck/assets/office-1.jpg">    </p:cNvPr>
          <p:cNvPicPr>
            <a:picLocks noChangeAspect="1"/>
          </p:cNvPicPr>
          <p:nvPr/>
        </p:nvPicPr>
        <p:blipFill>
          <a:blip r:embed="rId1"/>
          <a:srcRect l="0" r="0" t="0" b="0"/>
          <a:stretch/>
        </p:blipFill>
        <p:spPr>
          <a:xfrm>
            <a:off x="548640" y="1783080"/>
            <a:ext cx="5394960" cy="3843909"/>
          </a:xfrm>
          <a:prstGeom prst="rect">
            <a:avLst/>
          </a:prstGeom>
        </p:spPr>
      </p:pic>
      <p:pic>
        <p:nvPicPr>
          <p:cNvPr id="5" name="a3-p2" descr="/home/user/Presentation-Deck/assets/office-2.jpg">    </p:cNvPr>
          <p:cNvPicPr>
            <a:picLocks noChangeAspect="1"/>
          </p:cNvPicPr>
          <p:nvPr/>
        </p:nvPicPr>
        <p:blipFill>
          <a:blip r:embed="rId2"/>
          <a:srcRect l="0" r="0" t="0" b="0"/>
          <a:stretch/>
        </p:blipFill>
        <p:spPr>
          <a:xfrm>
            <a:off x="6217920" y="1783080"/>
            <a:ext cx="5394960" cy="3843909"/>
          </a:xfrm>
          <a:prstGeom prst="rect">
            <a:avLst/>
          </a:prstGeom>
        </p:spPr>
      </p:pic>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11"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5" fill="hold">
                            <p:stCondLst>
                              <p:cond delay="12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Let's Work Together</a:t>
            </a:r>
            <a:endParaRPr lang="en-US" sz="3600" dirty="0"/>
          </a:p>
        </p:txBody>
      </p:sp>
      <p:sp>
        <p:nvSpPr>
          <p:cNvPr id="3" name="a1-c"/>
          <p:cNvSpPr/>
          <p:nvPr/>
        </p:nvSpPr>
        <p:spPr>
          <a:xfrm>
            <a:off x="54864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4" name="a1-n"/>
          <p:cNvSpPr txBox="1"/>
          <p:nvPr/>
        </p:nvSpPr>
        <p:spPr>
          <a:xfrm>
            <a:off x="292608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1</a:t>
            </a:r>
            <a:endParaRPr lang="en-US" sz="4800" dirty="0"/>
          </a:p>
        </p:txBody>
      </p:sp>
      <p:sp>
        <p:nvSpPr>
          <p:cNvPr id="5" name="a1-d"/>
          <p:cNvSpPr/>
          <p:nvPr/>
        </p:nvSpPr>
        <p:spPr>
          <a:xfrm>
            <a:off x="868680" y="1737360"/>
            <a:ext cx="822960" cy="822960"/>
          </a:xfrm>
          <a:prstGeom prst="ellipse">
            <a:avLst/>
          </a:prstGeom>
          <a:solidFill>
            <a:schemeClr val="tx2"/>
          </a:solidFill>
          <a:ln/>
        </p:spPr>
      </p:sp>
      <p:pic>
        <p:nvPicPr>
          <p:cNvPr id="6" name="a1-d-i"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7" name="a1-h"/>
          <p:cNvSpPr txBox="1"/>
          <p:nvPr/>
        </p:nvSpPr>
        <p:spPr>
          <a:xfrm>
            <a:off x="86868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Meet Us in Bali</a:t>
            </a:r>
            <a:endParaRPr lang="en-US" sz="2100" dirty="0"/>
          </a:p>
        </p:txBody>
      </p:sp>
      <p:sp>
        <p:nvSpPr>
          <p:cNvPr id="8" name="a1-t"/>
          <p:cNvSpPr txBox="1"/>
          <p:nvPr/>
        </p:nvSpPr>
        <p:spPr>
          <a:xfrm>
            <a:off x="86868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Find us at the coffee breaks. We would love to hear about your firm.</a:t>
            </a:r>
            <a:endParaRPr lang="en-US" sz="1500" dirty="0"/>
          </a:p>
        </p:txBody>
      </p:sp>
      <p:sp>
        <p:nvSpPr>
          <p:cNvPr id="9" name="a2-c"/>
          <p:cNvSpPr/>
          <p:nvPr/>
        </p:nvSpPr>
        <p:spPr>
          <a:xfrm>
            <a:off x="429768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2-n"/>
          <p:cNvSpPr txBox="1"/>
          <p:nvPr/>
        </p:nvSpPr>
        <p:spPr>
          <a:xfrm>
            <a:off x="667512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2</a:t>
            </a:r>
            <a:endParaRPr lang="en-US" sz="4800" dirty="0"/>
          </a:p>
        </p:txBody>
      </p:sp>
      <p:sp>
        <p:nvSpPr>
          <p:cNvPr id="11" name="a2-d"/>
          <p:cNvSpPr/>
          <p:nvPr/>
        </p:nvSpPr>
        <p:spPr>
          <a:xfrm>
            <a:off x="4617720" y="1737360"/>
            <a:ext cx="822960" cy="822960"/>
          </a:xfrm>
          <a:prstGeom prst="ellipse">
            <a:avLst/>
          </a:prstGeom>
          <a:solidFill>
            <a:schemeClr val="tx2"/>
          </a:solidFill>
          <a:ln/>
        </p:spPr>
      </p:sp>
      <p:pic>
        <p:nvPicPr>
          <p:cNvPr id="12" name="a2-d-i" descr="preencoded.png">    </p:cNvPr>
          <p:cNvPicPr>
            <a:picLocks noChangeAspect="1"/>
          </p:cNvPicPr>
          <p:nvPr/>
        </p:nvPicPr>
        <p:blipFill>
          <a:blip r:embed="rId2"/>
          <a:stretch>
            <a:fillRect/>
          </a:stretch>
        </p:blipFill>
        <p:spPr>
          <a:xfrm>
            <a:off x="4823460" y="1943100"/>
            <a:ext cx="411480" cy="411480"/>
          </a:xfrm>
          <a:prstGeom prst="rect">
            <a:avLst/>
          </a:prstGeom>
        </p:spPr>
      </p:pic>
      <p:sp>
        <p:nvSpPr>
          <p:cNvPr id="13" name="a2-h"/>
          <p:cNvSpPr txBox="1"/>
          <p:nvPr/>
        </p:nvSpPr>
        <p:spPr>
          <a:xfrm>
            <a:off x="461772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Start Small</a:t>
            </a:r>
            <a:endParaRPr lang="en-US" sz="2100" dirty="0"/>
          </a:p>
        </p:txBody>
      </p:sp>
      <p:sp>
        <p:nvSpPr>
          <p:cNvPr id="14" name="a2-t"/>
          <p:cNvSpPr txBox="1"/>
          <p:nvPr/>
        </p:nvSpPr>
        <p:spPr>
          <a:xfrm>
            <a:off x="461772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Begin with a few client files and see how we work.</a:t>
            </a:r>
            <a:endParaRPr lang="en-US" sz="1500" dirty="0"/>
          </a:p>
        </p:txBody>
      </p:sp>
      <p:sp>
        <p:nvSpPr>
          <p:cNvPr id="15" name="a3-c"/>
          <p:cNvSpPr/>
          <p:nvPr/>
        </p:nvSpPr>
        <p:spPr>
          <a:xfrm>
            <a:off x="804672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6" name="a3-n"/>
          <p:cNvSpPr txBox="1"/>
          <p:nvPr/>
        </p:nvSpPr>
        <p:spPr>
          <a:xfrm>
            <a:off x="1042416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3</a:t>
            </a:r>
            <a:endParaRPr lang="en-US" sz="4800" dirty="0"/>
          </a:p>
        </p:txBody>
      </p:sp>
      <p:sp>
        <p:nvSpPr>
          <p:cNvPr id="17" name="a3-d"/>
          <p:cNvSpPr/>
          <p:nvPr/>
        </p:nvSpPr>
        <p:spPr>
          <a:xfrm>
            <a:off x="8366760" y="1737360"/>
            <a:ext cx="822960" cy="822960"/>
          </a:xfrm>
          <a:prstGeom prst="ellipse">
            <a:avLst/>
          </a:prstGeom>
          <a:solidFill>
            <a:schemeClr val="accent1"/>
          </a:solidFill>
          <a:ln/>
        </p:spPr>
      </p:sp>
      <p:pic>
        <p:nvPicPr>
          <p:cNvPr id="18" name="a3-d-i" descr="preencoded.png">    </p:cNvPr>
          <p:cNvPicPr>
            <a:picLocks noChangeAspect="1"/>
          </p:cNvPicPr>
          <p:nvPr/>
        </p:nvPicPr>
        <p:blipFill>
          <a:blip r:embed="rId3"/>
          <a:stretch>
            <a:fillRect/>
          </a:stretch>
        </p:blipFill>
        <p:spPr>
          <a:xfrm>
            <a:off x="8572500" y="1943100"/>
            <a:ext cx="411480" cy="411480"/>
          </a:xfrm>
          <a:prstGeom prst="rect">
            <a:avLst/>
          </a:prstGeom>
        </p:spPr>
      </p:pic>
      <p:sp>
        <p:nvSpPr>
          <p:cNvPr id="19" name="a3-h"/>
          <p:cNvSpPr txBox="1"/>
          <p:nvPr/>
        </p:nvSpPr>
        <p:spPr>
          <a:xfrm>
            <a:off x="836676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Grow Together</a:t>
            </a:r>
            <a:endParaRPr lang="en-US" sz="2100" dirty="0"/>
          </a:p>
        </p:txBody>
      </p:sp>
      <p:sp>
        <p:nvSpPr>
          <p:cNvPr id="20" name="a3-t"/>
          <p:cNvSpPr txBox="1"/>
          <p:nvPr/>
        </p:nvSpPr>
        <p:spPr>
          <a:xfrm>
            <a:off x="836676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Add more clients and services as trust builds.</a:t>
            </a:r>
            <a:endParaRPr lang="en-US" sz="1500" dirty="0"/>
          </a:p>
        </p:txBody>
      </p:sp>
      <p:sp>
        <p:nvSpPr>
          <p:cNvPr id="21" name="a4-k"/>
          <p:cNvSpPr/>
          <p:nvPr/>
        </p:nvSpPr>
        <p:spPr>
          <a:xfrm>
            <a:off x="548640" y="4663440"/>
            <a:ext cx="11064240" cy="1280160"/>
          </a:xfrm>
          <a:prstGeom prst="roundRect">
            <a:avLst>
              <a:gd name="adj" fmla="val 8571"/>
            </a:avLst>
          </a:prstGeom>
          <a:solidFill>
            <a:schemeClr val="tx2"/>
          </a:solidFill>
          <a:ln/>
        </p:spPr>
      </p:sp>
      <p:sp>
        <p:nvSpPr>
          <p:cNvPr id="22" name="a4-d1"/>
          <p:cNvSpPr/>
          <p:nvPr/>
        </p:nvSpPr>
        <p:spPr>
          <a:xfrm>
            <a:off x="868680" y="4937760"/>
            <a:ext cx="731520" cy="731520"/>
          </a:xfrm>
          <a:prstGeom prst="ellipse">
            <a:avLst/>
          </a:prstGeom>
          <a:solidFill>
            <a:schemeClr val="accent1"/>
          </a:solidFill>
          <a:ln/>
        </p:spPr>
      </p:sp>
      <p:pic>
        <p:nvPicPr>
          <p:cNvPr id="23" name="a4-d1-i" descr="preencoded.png">    </p:cNvPr>
          <p:cNvPicPr>
            <a:picLocks noChangeAspect="1"/>
          </p:cNvPicPr>
          <p:nvPr/>
        </p:nvPicPr>
        <p:blipFill>
          <a:blip r:embed="rId4"/>
          <a:stretch>
            <a:fillRect/>
          </a:stretch>
        </p:blipFill>
        <p:spPr>
          <a:xfrm>
            <a:off x="1051560" y="5120640"/>
            <a:ext cx="365760" cy="365760"/>
          </a:xfrm>
          <a:prstGeom prst="rect">
            <a:avLst/>
          </a:prstGeom>
        </p:spPr>
      </p:pic>
      <p:sp>
        <p:nvSpPr>
          <p:cNvPr id="24" name="a4-t1"/>
          <p:cNvSpPr txBox="1"/>
          <p:nvPr/>
        </p:nvSpPr>
        <p:spPr>
          <a:xfrm>
            <a:off x="1783080" y="4800600"/>
            <a:ext cx="3657600" cy="1005840"/>
          </a:xfrm>
          <a:prstGeom prst="rect">
            <a:avLst/>
          </a:prstGeom>
          <a:noFill/>
          <a:ln/>
        </p:spPr>
        <p:txBody>
          <a:bodyPr wrap="square" lIns="0" tIns="0" rIns="0" bIns="0" rtlCol="0" anchor="ctr"/>
          <a:lstStyle/>
          <a:p>
            <a:pPr indent="0" marL="0">
              <a:buNone/>
            </a:pPr>
            <a:r>
              <a:rPr lang="en-US" sz="1300" b="1" dirty="0">
                <a:solidFill>
                  <a:schemeClr val="accent3"/>
                </a:solidFill>
              </a:rPr>
              <a:t>Call us</a:t>
            </a:r>
            <a:endParaRPr lang="en-US" sz="1300" dirty="0"/>
          </a:p>
          <a:p>
            <a:pPr indent="0" marL="0">
              <a:buNone/>
            </a:pPr>
            <a:r>
              <a:rPr lang="en-US" sz="2200" b="1" dirty="0">
                <a:solidFill>
                  <a:schemeClr val="bg1"/>
                </a:solidFill>
              </a:rPr>
              <a:t>+84 902 343 218</a:t>
            </a:r>
            <a:endParaRPr lang="en-US" sz="1300" dirty="0"/>
          </a:p>
        </p:txBody>
      </p:sp>
      <p:sp>
        <p:nvSpPr>
          <p:cNvPr id="25" name="a4-d2"/>
          <p:cNvSpPr/>
          <p:nvPr/>
        </p:nvSpPr>
        <p:spPr>
          <a:xfrm>
            <a:off x="6035040" y="4937760"/>
            <a:ext cx="731520" cy="731520"/>
          </a:xfrm>
          <a:prstGeom prst="ellipse">
            <a:avLst/>
          </a:prstGeom>
          <a:solidFill>
            <a:schemeClr val="accent1"/>
          </a:solidFill>
          <a:ln/>
        </p:spPr>
      </p:sp>
      <p:pic>
        <p:nvPicPr>
          <p:cNvPr id="26" name="a4-d2-i" descr="preencoded.png">    </p:cNvPr>
          <p:cNvPicPr>
            <a:picLocks noChangeAspect="1"/>
          </p:cNvPicPr>
          <p:nvPr/>
        </p:nvPicPr>
        <p:blipFill>
          <a:blip r:embed="rId5"/>
          <a:stretch>
            <a:fillRect/>
          </a:stretch>
        </p:blipFill>
        <p:spPr>
          <a:xfrm>
            <a:off x="6217920" y="5120640"/>
            <a:ext cx="365760" cy="365760"/>
          </a:xfrm>
          <a:prstGeom prst="rect">
            <a:avLst/>
          </a:prstGeom>
        </p:spPr>
      </p:pic>
      <p:sp>
        <p:nvSpPr>
          <p:cNvPr id="27" name="a4-t2"/>
          <p:cNvSpPr txBox="1"/>
          <p:nvPr/>
        </p:nvSpPr>
        <p:spPr>
          <a:xfrm>
            <a:off x="6949440" y="4800600"/>
            <a:ext cx="4480560" cy="1005840"/>
          </a:xfrm>
          <a:prstGeom prst="rect">
            <a:avLst/>
          </a:prstGeom>
          <a:noFill/>
          <a:ln/>
        </p:spPr>
        <p:txBody>
          <a:bodyPr wrap="square" lIns="0" tIns="0" rIns="0" bIns="0" rtlCol="0" anchor="ctr"/>
          <a:lstStyle/>
          <a:p>
            <a:pPr indent="0" marL="0">
              <a:buNone/>
            </a:pPr>
            <a:r>
              <a:rPr lang="en-US" sz="1300" b="1" dirty="0">
                <a:solidFill>
                  <a:schemeClr val="accent3"/>
                </a:solidFill>
              </a:rPr>
              <a:t>Visit us</a:t>
            </a:r>
            <a:endParaRPr lang="en-US" sz="1300" dirty="0"/>
          </a:p>
          <a:p>
            <a:pPr indent="0" marL="0">
              <a:buNone/>
            </a:pPr>
            <a:r>
              <a:rPr lang="en-US" sz="2200" b="1" dirty="0">
                <a:solidFill>
                  <a:schemeClr val="bg1"/>
                </a:solidFill>
              </a:rPr>
              <a:t>Ho Chi Minh City, Vietnam</a:t>
            </a:r>
            <a:endParaRPr lang="en-US" sz="13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11</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82"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Thank You</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Lotus BPO Company Limited · Your accounting &amp; tax team in Vietnam</a:t>
            </a:r>
            <a:endParaRPr lang="en-US" sz="2000" dirty="0"/>
          </a:p>
        </p:txBody>
      </p:sp>
      <p:sp>
        <p:nvSpPr>
          <p:cNvPr id="6" name="a2-q"/>
          <p:cNvSpPr txBox="1"/>
          <p:nvPr/>
        </p:nvSpPr>
        <p:spPr>
          <a:xfrm>
            <a:off x="731520" y="5349240"/>
            <a:ext cx="7863840" cy="411480"/>
          </a:xfrm>
          <a:prstGeom prst="rect">
            <a:avLst/>
          </a:prstGeom>
          <a:noFill/>
          <a:ln/>
        </p:spPr>
        <p:txBody>
          <a:bodyPr wrap="square" lIns="0" tIns="0" rIns="0" bIns="0" rtlCol="0" anchor="ctr"/>
          <a:lstStyle/>
          <a:p>
            <a:pPr indent="0" marL="0">
              <a:buNone/>
            </a:pPr>
            <a:r>
              <a:rPr lang="en-US" sz="1600" b="1" dirty="0">
                <a:solidFill>
                  <a:schemeClr val="accent3"/>
                </a:solidFill>
              </a:rPr>
              <a:t>Questions? We are happy to talk.</a:t>
            </a:r>
            <a:endParaRPr lang="en-US" sz="16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theme/theme1.xml><?xml version="1.0" encoding="utf-8"?>
<a:theme xmlns:a="http://schemas.openxmlformats.org/drawingml/2006/main" name="Lotus BPO">
  <a:themeElements>
    <a:clrScheme name="Lotus BPO">
      <a:dk1>
        <a:srgbClr val="1A1F36"/>
      </a:dk1>
      <a:lt1>
        <a:srgbClr val="FFFFFF"/>
      </a:lt1>
      <a:dk2>
        <a:srgbClr val="1F2A6B"/>
      </a:dk2>
      <a:lt2>
        <a:srgbClr val="F3F5FB"/>
      </a:lt2>
      <a:accent1>
        <a:srgbClr val="C8100A"/>
      </a:accent1>
      <a:accent2>
        <a:srgbClr val="22428E"/>
      </a:accent2>
      <a:accent3>
        <a:srgbClr val="5B7BC4"/>
      </a:accent3>
      <a:accent4>
        <a:srgbClr val="E8ECF7"/>
      </a:accent4>
      <a:accent5>
        <a:srgbClr val="5F6577"/>
      </a:accent5>
      <a:accent6>
        <a:srgbClr val="0E7C66"/>
      </a:accent6>
      <a:hlink>
        <a:srgbClr val="22428E"/>
      </a:hlink>
      <a:folHlink>
        <a:srgbClr val="5B7BC4"/>
      </a:folHlink>
    </a:clrScheme>
    <a:fontScheme name="Lotus BP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Lotus BPO Company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Lotus BPO Company Limited - Introduction</dc:title>
  <dc:subject>PptxGenJS Presentation</dc:subject>
  <dc:creator>Lotus BPO Company Limited</dc:creator>
  <cp:lastModifiedBy>Lotus BPO Company Limited</cp:lastModifiedBy>
  <cp:revision>1</cp:revision>
  <dcterms:created xsi:type="dcterms:W3CDTF">2026-10-09T03:53:41Z</dcterms:created>
  <dcterms:modified xsi:type="dcterms:W3CDTF">2026-10-09T03:53:41Z</dcterms:modified>
</cp:coreProperties>
</file>